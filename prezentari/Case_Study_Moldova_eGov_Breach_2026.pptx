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79add33-f82b-2079-1738-f9d64dc0acf1}">
          <p14:sldIdLst>
            <p14:sldId id="256"/>
            <p14:sldId id="257"/>
          </p14:sldIdLst>
        </p14:section>
        <p14:section name="What happened" id="{31c4876a-0e01-8d49-ac6d-4971416e25d7}">
          <p14:sldIdLst>
            <p14:sldId id="258"/>
            <p14:sldId id="259"/>
            <p14:sldId id="260"/>
            <p14:sldId id="261"/>
          </p14:sldIdLst>
        </p14:section>
        <p14:section name="How it happened" id="{74239791-c340-943b-9a06-c92a5ba8790d}">
          <p14:sldIdLst>
            <p14:sldId id="262"/>
            <p14:sldId id="263"/>
            <p14:sldId id="264"/>
          </p14:sldIdLst>
        </p14:section>
        <p14:section name="The risks" id="{34535d67-c918-e32c-2312-7ed2b2dafdbb}">
          <p14:sldIdLst>
            <p14:sldId id="265"/>
            <p14:sldId id="266"/>
            <p14:sldId id="267"/>
            <p14:sldId id="268"/>
          </p14:sldIdLst>
        </p14:section>
        <p14:section name="How to prevent it" id="{c15aa4ff-2a66-6ba6-5e1c-b9b3601d02ef}">
          <p14:sldIdLst>
            <p14:sldId id="269"/>
            <p14:sldId id="270"/>
            <p14:sldId id="271"/>
            <p14:sldId id="272"/>
            <p14:sldId id="273"/>
          </p14:sldIdLst>
        </p14:section>
        <p14:section name="Discussion" id="{55234a9c-83bd-1c24-12fc-0b38f2eba429}">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incident that happened in our country a few days ago. Everything in this deck comes from public statements by the e-Governance Agency (AGE), STISC and press reports up to 28 October 2026. The investigation is ongoing, so numbers may change. We focus on lessons, not on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minutes. Ask at the start: who has the EVO app? Who has checked their data access history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preliminary (AGE statement of 27 October, STISC via Moldpres). About one million IDNPs were queried, data sets for about 750,000 were extracted. Not every person had every category of data exposed. Emphasize the 5 days: the attack ran for days before it was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from the AGE statement (27 October) and press (Moldpres, The Record, NewsMaker, Pro TV). The two MPass methods temporarily disabled were two-step authentication and EVOSign login. Note the attackers came back twice after being stopped: attackers do not give up after the first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Categories from the AGE statement. Stress what was NOT affected: card data is not stored by the government platform, and knowing an IBAN does not allow anyone to take money from an account (STISC). But combined, this data is a perfect toolkit for social engineering, which is the topic of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what was officially stated or reported. Full technical details are not public yet. Risky Bulletin reported that the entry point was a logging service exposed online without authentication; AGE describes it as services accessible without authentication. The key idea: no password was cracked. The attackers simply asked public services for data, and the services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each weakness to the OWASP Top 10 from Lesson 1. Be honest with students: these are reasonable conclusions from the public facts, not the official investigation result. A01 is number one in the OWASP list for exactly this reason: it is very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government itself warned that the data can be used to impersonate banks or public institutions to obtain passwords, codes or money. The last card is the most important idea: personal data leaks are permanent. Ask students: which of these would work best on your grandparents?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message is invented for teaching, but it uses exactly the categories of leaked data: name, IBAN and MPay payment history. Read it out loud and ask students what makes it convincing. Then go through the red flags. Recommend they show this slide to their parents and grandparents.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only. Do not speculate about who is behind the attack: no attribution has been made public. Point out that public administration is the most attacked sector in the EU too, so this is not a Moldovan-only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these are the official recommendations from AGE and STISC. The family code word is extra advice, simple and very effective against “family emergency” scams. Homework idea: each student checks their EVO access history and helps one older relative do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on the left would have closed the door; each line on the right would have caught the attack much earlier. Ask: which single control would have helped the most? Usually the answer is authentication plus per-client rate limits and alerting.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the response after detection was fast and transparent. The open questions are not accusations; they are the questions any security team asks after an incident. The investigation will answer some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link explicit: the IDOR in the Notes app (GET /api/notes/:id without an owner check) is the small version of what happened here. The defenses students implement in the labs are the same ones listed on the previous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a good alert rule: more than 100 different IDNPs queried by the same client or IP within one hour. Example of a good SMS: short, no links, tells people how to check EVO and which number to call. Discuss why an SMS with a link would itself look like phishing.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human side: the most important action this week is helping older relatives recognize scams that use their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read the official AGE statement themselves and to compare how different outlets reported the same facts (for example, 'a quarter' versus 'a third' of the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homework: check your own access history in EVO and talk to one older family member about scam calls that use real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64592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r>
              <a:rPr lang="en-US" sz="4800" b="1" dirty="0">
                <a:solidFill>
                  <a:schemeClr val="bg1"/>
                </a:solidFill>
                <a:latin typeface="Cambria" pitchFamily="34" charset="0"/>
                <a:ea typeface="Cambria" pitchFamily="34" charset="-122"/>
                <a:cs typeface="Cambria" pitchFamily="34" charset="-120"/>
              </a:rPr>
              <a:t>Title</a:t>
            </a:r>
            <a:endParaRPr lang="en-US" sz="4800" dirty="0"/>
          </a:p>
        </p:txBody>
      </p:sp>
      <p:sp>
        <p:nvSpPr>
          <p:cNvPr id="3" name="Text 0"/>
          <p:cNvSpPr/>
          <p:nvPr>
            <p:ph idx="101" type="body" hasCustomPrompt="1"/>
          </p:nvPr>
        </p:nvSpPr>
        <p:spPr>
          <a:xfrm>
            <a:off x="731520" y="3931920"/>
            <a:ext cx="10698480" cy="1097280"/>
          </a:xfrm>
          <a:prstGeom prst="rect">
            <a:avLst/>
          </a:prstGeom>
          <a:noFill/>
          <a:ln/>
        </p:spPr>
        <p:txBody>
          <a:bodyPr wrap="square" rtlCol="0"/>
          <a:lstStyle>
            <a:lvl1pPr indent="0" marL="0">
              <a:buNone/>
              <a:defRPr lang="en-US" sz="2200" dirty="0">
                <a:solidFill>
                  <a:schemeClr val="accent1"/>
                </a:solidFill>
                <a:latin typeface="Calibri" pitchFamily="34" charset="0"/>
                <a:ea typeface="Calibri" pitchFamily="34" charset="-122"/>
                <a:cs typeface="Calibri" pitchFamily="34" charset="-120"/>
              </a:defRPr>
            </a:lvl1pPr>
          </a:lstStyle>
          <a:p>
            <a:pPr indent="0" marL="0">
              <a:buNone/>
            </a:pPr>
            <a:r>
              <a:rPr lang="en-US" sz="2200" dirty="0">
                <a:solidFill>
                  <a:schemeClr val="accent1"/>
                </a:solidFill>
                <a:latin typeface="Calibri" pitchFamily="34" charset="0"/>
                <a:ea typeface="Calibri" pitchFamily="34" charset="-122"/>
                <a:cs typeface="Calibri" pitchFamily="34" charset="-120"/>
              </a:rPr>
              <a:t>Subtitle</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474720" y="2651760"/>
            <a:ext cx="5943600" cy="9144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Section</a:t>
            </a:r>
            <a:endParaRPr lang="en-US" sz="4400" dirty="0"/>
          </a:p>
        </p:txBody>
      </p:sp>
      <p:sp>
        <p:nvSpPr>
          <p:cNvPr id="3" name="Text 0"/>
          <p:cNvSpPr/>
          <p:nvPr>
            <p:ph idx="101" type="body" hasCustomPrompt="1"/>
          </p:nvPr>
        </p:nvSpPr>
        <p:spPr>
          <a:xfrm>
            <a:off x="3474720" y="3611880"/>
            <a:ext cx="5943600" cy="731520"/>
          </a:xfrm>
          <a:prstGeom prst="rect">
            <a:avLst/>
          </a:prstGeom>
          <a:noFill/>
          <a:ln/>
        </p:spPr>
        <p:txBody>
          <a:bodyPr wrap="square" rtlCol="0"/>
          <a:lstStyle>
            <a:lvl1pPr algn="l" indent="0" marL="0">
              <a:buNone/>
              <a:defRPr lang="en-US" sz="2000" dirty="0">
                <a:solidFill>
                  <a:schemeClr val="accent1"/>
                </a:solidFill>
                <a:latin typeface="Calibri" pitchFamily="34" charset="0"/>
                <a:ea typeface="Calibri" pitchFamily="34" charset="-122"/>
                <a:cs typeface="Calibri" pitchFamily="34" charset="-120"/>
              </a:defRPr>
            </a:lvl1pPr>
          </a:lstStyle>
          <a:p>
            <a:pPr algn="l" indent="0" marL="0">
              <a:buNone/>
            </a:pPr>
            <a:r>
              <a:rPr lang="en-US" sz="2000" dirty="0">
                <a:solidFill>
                  <a:schemeClr val="accent1"/>
                </a:solidFill>
                <a:latin typeface="Calibri" pitchFamily="34" charset="0"/>
                <a:ea typeface="Calibri" pitchFamily="34" charset="-122"/>
                <a:cs typeface="Calibri" pitchFamily="34" charset="-120"/>
              </a:rPr>
              <a:t>Subtitle</a:t>
            </a: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Case study: Moldova e-Government breach, October 2026</a:t>
            </a:r>
            <a:endParaRPr lang="en-US" sz="10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r>
              <a:rPr lang="en-US" sz="3600" b="1" dirty="0">
                <a:solidFill>
                  <a:schemeClr val="tx2"/>
                </a:solidFill>
                <a:latin typeface="Cambria" pitchFamily="34" charset="0"/>
                <a:ea typeface="Cambria" pitchFamily="34" charset="-122"/>
                <a:cs typeface="Cambria" pitchFamily="34" charset="-120"/>
              </a:rPr>
              <a:t>Title</a:t>
            </a: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64592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Case study: the Moldova e-Government breach</a:t>
            </a:r>
            <a:endParaRPr lang="en-US" sz="4800" dirty="0"/>
          </a:p>
        </p:txBody>
      </p:sp>
      <p:sp>
        <p:nvSpPr>
          <p:cNvPr id="3" name="Text 0"/>
          <p:cNvSpPr/>
          <p:nvPr>
            <p:ph idx="101" type="body" hasCustomPrompt="1"/>
          </p:nvPr>
        </p:nvSpPr>
        <p:spPr>
          <a:xfrm>
            <a:off x="731520" y="393192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latin typeface="Calibri" pitchFamily="34" charset="0"/>
                <a:ea typeface="Calibri" pitchFamily="34" charset="-122"/>
                <a:cs typeface="Calibri" pitchFamily="34" charset="-120"/>
              </a:rPr>
              <a:t>October 2026  ·  What happened, what the risks are, and how to prevent it</a:t>
            </a:r>
            <a:endParaRPr lang="en-US" sz="2200" dirty="0"/>
          </a:p>
        </p:txBody>
      </p:sp>
      <p:pic>
        <p:nvPicPr>
          <p:cNvPr id="4" name="Shield icon" descr="Shield">    </p:cNvPr>
          <p:cNvPicPr>
            <a:picLocks noChangeAspect="1"/>
          </p:cNvPicPr>
          <p:nvPr/>
        </p:nvPicPr>
        <p:blipFill>
          <a:blip r:embed="rId1"/>
          <a:stretch>
            <a:fillRect/>
          </a:stretch>
        </p:blipFill>
        <p:spPr>
          <a:xfrm>
            <a:off x="731520" y="914400"/>
            <a:ext cx="822960" cy="822960"/>
          </a:xfrm>
          <a:prstGeom prst="rect">
            <a:avLst/>
          </a:prstGeom>
        </p:spPr>
      </p:pic>
      <p:sp>
        <p:nvSpPr>
          <p:cNvPr id="5"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Based on official statements and press reports up to 28 October 2026. Findings are preliminary.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Today's agenda</a:t>
            </a:r>
            <a:endParaRPr lang="en-US" sz="3600" dirty="0"/>
          </a:p>
        </p:txBody>
      </p:sp>
      <p:sp>
        <p:nvSpPr>
          <p:cNvPr id="3" name="Agenda row 1"/>
          <p:cNvSpPr/>
          <p:nvPr/>
        </p:nvSpPr>
        <p:spPr>
          <a:xfrm>
            <a:off x="548640" y="1417320"/>
            <a:ext cx="11064240" cy="804672"/>
          </a:xfrm>
          <a:prstGeom prst="roundRect">
            <a:avLst>
              <a:gd name="adj" fmla="val 13636"/>
            </a:avLst>
          </a:prstGeom>
          <a:solidFill>
            <a:schemeClr val="bg2"/>
          </a:solidFill>
          <a:ln/>
        </p:spPr>
      </p:sp>
      <p:sp>
        <p:nvSpPr>
          <p:cNvPr id="4" name="Text 2"/>
          <p:cNvSpPr txBox="1"/>
          <p:nvPr/>
        </p:nvSpPr>
        <p:spPr>
          <a:xfrm>
            <a:off x="777240" y="1417320"/>
            <a:ext cx="731520" cy="80467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01</a:t>
            </a:r>
            <a:endParaRPr lang="en-US" sz="2800" dirty="0"/>
          </a:p>
        </p:txBody>
      </p:sp>
      <p:sp>
        <p:nvSpPr>
          <p:cNvPr id="5" name="What happened circle"/>
          <p:cNvSpPr/>
          <p:nvPr/>
        </p:nvSpPr>
        <p:spPr>
          <a:xfrm>
            <a:off x="1600200" y="1545336"/>
            <a:ext cx="548640" cy="548640"/>
          </a:xfrm>
          <a:prstGeom prst="ellipse">
            <a:avLst/>
          </a:prstGeom>
          <a:solidFill>
            <a:schemeClr val="tx2"/>
          </a:solidFill>
          <a:ln/>
        </p:spPr>
      </p:sp>
      <p:pic>
        <p:nvPicPr>
          <p:cNvPr id="6" name="What happened icon" descr="What happened">    </p:cNvPr>
          <p:cNvPicPr>
            <a:picLocks noChangeAspect="1"/>
          </p:cNvPicPr>
          <p:nvPr/>
        </p:nvPicPr>
        <p:blipFill>
          <a:blip r:embed="rId1"/>
          <a:stretch>
            <a:fillRect/>
          </a:stretch>
        </p:blipFill>
        <p:spPr>
          <a:xfrm>
            <a:off x="1737360" y="1682496"/>
            <a:ext cx="274320" cy="274320"/>
          </a:xfrm>
          <a:prstGeom prst="rect">
            <a:avLst/>
          </a:prstGeom>
        </p:spPr>
      </p:pic>
      <p:sp>
        <p:nvSpPr>
          <p:cNvPr id="7" name="Text 4"/>
          <p:cNvSpPr txBox="1"/>
          <p:nvPr/>
        </p:nvSpPr>
        <p:spPr>
          <a:xfrm>
            <a:off x="2377440" y="1417320"/>
            <a:ext cx="3840480" cy="804672"/>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What happened</a:t>
            </a:r>
            <a:endParaRPr lang="en-US" sz="2000" dirty="0"/>
          </a:p>
        </p:txBody>
      </p:sp>
      <p:sp>
        <p:nvSpPr>
          <p:cNvPr id="8" name="Text 5"/>
          <p:cNvSpPr txBox="1"/>
          <p:nvPr/>
        </p:nvSpPr>
        <p:spPr>
          <a:xfrm>
            <a:off x="6217920" y="1417320"/>
            <a:ext cx="5212080" cy="804672"/>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Numbers, timeline, data exposed</a:t>
            </a:r>
            <a:endParaRPr lang="en-US" sz="1600" dirty="0"/>
          </a:p>
        </p:txBody>
      </p:sp>
      <p:sp>
        <p:nvSpPr>
          <p:cNvPr id="9" name="Agenda row 2"/>
          <p:cNvSpPr/>
          <p:nvPr/>
        </p:nvSpPr>
        <p:spPr>
          <a:xfrm>
            <a:off x="548640" y="2359152"/>
            <a:ext cx="11064240" cy="804672"/>
          </a:xfrm>
          <a:prstGeom prst="roundRect">
            <a:avLst>
              <a:gd name="adj" fmla="val 13636"/>
            </a:avLst>
          </a:prstGeom>
          <a:solidFill>
            <a:schemeClr val="bg2"/>
          </a:solidFill>
          <a:ln/>
        </p:spPr>
      </p:sp>
      <p:sp>
        <p:nvSpPr>
          <p:cNvPr id="10" name="Text 7"/>
          <p:cNvSpPr txBox="1"/>
          <p:nvPr/>
        </p:nvSpPr>
        <p:spPr>
          <a:xfrm>
            <a:off x="777240" y="2359152"/>
            <a:ext cx="731520" cy="80467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02</a:t>
            </a:r>
            <a:endParaRPr lang="en-US" sz="2800" dirty="0"/>
          </a:p>
        </p:txBody>
      </p:sp>
      <p:sp>
        <p:nvSpPr>
          <p:cNvPr id="11" name="How it happened circle"/>
          <p:cNvSpPr/>
          <p:nvPr/>
        </p:nvSpPr>
        <p:spPr>
          <a:xfrm>
            <a:off x="1600200" y="2487168"/>
            <a:ext cx="548640" cy="548640"/>
          </a:xfrm>
          <a:prstGeom prst="ellipse">
            <a:avLst/>
          </a:prstGeom>
          <a:solidFill>
            <a:schemeClr val="tx2"/>
          </a:solidFill>
          <a:ln/>
        </p:spPr>
      </p:sp>
      <p:pic>
        <p:nvPicPr>
          <p:cNvPr id="12" name="How it happened icon" descr="How it happened">    </p:cNvPr>
          <p:cNvPicPr>
            <a:picLocks noChangeAspect="1"/>
          </p:cNvPicPr>
          <p:nvPr/>
        </p:nvPicPr>
        <p:blipFill>
          <a:blip r:embed="rId2"/>
          <a:stretch>
            <a:fillRect/>
          </a:stretch>
        </p:blipFill>
        <p:spPr>
          <a:xfrm>
            <a:off x="1737360" y="2624328"/>
            <a:ext cx="274320" cy="274320"/>
          </a:xfrm>
          <a:prstGeom prst="rect">
            <a:avLst/>
          </a:prstGeom>
        </p:spPr>
      </p:pic>
      <p:sp>
        <p:nvSpPr>
          <p:cNvPr id="13" name="Text 9"/>
          <p:cNvSpPr txBox="1"/>
          <p:nvPr/>
        </p:nvSpPr>
        <p:spPr>
          <a:xfrm>
            <a:off x="2377440" y="2359152"/>
            <a:ext cx="3840480" cy="804672"/>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How it happened</a:t>
            </a:r>
            <a:endParaRPr lang="en-US" sz="2000" dirty="0"/>
          </a:p>
        </p:txBody>
      </p:sp>
      <p:sp>
        <p:nvSpPr>
          <p:cNvPr id="14" name="Text 10"/>
          <p:cNvSpPr txBox="1"/>
          <p:nvPr/>
        </p:nvSpPr>
        <p:spPr>
          <a:xfrm>
            <a:off x="6217920" y="2359152"/>
            <a:ext cx="5212080" cy="804672"/>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What is publicly known about the attack</a:t>
            </a:r>
            <a:endParaRPr lang="en-US" sz="1600" dirty="0"/>
          </a:p>
        </p:txBody>
      </p:sp>
      <p:sp>
        <p:nvSpPr>
          <p:cNvPr id="15" name="Agenda row 3"/>
          <p:cNvSpPr/>
          <p:nvPr/>
        </p:nvSpPr>
        <p:spPr>
          <a:xfrm>
            <a:off x="548640" y="3300984"/>
            <a:ext cx="11064240" cy="804672"/>
          </a:xfrm>
          <a:prstGeom prst="roundRect">
            <a:avLst>
              <a:gd name="adj" fmla="val 13636"/>
            </a:avLst>
          </a:prstGeom>
          <a:solidFill>
            <a:schemeClr val="bg2"/>
          </a:solidFill>
          <a:ln/>
        </p:spPr>
      </p:sp>
      <p:sp>
        <p:nvSpPr>
          <p:cNvPr id="16" name="Text 12"/>
          <p:cNvSpPr txBox="1"/>
          <p:nvPr/>
        </p:nvSpPr>
        <p:spPr>
          <a:xfrm>
            <a:off x="777240" y="3300984"/>
            <a:ext cx="731520" cy="80467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03</a:t>
            </a:r>
            <a:endParaRPr lang="en-US" sz="2800" dirty="0"/>
          </a:p>
        </p:txBody>
      </p:sp>
      <p:sp>
        <p:nvSpPr>
          <p:cNvPr id="17" name="The risks circle"/>
          <p:cNvSpPr/>
          <p:nvPr/>
        </p:nvSpPr>
        <p:spPr>
          <a:xfrm>
            <a:off x="1600200" y="3429000"/>
            <a:ext cx="548640" cy="548640"/>
          </a:xfrm>
          <a:prstGeom prst="ellipse">
            <a:avLst/>
          </a:prstGeom>
          <a:solidFill>
            <a:schemeClr val="tx2"/>
          </a:solidFill>
          <a:ln/>
        </p:spPr>
      </p:sp>
      <p:pic>
        <p:nvPicPr>
          <p:cNvPr id="18" name="The risks icon" descr="The risks">    </p:cNvPr>
          <p:cNvPicPr>
            <a:picLocks noChangeAspect="1"/>
          </p:cNvPicPr>
          <p:nvPr/>
        </p:nvPicPr>
        <p:blipFill>
          <a:blip r:embed="rId3"/>
          <a:stretch>
            <a:fillRect/>
          </a:stretch>
        </p:blipFill>
        <p:spPr>
          <a:xfrm>
            <a:off x="1737360" y="3566160"/>
            <a:ext cx="274320" cy="274320"/>
          </a:xfrm>
          <a:prstGeom prst="rect">
            <a:avLst/>
          </a:prstGeom>
        </p:spPr>
      </p:pic>
      <p:sp>
        <p:nvSpPr>
          <p:cNvPr id="19" name="Text 14"/>
          <p:cNvSpPr txBox="1"/>
          <p:nvPr/>
        </p:nvSpPr>
        <p:spPr>
          <a:xfrm>
            <a:off x="2377440" y="3300984"/>
            <a:ext cx="3840480" cy="804672"/>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The risks</a:t>
            </a:r>
            <a:endParaRPr lang="en-US" sz="2000" dirty="0"/>
          </a:p>
        </p:txBody>
      </p:sp>
      <p:sp>
        <p:nvSpPr>
          <p:cNvPr id="20" name="Text 15"/>
          <p:cNvSpPr txBox="1"/>
          <p:nvPr/>
        </p:nvSpPr>
        <p:spPr>
          <a:xfrm>
            <a:off x="6217920" y="3300984"/>
            <a:ext cx="5212080" cy="804672"/>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For citizens and for the state</a:t>
            </a:r>
            <a:endParaRPr lang="en-US" sz="1600" dirty="0"/>
          </a:p>
        </p:txBody>
      </p:sp>
      <p:sp>
        <p:nvSpPr>
          <p:cNvPr id="21" name="Agenda row 4"/>
          <p:cNvSpPr/>
          <p:nvPr/>
        </p:nvSpPr>
        <p:spPr>
          <a:xfrm>
            <a:off x="548640" y="4242816"/>
            <a:ext cx="11064240" cy="804672"/>
          </a:xfrm>
          <a:prstGeom prst="roundRect">
            <a:avLst>
              <a:gd name="adj" fmla="val 13636"/>
            </a:avLst>
          </a:prstGeom>
          <a:solidFill>
            <a:schemeClr val="bg2"/>
          </a:solidFill>
          <a:ln/>
        </p:spPr>
      </p:sp>
      <p:sp>
        <p:nvSpPr>
          <p:cNvPr id="22" name="Text 17"/>
          <p:cNvSpPr txBox="1"/>
          <p:nvPr/>
        </p:nvSpPr>
        <p:spPr>
          <a:xfrm>
            <a:off x="777240" y="4242816"/>
            <a:ext cx="731520" cy="80467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04</a:t>
            </a:r>
            <a:endParaRPr lang="en-US" sz="2800" dirty="0"/>
          </a:p>
        </p:txBody>
      </p:sp>
      <p:sp>
        <p:nvSpPr>
          <p:cNvPr id="23" name="How to prevent it circle"/>
          <p:cNvSpPr/>
          <p:nvPr/>
        </p:nvSpPr>
        <p:spPr>
          <a:xfrm>
            <a:off x="1600200" y="4370832"/>
            <a:ext cx="548640" cy="548640"/>
          </a:xfrm>
          <a:prstGeom prst="ellipse">
            <a:avLst/>
          </a:prstGeom>
          <a:solidFill>
            <a:schemeClr val="tx2"/>
          </a:solidFill>
          <a:ln/>
        </p:spPr>
      </p:sp>
      <p:pic>
        <p:nvPicPr>
          <p:cNvPr id="24" name="How to prevent it icon" descr="How to prevent it">    </p:cNvPr>
          <p:cNvPicPr>
            <a:picLocks noChangeAspect="1"/>
          </p:cNvPicPr>
          <p:nvPr/>
        </p:nvPicPr>
        <p:blipFill>
          <a:blip r:embed="rId4"/>
          <a:stretch>
            <a:fillRect/>
          </a:stretch>
        </p:blipFill>
        <p:spPr>
          <a:xfrm>
            <a:off x="1737360" y="4507992"/>
            <a:ext cx="274320" cy="274320"/>
          </a:xfrm>
          <a:prstGeom prst="rect">
            <a:avLst/>
          </a:prstGeom>
        </p:spPr>
      </p:pic>
      <p:sp>
        <p:nvSpPr>
          <p:cNvPr id="25" name="Text 19"/>
          <p:cNvSpPr txBox="1"/>
          <p:nvPr/>
        </p:nvSpPr>
        <p:spPr>
          <a:xfrm>
            <a:off x="2377440" y="4242816"/>
            <a:ext cx="3840480" cy="804672"/>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How to prevent it</a:t>
            </a:r>
            <a:endParaRPr lang="en-US" sz="2000" dirty="0"/>
          </a:p>
        </p:txBody>
      </p:sp>
      <p:sp>
        <p:nvSpPr>
          <p:cNvPr id="26" name="Text 20"/>
          <p:cNvSpPr txBox="1"/>
          <p:nvPr/>
        </p:nvSpPr>
        <p:spPr>
          <a:xfrm>
            <a:off x="6217920" y="4242816"/>
            <a:ext cx="5212080" cy="804672"/>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Citizens, developers, organizations</a:t>
            </a:r>
            <a:endParaRPr lang="en-US" sz="1600" dirty="0"/>
          </a:p>
        </p:txBody>
      </p:sp>
      <p:sp>
        <p:nvSpPr>
          <p:cNvPr id="27" name="Agenda row 5"/>
          <p:cNvSpPr/>
          <p:nvPr/>
        </p:nvSpPr>
        <p:spPr>
          <a:xfrm>
            <a:off x="548640" y="5184648"/>
            <a:ext cx="11064240" cy="804672"/>
          </a:xfrm>
          <a:prstGeom prst="roundRect">
            <a:avLst>
              <a:gd name="adj" fmla="val 13636"/>
            </a:avLst>
          </a:prstGeom>
          <a:solidFill>
            <a:schemeClr val="bg2"/>
          </a:solidFill>
          <a:ln/>
        </p:spPr>
      </p:sp>
      <p:sp>
        <p:nvSpPr>
          <p:cNvPr id="28" name="Text 22"/>
          <p:cNvSpPr txBox="1"/>
          <p:nvPr/>
        </p:nvSpPr>
        <p:spPr>
          <a:xfrm>
            <a:off x="777240" y="5184648"/>
            <a:ext cx="731520" cy="80467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05</a:t>
            </a:r>
            <a:endParaRPr lang="en-US" sz="2800" dirty="0"/>
          </a:p>
        </p:txBody>
      </p:sp>
      <p:sp>
        <p:nvSpPr>
          <p:cNvPr id="29" name="Discussion circle"/>
          <p:cNvSpPr/>
          <p:nvPr/>
        </p:nvSpPr>
        <p:spPr>
          <a:xfrm>
            <a:off x="1600200" y="5312664"/>
            <a:ext cx="548640" cy="548640"/>
          </a:xfrm>
          <a:prstGeom prst="ellipse">
            <a:avLst/>
          </a:prstGeom>
          <a:solidFill>
            <a:schemeClr val="tx2"/>
          </a:solidFill>
          <a:ln/>
        </p:spPr>
      </p:sp>
      <p:pic>
        <p:nvPicPr>
          <p:cNvPr id="30" name="Discussion icon" descr="Discussion">    </p:cNvPr>
          <p:cNvPicPr>
            <a:picLocks noChangeAspect="1"/>
          </p:cNvPicPr>
          <p:nvPr/>
        </p:nvPicPr>
        <p:blipFill>
          <a:blip r:embed="rId5"/>
          <a:stretch>
            <a:fillRect/>
          </a:stretch>
        </p:blipFill>
        <p:spPr>
          <a:xfrm>
            <a:off x="1737360" y="5449824"/>
            <a:ext cx="274320" cy="274320"/>
          </a:xfrm>
          <a:prstGeom prst="rect">
            <a:avLst/>
          </a:prstGeom>
        </p:spPr>
      </p:pic>
      <p:sp>
        <p:nvSpPr>
          <p:cNvPr id="31" name="Text 24"/>
          <p:cNvSpPr txBox="1"/>
          <p:nvPr/>
        </p:nvSpPr>
        <p:spPr>
          <a:xfrm>
            <a:off x="2377440" y="5184648"/>
            <a:ext cx="3840480" cy="804672"/>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Discussion</a:t>
            </a:r>
            <a:endParaRPr lang="en-US" sz="2000" dirty="0"/>
          </a:p>
        </p:txBody>
      </p:sp>
      <p:sp>
        <p:nvSpPr>
          <p:cNvPr id="32" name="Text 25"/>
          <p:cNvSpPr txBox="1"/>
          <p:nvPr/>
        </p:nvSpPr>
        <p:spPr>
          <a:xfrm>
            <a:off x="6217920" y="5184648"/>
            <a:ext cx="5212080" cy="804672"/>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Class exercise and key takeaways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2148840"/>
            <a:ext cx="2468880" cy="201168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01</a:t>
            </a:r>
            <a:endParaRPr lang="en-US" sz="13000" dirty="0"/>
          </a:p>
        </p:txBody>
      </p:sp>
      <p:sp>
        <p:nvSpPr>
          <p:cNvPr id="3" name="Text 1"/>
          <p:cNvSpPr txBox="1"/>
          <p:nvPr/>
        </p:nvSpPr>
        <p:spPr>
          <a:xfrm>
            <a:off x="3474720" y="2240280"/>
            <a:ext cx="5943600" cy="365760"/>
          </a:xfrm>
          <a:prstGeom prst="rect">
            <a:avLst/>
          </a:prstGeom>
          <a:noFill/>
          <a:ln/>
        </p:spPr>
        <p:txBody>
          <a:bodyPr wrap="square" lIns="0" tIns="0" rIns="0" bIns="0" rtlCol="0" anchor="t"/>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PART 01 OF 05</a:t>
            </a:r>
            <a:endParaRPr lang="en-US" sz="1400" dirty="0"/>
          </a:p>
        </p:txBody>
      </p:sp>
      <p:sp>
        <p:nvSpPr>
          <p:cNvPr id="4" name="Text 0"/>
          <p:cNvSpPr/>
          <p:nvPr>
            <p:ph idx="100" type="title" hasCustomPrompt="1"/>
          </p:nvPr>
        </p:nvSpPr>
        <p:spPr>
          <a:xfrm>
            <a:off x="3474720" y="2651760"/>
            <a:ext cx="5943600"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What happened</a:t>
            </a:r>
            <a:endParaRPr lang="en-US" sz="4400" dirty="0"/>
          </a:p>
        </p:txBody>
      </p:sp>
      <p:sp>
        <p:nvSpPr>
          <p:cNvPr id="5" name="Text 0"/>
          <p:cNvSpPr/>
          <p:nvPr>
            <p:ph idx="101" type="body" hasCustomPrompt="1"/>
          </p:nvPr>
        </p:nvSpPr>
        <p:spPr>
          <a:xfrm>
            <a:off x="3474720" y="3611880"/>
            <a:ext cx="5943600" cy="731520"/>
          </a:xfrm>
          <a:prstGeom prst="rect">
            <a:avLst/>
          </a:prstGeom>
          <a:noFill/>
          <a:ln/>
        </p:spPr>
        <p:txBody>
          <a:bodyPr wrap="square" lIns="0" tIns="0" rIns="0" bIns="0" rtlCol="0" anchor="t"/>
          <a:lstStyle/>
          <a:p>
            <a:pPr algn="l" indent="0" marL="0">
              <a:buNone/>
            </a:pPr>
            <a:r>
              <a:rPr lang="en-US" sz="2000" dirty="0">
                <a:solidFill>
                  <a:schemeClr val="accent1"/>
                </a:solidFill>
                <a:latin typeface="Calibri" pitchFamily="34" charset="0"/>
                <a:ea typeface="Calibri" pitchFamily="34" charset="-122"/>
                <a:cs typeface="Calibri" pitchFamily="34" charset="-120"/>
              </a:rPr>
              <a:t>19–23 October 2026: data about one in three Moldovans</a:t>
            </a:r>
            <a:endParaRPr lang="en-US" sz="2000" dirty="0"/>
          </a:p>
        </p:txBody>
      </p:sp>
      <p:sp>
        <p:nvSpPr>
          <p:cNvPr id="6" name="Calendar circle"/>
          <p:cNvSpPr/>
          <p:nvPr/>
        </p:nvSpPr>
        <p:spPr>
          <a:xfrm>
            <a:off x="9784080" y="2423160"/>
            <a:ext cx="1645920" cy="1645920"/>
          </a:xfrm>
          <a:prstGeom prst="ellipse">
            <a:avLst/>
          </a:prstGeom>
          <a:solidFill>
            <a:schemeClr val="accent4"/>
          </a:solidFill>
          <a:ln/>
        </p:spPr>
      </p:sp>
      <p:pic>
        <p:nvPicPr>
          <p:cNvPr id="7" name="Calendar icon" descr="Calendar">    </p:cNvPr>
          <p:cNvPicPr>
            <a:picLocks noChangeAspect="1"/>
          </p:cNvPicPr>
          <p:nvPr/>
        </p:nvPicPr>
        <p:blipFill>
          <a:blip r:embed="rId1"/>
          <a:stretch>
            <a:fillRect/>
          </a:stretch>
        </p:blipFill>
        <p:spPr>
          <a:xfrm>
            <a:off x="10195560" y="2834640"/>
            <a:ext cx="822960" cy="822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breach in numbers</a:t>
            </a:r>
            <a:endParaRPr lang="en-US" sz="3600" dirty="0"/>
          </a:p>
        </p:txBody>
      </p:sp>
      <p:sp>
        <p:nvSpPr>
          <p:cNvPr id="3" name="Stat card 1"/>
          <p:cNvSpPr/>
          <p:nvPr/>
        </p:nvSpPr>
        <p:spPr>
          <a:xfrm>
            <a:off x="548640" y="1508760"/>
            <a:ext cx="2560320" cy="2926080"/>
          </a:xfrm>
          <a:prstGeom prst="roundRect">
            <a:avLst>
              <a:gd name="adj" fmla="val 4286"/>
            </a:avLst>
          </a:prstGeom>
          <a:solidFill>
            <a:schemeClr val="bg2"/>
          </a:solidFill>
          <a:ln/>
        </p:spPr>
      </p:sp>
      <p:sp>
        <p:nvSpPr>
          <p:cNvPr id="4" name="Text 2"/>
          <p:cNvSpPr txBox="1"/>
          <p:nvPr/>
        </p:nvSpPr>
        <p:spPr>
          <a:xfrm>
            <a:off x="777240" y="1783080"/>
            <a:ext cx="2194560" cy="91440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~1 million</a:t>
            </a:r>
            <a:endParaRPr lang="en-US" sz="3600" dirty="0"/>
          </a:p>
        </p:txBody>
      </p:sp>
      <p:sp>
        <p:nvSpPr>
          <p:cNvPr id="5" name="Text 3"/>
          <p:cNvSpPr txBox="1"/>
          <p:nvPr/>
        </p:nvSpPr>
        <p:spPr>
          <a:xfrm>
            <a:off x="777240" y="2834640"/>
            <a:ext cx="214884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personal ID numbers (IDNP) queried by the attackers</a:t>
            </a:r>
            <a:endParaRPr lang="en-US" sz="1600" dirty="0"/>
          </a:p>
        </p:txBody>
      </p:sp>
      <p:sp>
        <p:nvSpPr>
          <p:cNvPr id="6" name="Stat card 2"/>
          <p:cNvSpPr/>
          <p:nvPr/>
        </p:nvSpPr>
        <p:spPr>
          <a:xfrm>
            <a:off x="3383280" y="1508760"/>
            <a:ext cx="2560320" cy="2926080"/>
          </a:xfrm>
          <a:prstGeom prst="roundRect">
            <a:avLst>
              <a:gd name="adj" fmla="val 4286"/>
            </a:avLst>
          </a:prstGeom>
          <a:solidFill>
            <a:schemeClr val="bg2"/>
          </a:solidFill>
          <a:ln/>
        </p:spPr>
      </p:sp>
      <p:sp>
        <p:nvSpPr>
          <p:cNvPr id="7" name="Text 5"/>
          <p:cNvSpPr txBox="1"/>
          <p:nvPr/>
        </p:nvSpPr>
        <p:spPr>
          <a:xfrm>
            <a:off x="3611880" y="1783080"/>
            <a:ext cx="2194560" cy="91440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~750,000</a:t>
            </a:r>
            <a:endParaRPr lang="en-US" sz="3600" dirty="0"/>
          </a:p>
        </p:txBody>
      </p:sp>
      <p:sp>
        <p:nvSpPr>
          <p:cNvPr id="8" name="Text 6"/>
          <p:cNvSpPr txBox="1"/>
          <p:nvPr/>
        </p:nvSpPr>
        <p:spPr>
          <a:xfrm>
            <a:off x="3611880" y="2834640"/>
            <a:ext cx="214884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people whose data sets were extracted</a:t>
            </a:r>
            <a:endParaRPr lang="en-US" sz="1600" dirty="0"/>
          </a:p>
        </p:txBody>
      </p:sp>
      <p:sp>
        <p:nvSpPr>
          <p:cNvPr id="9" name="Stat card 3"/>
          <p:cNvSpPr/>
          <p:nvPr/>
        </p:nvSpPr>
        <p:spPr>
          <a:xfrm>
            <a:off x="6217920" y="1508760"/>
            <a:ext cx="2560320" cy="2926080"/>
          </a:xfrm>
          <a:prstGeom prst="roundRect">
            <a:avLst>
              <a:gd name="adj" fmla="val 4286"/>
            </a:avLst>
          </a:prstGeom>
          <a:solidFill>
            <a:schemeClr val="bg2"/>
          </a:solidFill>
          <a:ln/>
        </p:spPr>
      </p:sp>
      <p:sp>
        <p:nvSpPr>
          <p:cNvPr id="10" name="Text 8"/>
          <p:cNvSpPr txBox="1"/>
          <p:nvPr/>
        </p:nvSpPr>
        <p:spPr>
          <a:xfrm>
            <a:off x="6446520" y="1783080"/>
            <a:ext cx="2194560" cy="9144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 in 3</a:t>
            </a:r>
            <a:endParaRPr lang="en-US" sz="3600" dirty="0"/>
          </a:p>
        </p:txBody>
      </p:sp>
      <p:sp>
        <p:nvSpPr>
          <p:cNvPr id="11" name="Text 9"/>
          <p:cNvSpPr txBox="1"/>
          <p:nvPr/>
        </p:nvSpPr>
        <p:spPr>
          <a:xfrm>
            <a:off x="6446520" y="2834640"/>
            <a:ext cx="214884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Moldovans affected (population ~2.4 million)</a:t>
            </a:r>
            <a:endParaRPr lang="en-US" sz="1600" dirty="0"/>
          </a:p>
        </p:txBody>
      </p:sp>
      <p:sp>
        <p:nvSpPr>
          <p:cNvPr id="12" name="Stat card 4"/>
          <p:cNvSpPr/>
          <p:nvPr/>
        </p:nvSpPr>
        <p:spPr>
          <a:xfrm>
            <a:off x="9052560" y="1508760"/>
            <a:ext cx="2560320" cy="2926080"/>
          </a:xfrm>
          <a:prstGeom prst="roundRect">
            <a:avLst>
              <a:gd name="adj" fmla="val 4286"/>
            </a:avLst>
          </a:prstGeom>
          <a:solidFill>
            <a:schemeClr val="bg2"/>
          </a:solidFill>
          <a:ln/>
        </p:spPr>
      </p:sp>
      <p:sp>
        <p:nvSpPr>
          <p:cNvPr id="13" name="Text 11"/>
          <p:cNvSpPr txBox="1"/>
          <p:nvPr/>
        </p:nvSpPr>
        <p:spPr>
          <a:xfrm>
            <a:off x="9281160" y="1783080"/>
            <a:ext cx="2194560" cy="9144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82 + 30</a:t>
            </a:r>
            <a:endParaRPr lang="en-US" sz="3600" dirty="0"/>
          </a:p>
        </p:txBody>
      </p:sp>
      <p:sp>
        <p:nvSpPr>
          <p:cNvPr id="14" name="Text 12"/>
          <p:cNvSpPr txBox="1"/>
          <p:nvPr/>
        </p:nvSpPr>
        <p:spPr>
          <a:xfrm>
            <a:off x="9281160" y="2834640"/>
            <a:ext cx="214884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public services and information systems taken offline</a:t>
            </a:r>
            <a:endParaRPr lang="en-US" sz="1600" dirty="0"/>
          </a:p>
        </p:txBody>
      </p:sp>
      <p:sp>
        <p:nvSpPr>
          <p:cNvPr id="15" name="Text 13"/>
          <p:cNvSpPr txBox="1"/>
          <p:nvPr/>
        </p:nvSpPr>
        <p:spPr>
          <a:xfrm>
            <a:off x="548640" y="4846320"/>
            <a:ext cx="11064240" cy="822960"/>
          </a:xfrm>
          <a:prstGeom prst="rect">
            <a:avLst/>
          </a:prstGeom>
          <a:noFill/>
          <a:ln/>
        </p:spPr>
        <p:txBody>
          <a:bodyPr wrap="square" lIns="0" tIns="0" rIns="0" bIns="0" rtlCol="0" anchor="t"/>
          <a:lstStyle/>
          <a:p>
            <a:pPr indent="0" marL="0">
              <a:buNone/>
            </a:pPr>
            <a:r>
              <a:rPr lang="en-US" sz="1700" b="1" dirty="0">
                <a:solidFill>
                  <a:schemeClr val="accent3"/>
                </a:solidFill>
                <a:latin typeface="Calibri" pitchFamily="34" charset="0"/>
                <a:ea typeface="Calibri" pitchFamily="34" charset="-122"/>
                <a:cs typeface="Calibri" pitchFamily="34" charset="-120"/>
              </a:rPr>
              <a:t>5 days </a:t>
            </a:r>
            <a:pPr indent="0" marL="0">
              <a:buNone/>
            </a:pPr>
            <a:r>
              <a:rPr lang="en-US" sz="1700" dirty="0">
                <a:solidFill>
                  <a:schemeClr val="tx1"/>
                </a:solidFill>
                <a:latin typeface="Calibri" pitchFamily="34" charset="0"/>
                <a:ea typeface="Calibri" pitchFamily="34" charset="-122"/>
                <a:cs typeface="Calibri" pitchFamily="34" charset="-120"/>
              </a:rPr>
              <a:t>passed between the start of the attack (19 October) and the moment it was stopped (23 October, 11:30). </a:t>
            </a:r>
            <a:pPr indent="0" marL="0">
              <a:buNone/>
            </a:pPr>
            <a:r>
              <a:rPr lang="en-US" sz="1700" i="1" dirty="0">
                <a:solidFill>
                  <a:schemeClr val="accent5"/>
                </a:solidFill>
                <a:latin typeface="Calibri" pitchFamily="34" charset="0"/>
                <a:ea typeface="Calibri" pitchFamily="34" charset="-122"/>
                <a:cs typeface="Calibri" pitchFamily="34" charset="-120"/>
              </a:rPr>
              <a:t>Source: AGE and STISC, preliminary findings.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Timeline</a:t>
            </a:r>
            <a:endParaRPr lang="en-US" sz="3600" dirty="0"/>
          </a:p>
        </p:txBody>
      </p:sp>
      <p:sp>
        <p:nvSpPr>
          <p:cNvPr id="3" name="Timeline line"/>
          <p:cNvSpPr/>
          <p:nvPr/>
        </p:nvSpPr>
        <p:spPr>
          <a:xfrm>
            <a:off x="1470660" y="2331720"/>
            <a:ext cx="9220200" cy="0"/>
          </a:xfrm>
          <a:prstGeom prst="line">
            <a:avLst/>
          </a:prstGeom>
          <a:noFill/>
          <a:ln w="25400">
            <a:solidFill>
              <a:srgbClr val="6B7A8C"/>
            </a:solidFill>
            <a:prstDash val="solid"/>
          </a:ln>
        </p:spPr>
      </p:sp>
      <p:sp>
        <p:nvSpPr>
          <p:cNvPr id="4" name="Text 2"/>
          <p:cNvSpPr txBox="1"/>
          <p:nvPr/>
        </p:nvSpPr>
        <p:spPr>
          <a:xfrm>
            <a:off x="594360" y="1463040"/>
            <a:ext cx="1752600" cy="548640"/>
          </a:xfrm>
          <a:prstGeom prst="rect">
            <a:avLst/>
          </a:prstGeom>
          <a:noFill/>
          <a:ln/>
        </p:spPr>
        <p:txBody>
          <a:bodyPr wrap="square" lIns="0" tIns="0" rIns="0" bIns="0" rtlCol="0" anchor="b"/>
          <a:lstStyle/>
          <a:p>
            <a:pPr algn="ctr" indent="0" marL="0">
              <a:buNone/>
            </a:pPr>
            <a:r>
              <a:rPr lang="en-US" sz="1500" b="1" dirty="0">
                <a:solidFill>
                  <a:schemeClr val="accent3"/>
                </a:solidFill>
                <a:latin typeface="Calibri" pitchFamily="34" charset="0"/>
                <a:ea typeface="Calibri" pitchFamily="34" charset="-122"/>
                <a:cs typeface="Calibri" pitchFamily="34" charset="-120"/>
              </a:rPr>
              <a:t>19–23 Oct</a:t>
            </a:r>
            <a:endParaRPr lang="en-US" sz="1500" dirty="0"/>
          </a:p>
        </p:txBody>
      </p:sp>
      <p:sp>
        <p:nvSpPr>
          <p:cNvPr id="5" name="Timeline dot 1"/>
          <p:cNvSpPr/>
          <p:nvPr/>
        </p:nvSpPr>
        <p:spPr>
          <a:xfrm>
            <a:off x="1324356" y="2185416"/>
            <a:ext cx="292608" cy="292608"/>
          </a:xfrm>
          <a:prstGeom prst="ellipse">
            <a:avLst/>
          </a:prstGeom>
          <a:solidFill>
            <a:schemeClr val="accent3"/>
          </a:solidFill>
          <a:ln w="25400">
            <a:solidFill>
              <a:srgbClr val="FFFFFF"/>
            </a:solidFill>
            <a:prstDash val="solid"/>
          </a:ln>
        </p:spPr>
      </p:sp>
      <p:sp>
        <p:nvSpPr>
          <p:cNvPr id="6" name="Timeline card 1"/>
          <p:cNvSpPr/>
          <p:nvPr/>
        </p:nvSpPr>
        <p:spPr>
          <a:xfrm>
            <a:off x="612648" y="2743200"/>
            <a:ext cx="1716024" cy="1463040"/>
          </a:xfrm>
          <a:prstGeom prst="roundRect">
            <a:avLst>
              <a:gd name="adj" fmla="val 7500"/>
            </a:avLst>
          </a:prstGeom>
          <a:solidFill>
            <a:schemeClr val="bg2"/>
          </a:solidFill>
          <a:ln/>
        </p:spPr>
      </p:sp>
      <p:sp>
        <p:nvSpPr>
          <p:cNvPr id="7" name="Text 5"/>
          <p:cNvSpPr txBox="1"/>
          <p:nvPr/>
        </p:nvSpPr>
        <p:spPr>
          <a:xfrm>
            <a:off x="731520" y="2880360"/>
            <a:ext cx="14782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 million IDNPs queried, data extracted</a:t>
            </a:r>
            <a:endParaRPr lang="en-US" sz="1400" dirty="0"/>
          </a:p>
        </p:txBody>
      </p:sp>
      <p:sp>
        <p:nvSpPr>
          <p:cNvPr id="8" name="Text 6"/>
          <p:cNvSpPr txBox="1"/>
          <p:nvPr/>
        </p:nvSpPr>
        <p:spPr>
          <a:xfrm>
            <a:off x="2438400" y="1463040"/>
            <a:ext cx="1752600" cy="548640"/>
          </a:xfrm>
          <a:prstGeom prst="rect">
            <a:avLst/>
          </a:prstGeom>
          <a:noFill/>
          <a:ln/>
        </p:spPr>
        <p:txBody>
          <a:bodyPr wrap="square" lIns="0" tIns="0" rIns="0" bIns="0" rtlCol="0" anchor="b"/>
          <a:lstStyle/>
          <a:p>
            <a:pPr algn="ctr" indent="0" marL="0">
              <a:buNone/>
            </a:pPr>
            <a:r>
              <a:rPr lang="en-US" sz="1500" b="1" dirty="0">
                <a:solidFill>
                  <a:schemeClr val="accent3"/>
                </a:solidFill>
                <a:latin typeface="Calibri" pitchFamily="34" charset="0"/>
                <a:ea typeface="Calibri" pitchFamily="34" charset="-122"/>
                <a:cs typeface="Calibri" pitchFamily="34" charset="-120"/>
              </a:rPr>
              <a:t>23 Oct, 11:30</a:t>
            </a:r>
            <a:endParaRPr lang="en-US" sz="1500" dirty="0"/>
          </a:p>
        </p:txBody>
      </p:sp>
      <p:sp>
        <p:nvSpPr>
          <p:cNvPr id="9" name="Timeline dot 2"/>
          <p:cNvSpPr/>
          <p:nvPr/>
        </p:nvSpPr>
        <p:spPr>
          <a:xfrm>
            <a:off x="3168396" y="2185416"/>
            <a:ext cx="292608" cy="292608"/>
          </a:xfrm>
          <a:prstGeom prst="ellipse">
            <a:avLst/>
          </a:prstGeom>
          <a:solidFill>
            <a:schemeClr val="accent3"/>
          </a:solidFill>
          <a:ln w="25400">
            <a:solidFill>
              <a:srgbClr val="FFFFFF"/>
            </a:solidFill>
            <a:prstDash val="solid"/>
          </a:ln>
        </p:spPr>
      </p:sp>
      <p:sp>
        <p:nvSpPr>
          <p:cNvPr id="10" name="Timeline card 2"/>
          <p:cNvSpPr/>
          <p:nvPr/>
        </p:nvSpPr>
        <p:spPr>
          <a:xfrm>
            <a:off x="2456688" y="2743200"/>
            <a:ext cx="1716024" cy="1463040"/>
          </a:xfrm>
          <a:prstGeom prst="roundRect">
            <a:avLst>
              <a:gd name="adj" fmla="val 7500"/>
            </a:avLst>
          </a:prstGeom>
          <a:solidFill>
            <a:schemeClr val="bg2"/>
          </a:solidFill>
          <a:ln/>
        </p:spPr>
      </p:sp>
      <p:sp>
        <p:nvSpPr>
          <p:cNvPr id="11" name="Text 9"/>
          <p:cNvSpPr txBox="1"/>
          <p:nvPr/>
        </p:nvSpPr>
        <p:spPr>
          <a:xfrm>
            <a:off x="2575560" y="2880360"/>
            <a:ext cx="14782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Extraction stopped. 82 services and 30+ systems disconnected</a:t>
            </a:r>
            <a:endParaRPr lang="en-US" sz="1400" dirty="0"/>
          </a:p>
        </p:txBody>
      </p:sp>
      <p:sp>
        <p:nvSpPr>
          <p:cNvPr id="12" name="Text 10"/>
          <p:cNvSpPr txBox="1"/>
          <p:nvPr/>
        </p:nvSpPr>
        <p:spPr>
          <a:xfrm>
            <a:off x="4282440" y="1463040"/>
            <a:ext cx="1752600" cy="548640"/>
          </a:xfrm>
          <a:prstGeom prst="rect">
            <a:avLst/>
          </a:prstGeom>
          <a:noFill/>
          <a:ln/>
        </p:spPr>
        <p:txBody>
          <a:bodyPr wrap="square" lIns="0" tIns="0" rIns="0" bIns="0" rtlCol="0" anchor="b"/>
          <a:lstStyle/>
          <a:p>
            <a:pPr algn="ctr" indent="0" marL="0">
              <a:buNone/>
            </a:pPr>
            <a:r>
              <a:rPr lang="en-US" sz="1500" b="1" dirty="0">
                <a:solidFill>
                  <a:schemeClr val="tx2"/>
                </a:solidFill>
                <a:latin typeface="Calibri" pitchFamily="34" charset="0"/>
                <a:ea typeface="Calibri" pitchFamily="34" charset="-122"/>
                <a:cs typeface="Calibri" pitchFamily="34" charset="-120"/>
              </a:rPr>
              <a:t>24 Oct</a:t>
            </a:r>
            <a:endParaRPr lang="en-US" sz="1500" dirty="0"/>
          </a:p>
        </p:txBody>
      </p:sp>
      <p:sp>
        <p:nvSpPr>
          <p:cNvPr id="13" name="Timeline dot 3"/>
          <p:cNvSpPr/>
          <p:nvPr/>
        </p:nvSpPr>
        <p:spPr>
          <a:xfrm>
            <a:off x="5012436" y="2185416"/>
            <a:ext cx="292608" cy="292608"/>
          </a:xfrm>
          <a:prstGeom prst="ellipse">
            <a:avLst/>
          </a:prstGeom>
          <a:solidFill>
            <a:schemeClr val="accent2"/>
          </a:solidFill>
          <a:ln w="25400">
            <a:solidFill>
              <a:srgbClr val="FFFFFF"/>
            </a:solidFill>
            <a:prstDash val="solid"/>
          </a:ln>
        </p:spPr>
      </p:sp>
      <p:sp>
        <p:nvSpPr>
          <p:cNvPr id="14" name="Timeline card 3"/>
          <p:cNvSpPr/>
          <p:nvPr/>
        </p:nvSpPr>
        <p:spPr>
          <a:xfrm>
            <a:off x="4300728" y="2743200"/>
            <a:ext cx="1716024" cy="1463040"/>
          </a:xfrm>
          <a:prstGeom prst="roundRect">
            <a:avLst>
              <a:gd name="adj" fmla="val 7500"/>
            </a:avLst>
          </a:prstGeom>
          <a:solidFill>
            <a:schemeClr val="bg2"/>
          </a:solidFill>
          <a:ln/>
        </p:spPr>
      </p:sp>
      <p:sp>
        <p:nvSpPr>
          <p:cNvPr id="15" name="Text 13"/>
          <p:cNvSpPr txBox="1"/>
          <p:nvPr/>
        </p:nvSpPr>
        <p:spPr>
          <a:xfrm>
            <a:off x="4419600" y="2880360"/>
            <a:ext cx="14782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Attack announced publicly</a:t>
            </a:r>
            <a:endParaRPr lang="en-US" sz="1400" dirty="0"/>
          </a:p>
        </p:txBody>
      </p:sp>
      <p:sp>
        <p:nvSpPr>
          <p:cNvPr id="16" name="Text 14"/>
          <p:cNvSpPr txBox="1"/>
          <p:nvPr/>
        </p:nvSpPr>
        <p:spPr>
          <a:xfrm>
            <a:off x="6126480" y="1463040"/>
            <a:ext cx="1752600" cy="548640"/>
          </a:xfrm>
          <a:prstGeom prst="rect">
            <a:avLst/>
          </a:prstGeom>
          <a:noFill/>
          <a:ln/>
        </p:spPr>
        <p:txBody>
          <a:bodyPr wrap="square" lIns="0" tIns="0" rIns="0" bIns="0" rtlCol="0" anchor="b"/>
          <a:lstStyle/>
          <a:p>
            <a:pPr algn="ctr" indent="0" marL="0">
              <a:buNone/>
            </a:pPr>
            <a:r>
              <a:rPr lang="en-US" sz="1500" b="1" dirty="0">
                <a:solidFill>
                  <a:schemeClr val="tx2"/>
                </a:solidFill>
                <a:latin typeface="Calibri" pitchFamily="34" charset="0"/>
                <a:ea typeface="Calibri" pitchFamily="34" charset="-122"/>
                <a:cs typeface="Calibri" pitchFamily="34" charset="-120"/>
              </a:rPr>
              <a:t>25 Oct, 02:00</a:t>
            </a:r>
            <a:endParaRPr lang="en-US" sz="1500" dirty="0"/>
          </a:p>
        </p:txBody>
      </p:sp>
      <p:sp>
        <p:nvSpPr>
          <p:cNvPr id="17" name="Timeline dot 4"/>
          <p:cNvSpPr/>
          <p:nvPr/>
        </p:nvSpPr>
        <p:spPr>
          <a:xfrm>
            <a:off x="6856476" y="2185416"/>
            <a:ext cx="292608" cy="292608"/>
          </a:xfrm>
          <a:prstGeom prst="ellipse">
            <a:avLst/>
          </a:prstGeom>
          <a:solidFill>
            <a:schemeClr val="accent2"/>
          </a:solidFill>
          <a:ln w="25400">
            <a:solidFill>
              <a:srgbClr val="FFFFFF"/>
            </a:solidFill>
            <a:prstDash val="solid"/>
          </a:ln>
        </p:spPr>
      </p:sp>
      <p:sp>
        <p:nvSpPr>
          <p:cNvPr id="18" name="Timeline card 4"/>
          <p:cNvSpPr/>
          <p:nvPr/>
        </p:nvSpPr>
        <p:spPr>
          <a:xfrm>
            <a:off x="6144768" y="2743200"/>
            <a:ext cx="1716024" cy="1463040"/>
          </a:xfrm>
          <a:prstGeom prst="roundRect">
            <a:avLst>
              <a:gd name="adj" fmla="val 7500"/>
            </a:avLst>
          </a:prstGeom>
          <a:solidFill>
            <a:schemeClr val="bg2"/>
          </a:solidFill>
          <a:ln/>
        </p:spPr>
      </p:sp>
      <p:sp>
        <p:nvSpPr>
          <p:cNvPr id="19" name="Text 17"/>
          <p:cNvSpPr txBox="1"/>
          <p:nvPr/>
        </p:nvSpPr>
        <p:spPr>
          <a:xfrm>
            <a:off x="6263640" y="2880360"/>
            <a:ext cx="14782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New forced-access attempt blocked</a:t>
            </a:r>
            <a:endParaRPr lang="en-US" sz="1400" dirty="0"/>
          </a:p>
        </p:txBody>
      </p:sp>
      <p:sp>
        <p:nvSpPr>
          <p:cNvPr id="20" name="Text 18"/>
          <p:cNvSpPr txBox="1"/>
          <p:nvPr/>
        </p:nvSpPr>
        <p:spPr>
          <a:xfrm>
            <a:off x="7970520" y="1463040"/>
            <a:ext cx="1752600" cy="548640"/>
          </a:xfrm>
          <a:prstGeom prst="rect">
            <a:avLst/>
          </a:prstGeom>
          <a:noFill/>
          <a:ln/>
        </p:spPr>
        <p:txBody>
          <a:bodyPr wrap="square" lIns="0" tIns="0" rIns="0" bIns="0" rtlCol="0" anchor="b"/>
          <a:lstStyle/>
          <a:p>
            <a:pPr algn="ctr" indent="0" marL="0">
              <a:buNone/>
            </a:pPr>
            <a:r>
              <a:rPr lang="en-US" sz="1500" b="1" dirty="0">
                <a:solidFill>
                  <a:schemeClr val="tx2"/>
                </a:solidFill>
                <a:latin typeface="Calibri" pitchFamily="34" charset="0"/>
                <a:ea typeface="Calibri" pitchFamily="34" charset="-122"/>
                <a:cs typeface="Calibri" pitchFamily="34" charset="-120"/>
              </a:rPr>
              <a:t>27 Oct, 07:00</a:t>
            </a:r>
            <a:endParaRPr lang="en-US" sz="1500" dirty="0"/>
          </a:p>
        </p:txBody>
      </p:sp>
      <p:sp>
        <p:nvSpPr>
          <p:cNvPr id="21" name="Timeline dot 5"/>
          <p:cNvSpPr/>
          <p:nvPr/>
        </p:nvSpPr>
        <p:spPr>
          <a:xfrm>
            <a:off x="8700516" y="2185416"/>
            <a:ext cx="292608" cy="292608"/>
          </a:xfrm>
          <a:prstGeom prst="ellipse">
            <a:avLst/>
          </a:prstGeom>
          <a:solidFill>
            <a:schemeClr val="accent2"/>
          </a:solidFill>
          <a:ln w="25400">
            <a:solidFill>
              <a:srgbClr val="FFFFFF"/>
            </a:solidFill>
            <a:prstDash val="solid"/>
          </a:ln>
        </p:spPr>
      </p:sp>
      <p:sp>
        <p:nvSpPr>
          <p:cNvPr id="22" name="Timeline card 5"/>
          <p:cNvSpPr/>
          <p:nvPr/>
        </p:nvSpPr>
        <p:spPr>
          <a:xfrm>
            <a:off x="7988808" y="2743200"/>
            <a:ext cx="1716024" cy="1463040"/>
          </a:xfrm>
          <a:prstGeom prst="roundRect">
            <a:avLst>
              <a:gd name="adj" fmla="val 7500"/>
            </a:avLst>
          </a:prstGeom>
          <a:solidFill>
            <a:schemeClr val="bg2"/>
          </a:solidFill>
          <a:ln/>
        </p:spPr>
      </p:sp>
      <p:sp>
        <p:nvSpPr>
          <p:cNvPr id="23" name="Text 21"/>
          <p:cNvSpPr txBox="1"/>
          <p:nvPr/>
        </p:nvSpPr>
        <p:spPr>
          <a:xfrm>
            <a:off x="8107680" y="2880360"/>
            <a:ext cx="14782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New extraction attempts fail. AGE publishes details</a:t>
            </a:r>
            <a:endParaRPr lang="en-US" sz="1400" dirty="0"/>
          </a:p>
        </p:txBody>
      </p:sp>
      <p:sp>
        <p:nvSpPr>
          <p:cNvPr id="24" name="Text 22"/>
          <p:cNvSpPr txBox="1"/>
          <p:nvPr/>
        </p:nvSpPr>
        <p:spPr>
          <a:xfrm>
            <a:off x="9814560" y="1463040"/>
            <a:ext cx="1752600" cy="548640"/>
          </a:xfrm>
          <a:prstGeom prst="rect">
            <a:avLst/>
          </a:prstGeom>
          <a:noFill/>
          <a:ln/>
        </p:spPr>
        <p:txBody>
          <a:bodyPr wrap="square" lIns="0" tIns="0" rIns="0" bIns="0" rtlCol="0" anchor="b"/>
          <a:lstStyle/>
          <a:p>
            <a:pPr algn="ctr" indent="0" marL="0">
              <a:buNone/>
            </a:pPr>
            <a:r>
              <a:rPr lang="en-US" sz="1500" b="1" dirty="0">
                <a:solidFill>
                  <a:schemeClr val="tx2"/>
                </a:solidFill>
                <a:latin typeface="Calibri" pitchFamily="34" charset="0"/>
                <a:ea typeface="Calibri" pitchFamily="34" charset="-122"/>
                <a:cs typeface="Calibri" pitchFamily="34" charset="-120"/>
              </a:rPr>
              <a:t>28 Oct</a:t>
            </a:r>
            <a:endParaRPr lang="en-US" sz="1500" dirty="0"/>
          </a:p>
        </p:txBody>
      </p:sp>
      <p:sp>
        <p:nvSpPr>
          <p:cNvPr id="25" name="Timeline dot 6"/>
          <p:cNvSpPr/>
          <p:nvPr/>
        </p:nvSpPr>
        <p:spPr>
          <a:xfrm>
            <a:off x="10544556" y="2185416"/>
            <a:ext cx="292608" cy="292608"/>
          </a:xfrm>
          <a:prstGeom prst="ellipse">
            <a:avLst/>
          </a:prstGeom>
          <a:solidFill>
            <a:schemeClr val="accent2"/>
          </a:solidFill>
          <a:ln w="25400">
            <a:solidFill>
              <a:srgbClr val="FFFFFF"/>
            </a:solidFill>
            <a:prstDash val="solid"/>
          </a:ln>
        </p:spPr>
      </p:sp>
      <p:sp>
        <p:nvSpPr>
          <p:cNvPr id="26" name="Timeline card 6"/>
          <p:cNvSpPr/>
          <p:nvPr/>
        </p:nvSpPr>
        <p:spPr>
          <a:xfrm>
            <a:off x="9832848" y="2743200"/>
            <a:ext cx="1716024" cy="1463040"/>
          </a:xfrm>
          <a:prstGeom prst="roundRect">
            <a:avLst>
              <a:gd name="adj" fmla="val 7500"/>
            </a:avLst>
          </a:prstGeom>
          <a:solidFill>
            <a:schemeClr val="bg2"/>
          </a:solidFill>
          <a:ln/>
        </p:spPr>
      </p:sp>
      <p:sp>
        <p:nvSpPr>
          <p:cNvPr id="27" name="Text 25"/>
          <p:cNvSpPr txBox="1"/>
          <p:nvPr/>
        </p:nvSpPr>
        <p:spPr>
          <a:xfrm>
            <a:off x="9951720" y="2880360"/>
            <a:ext cx="14782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AGE director steps down. Two MPass login methods paused</a:t>
            </a:r>
            <a:endParaRPr lang="en-US" sz="1400" dirty="0"/>
          </a:p>
        </p:txBody>
      </p:sp>
      <p:sp>
        <p:nvSpPr>
          <p:cNvPr id="28" name="Text 26"/>
          <p:cNvSpPr txBox="1"/>
          <p:nvPr/>
        </p:nvSpPr>
        <p:spPr>
          <a:xfrm>
            <a:off x="548640" y="4526280"/>
            <a:ext cx="11064240" cy="91440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Also on 28 October: </a:t>
            </a:r>
            <a:pPr indent="0" marL="0">
              <a:buNone/>
            </a:pPr>
            <a:r>
              <a:rPr lang="en-US" sz="1600" dirty="0">
                <a:solidFill>
                  <a:schemeClr val="tx1"/>
                </a:solidFill>
                <a:latin typeface="Calibri" pitchFamily="34" charset="0"/>
                <a:ea typeface="Calibri" pitchFamily="34" charset="-122"/>
                <a:cs typeface="Calibri" pitchFamily="34" charset="-120"/>
              </a:rPr>
              <a:t>the Prime Minister said Moldova is the target of “coordinated and large-scale cyberattacks” and that possible involvement of foreign state actors is being examined. No attribution has been made public.</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data was exposed</a:t>
            </a:r>
            <a:endParaRPr lang="en-US" sz="3600" dirty="0"/>
          </a:p>
        </p:txBody>
      </p:sp>
      <p:sp>
        <p:nvSpPr>
          <p:cNvPr id="3" name="Identity card"/>
          <p:cNvSpPr/>
          <p:nvPr/>
        </p:nvSpPr>
        <p:spPr>
          <a:xfrm>
            <a:off x="548640" y="1417320"/>
            <a:ext cx="3474720" cy="2011680"/>
          </a:xfrm>
          <a:prstGeom prst="roundRect">
            <a:avLst>
              <a:gd name="adj" fmla="val 5455"/>
            </a:avLst>
          </a:prstGeom>
          <a:solidFill>
            <a:schemeClr val="bg2"/>
          </a:solidFill>
          <a:ln/>
        </p:spPr>
      </p:sp>
      <p:sp>
        <p:nvSpPr>
          <p:cNvPr id="4" name="Identity circle"/>
          <p:cNvSpPr/>
          <p:nvPr/>
        </p:nvSpPr>
        <p:spPr>
          <a:xfrm>
            <a:off x="822960" y="1691640"/>
            <a:ext cx="640080" cy="640080"/>
          </a:xfrm>
          <a:prstGeom prst="ellipse">
            <a:avLst/>
          </a:prstGeom>
          <a:solidFill>
            <a:schemeClr val="accent4"/>
          </a:solidFill>
          <a:ln/>
        </p:spPr>
      </p:sp>
      <p:pic>
        <p:nvPicPr>
          <p:cNvPr id="5" name="Identity icon" descr="Identity">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00200" y="1691640"/>
            <a:ext cx="2286000" cy="6400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Identity</a:t>
            </a:r>
            <a:endParaRPr lang="en-US" sz="1900" dirty="0"/>
          </a:p>
        </p:txBody>
      </p:sp>
      <p:sp>
        <p:nvSpPr>
          <p:cNvPr id="7" name="Text 4"/>
          <p:cNvSpPr txBox="1"/>
          <p:nvPr/>
        </p:nvSpPr>
        <p:spPr>
          <a:xfrm>
            <a:off x="822960" y="2468880"/>
            <a:ext cx="297180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Name, date and place of birth, IDNP, photo</a:t>
            </a:r>
            <a:endParaRPr lang="en-US" sz="1500" dirty="0"/>
          </a:p>
        </p:txBody>
      </p:sp>
      <p:sp>
        <p:nvSpPr>
          <p:cNvPr id="8" name="Family card"/>
          <p:cNvSpPr/>
          <p:nvPr/>
        </p:nvSpPr>
        <p:spPr>
          <a:xfrm>
            <a:off x="4343400" y="1417320"/>
            <a:ext cx="3474720" cy="2011680"/>
          </a:xfrm>
          <a:prstGeom prst="roundRect">
            <a:avLst>
              <a:gd name="adj" fmla="val 5455"/>
            </a:avLst>
          </a:prstGeom>
          <a:solidFill>
            <a:schemeClr val="bg2"/>
          </a:solidFill>
          <a:ln/>
        </p:spPr>
      </p:sp>
      <p:sp>
        <p:nvSpPr>
          <p:cNvPr id="9" name="Family circle"/>
          <p:cNvSpPr/>
          <p:nvPr/>
        </p:nvSpPr>
        <p:spPr>
          <a:xfrm>
            <a:off x="4617720" y="1691640"/>
            <a:ext cx="640080" cy="640080"/>
          </a:xfrm>
          <a:prstGeom prst="ellipse">
            <a:avLst/>
          </a:prstGeom>
          <a:solidFill>
            <a:schemeClr val="accent4"/>
          </a:solidFill>
          <a:ln/>
        </p:spPr>
      </p:sp>
      <p:pic>
        <p:nvPicPr>
          <p:cNvPr id="10" name="Family icon" descr="Family">    </p:cNvPr>
          <p:cNvPicPr>
            <a:picLocks noChangeAspect="1"/>
          </p:cNvPicPr>
          <p:nvPr/>
        </p:nvPicPr>
        <p:blipFill>
          <a:blip r:embed="rId2"/>
          <a:stretch>
            <a:fillRect/>
          </a:stretch>
        </p:blipFill>
        <p:spPr>
          <a:xfrm>
            <a:off x="4777740" y="1851660"/>
            <a:ext cx="320040" cy="320040"/>
          </a:xfrm>
          <a:prstGeom prst="rect">
            <a:avLst/>
          </a:prstGeom>
        </p:spPr>
      </p:pic>
      <p:sp>
        <p:nvSpPr>
          <p:cNvPr id="11" name="Text 7"/>
          <p:cNvSpPr txBox="1"/>
          <p:nvPr/>
        </p:nvSpPr>
        <p:spPr>
          <a:xfrm>
            <a:off x="5394960" y="1691640"/>
            <a:ext cx="2286000" cy="6400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Family</a:t>
            </a:r>
            <a:endParaRPr lang="en-US" sz="1900" dirty="0"/>
          </a:p>
        </p:txBody>
      </p:sp>
      <p:sp>
        <p:nvSpPr>
          <p:cNvPr id="12" name="Text 8"/>
          <p:cNvSpPr txBox="1"/>
          <p:nvPr/>
        </p:nvSpPr>
        <p:spPr>
          <a:xfrm>
            <a:off x="4617720" y="2468880"/>
            <a:ext cx="297180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Data about first-degree relatives</a:t>
            </a:r>
            <a:endParaRPr lang="en-US" sz="1500" dirty="0"/>
          </a:p>
        </p:txBody>
      </p:sp>
      <p:sp>
        <p:nvSpPr>
          <p:cNvPr id="13" name="Health and social card"/>
          <p:cNvSpPr/>
          <p:nvPr/>
        </p:nvSpPr>
        <p:spPr>
          <a:xfrm>
            <a:off x="8138160" y="1417320"/>
            <a:ext cx="3474720" cy="2011680"/>
          </a:xfrm>
          <a:prstGeom prst="roundRect">
            <a:avLst>
              <a:gd name="adj" fmla="val 5455"/>
            </a:avLst>
          </a:prstGeom>
          <a:solidFill>
            <a:schemeClr val="bg2"/>
          </a:solidFill>
          <a:ln/>
        </p:spPr>
      </p:sp>
      <p:sp>
        <p:nvSpPr>
          <p:cNvPr id="14" name="Health and social circle"/>
          <p:cNvSpPr/>
          <p:nvPr/>
        </p:nvSpPr>
        <p:spPr>
          <a:xfrm>
            <a:off x="8412480" y="1691640"/>
            <a:ext cx="640080" cy="640080"/>
          </a:xfrm>
          <a:prstGeom prst="ellipse">
            <a:avLst/>
          </a:prstGeom>
          <a:solidFill>
            <a:schemeClr val="accent4"/>
          </a:solidFill>
          <a:ln/>
        </p:spPr>
      </p:sp>
      <p:pic>
        <p:nvPicPr>
          <p:cNvPr id="15" name="Health and social icon" descr="Health and social">    </p:cNvPr>
          <p:cNvPicPr>
            <a:picLocks noChangeAspect="1"/>
          </p:cNvPicPr>
          <p:nvPr/>
        </p:nvPicPr>
        <p:blipFill>
          <a:blip r:embed="rId3"/>
          <a:stretch>
            <a:fillRect/>
          </a:stretch>
        </p:blipFill>
        <p:spPr>
          <a:xfrm>
            <a:off x="8572500" y="1851660"/>
            <a:ext cx="320040" cy="320040"/>
          </a:xfrm>
          <a:prstGeom prst="rect">
            <a:avLst/>
          </a:prstGeom>
        </p:spPr>
      </p:pic>
      <p:sp>
        <p:nvSpPr>
          <p:cNvPr id="16" name="Text 11"/>
          <p:cNvSpPr txBox="1"/>
          <p:nvPr/>
        </p:nvSpPr>
        <p:spPr>
          <a:xfrm>
            <a:off x="9189720" y="1691640"/>
            <a:ext cx="2286000" cy="6400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Health and social</a:t>
            </a:r>
            <a:endParaRPr lang="en-US" sz="1900" dirty="0"/>
          </a:p>
        </p:txBody>
      </p:sp>
      <p:sp>
        <p:nvSpPr>
          <p:cNvPr id="17" name="Text 12"/>
          <p:cNvSpPr txBox="1"/>
          <p:nvPr/>
        </p:nvSpPr>
        <p:spPr>
          <a:xfrm>
            <a:off x="8412480" y="2468880"/>
            <a:ext cx="297180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Insurance status, family doctor, benefits, pension, disability</a:t>
            </a:r>
            <a:endParaRPr lang="en-US" sz="1500" dirty="0"/>
          </a:p>
        </p:txBody>
      </p:sp>
      <p:sp>
        <p:nvSpPr>
          <p:cNvPr id="18" name="Documents and assets card"/>
          <p:cNvSpPr/>
          <p:nvPr/>
        </p:nvSpPr>
        <p:spPr>
          <a:xfrm>
            <a:off x="548640" y="3657600"/>
            <a:ext cx="3474720" cy="2011680"/>
          </a:xfrm>
          <a:prstGeom prst="roundRect">
            <a:avLst>
              <a:gd name="adj" fmla="val 5455"/>
            </a:avLst>
          </a:prstGeom>
          <a:solidFill>
            <a:schemeClr val="bg2"/>
          </a:solidFill>
          <a:ln/>
        </p:spPr>
      </p:sp>
      <p:sp>
        <p:nvSpPr>
          <p:cNvPr id="19" name="Documents and assets circle"/>
          <p:cNvSpPr/>
          <p:nvPr/>
        </p:nvSpPr>
        <p:spPr>
          <a:xfrm>
            <a:off x="822960" y="3931920"/>
            <a:ext cx="640080" cy="640080"/>
          </a:xfrm>
          <a:prstGeom prst="ellipse">
            <a:avLst/>
          </a:prstGeom>
          <a:solidFill>
            <a:schemeClr val="accent4"/>
          </a:solidFill>
          <a:ln/>
        </p:spPr>
      </p:sp>
      <p:pic>
        <p:nvPicPr>
          <p:cNvPr id="20" name="Documents and assets icon" descr="Documents and assets">    </p:cNvPr>
          <p:cNvPicPr>
            <a:picLocks noChangeAspect="1"/>
          </p:cNvPicPr>
          <p:nvPr/>
        </p:nvPicPr>
        <p:blipFill>
          <a:blip r:embed="rId4"/>
          <a:stretch>
            <a:fillRect/>
          </a:stretch>
        </p:blipFill>
        <p:spPr>
          <a:xfrm>
            <a:off x="982980" y="4091940"/>
            <a:ext cx="320040" cy="320040"/>
          </a:xfrm>
          <a:prstGeom prst="rect">
            <a:avLst/>
          </a:prstGeom>
        </p:spPr>
      </p:pic>
      <p:sp>
        <p:nvSpPr>
          <p:cNvPr id="21" name="Text 15"/>
          <p:cNvSpPr txBox="1"/>
          <p:nvPr/>
        </p:nvSpPr>
        <p:spPr>
          <a:xfrm>
            <a:off x="1600200" y="3931920"/>
            <a:ext cx="2286000" cy="6400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Documents and assets</a:t>
            </a:r>
            <a:endParaRPr lang="en-US" sz="1900" dirty="0"/>
          </a:p>
        </p:txBody>
      </p:sp>
      <p:sp>
        <p:nvSpPr>
          <p:cNvPr id="22" name="Text 16"/>
          <p:cNvSpPr txBox="1"/>
          <p:nvPr/>
        </p:nvSpPr>
        <p:spPr>
          <a:xfrm>
            <a:off x="822960" y="4709160"/>
            <a:ext cx="297180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Driving licence, vehicles, companies owned or managed</a:t>
            </a:r>
            <a:endParaRPr lang="en-US" sz="1500" dirty="0"/>
          </a:p>
        </p:txBody>
      </p:sp>
      <p:sp>
        <p:nvSpPr>
          <p:cNvPr id="23" name="Financial card"/>
          <p:cNvSpPr/>
          <p:nvPr/>
        </p:nvSpPr>
        <p:spPr>
          <a:xfrm>
            <a:off x="4343400" y="3657600"/>
            <a:ext cx="3474720" cy="2011680"/>
          </a:xfrm>
          <a:prstGeom prst="roundRect">
            <a:avLst>
              <a:gd name="adj" fmla="val 5455"/>
            </a:avLst>
          </a:prstGeom>
          <a:solidFill>
            <a:schemeClr val="bg2"/>
          </a:solidFill>
          <a:ln/>
        </p:spPr>
      </p:sp>
      <p:sp>
        <p:nvSpPr>
          <p:cNvPr id="24" name="Financial circle"/>
          <p:cNvSpPr/>
          <p:nvPr/>
        </p:nvSpPr>
        <p:spPr>
          <a:xfrm>
            <a:off x="4617720" y="3931920"/>
            <a:ext cx="640080" cy="640080"/>
          </a:xfrm>
          <a:prstGeom prst="ellipse">
            <a:avLst/>
          </a:prstGeom>
          <a:solidFill>
            <a:schemeClr val="accent3"/>
          </a:solidFill>
          <a:ln/>
        </p:spPr>
      </p:sp>
      <p:pic>
        <p:nvPicPr>
          <p:cNvPr id="25" name="Financial icon" descr="Financial">    </p:cNvPr>
          <p:cNvPicPr>
            <a:picLocks noChangeAspect="1"/>
          </p:cNvPicPr>
          <p:nvPr/>
        </p:nvPicPr>
        <p:blipFill>
          <a:blip r:embed="rId5"/>
          <a:stretch>
            <a:fillRect/>
          </a:stretch>
        </p:blipFill>
        <p:spPr>
          <a:xfrm>
            <a:off x="4777740" y="4091940"/>
            <a:ext cx="320040" cy="320040"/>
          </a:xfrm>
          <a:prstGeom prst="rect">
            <a:avLst/>
          </a:prstGeom>
        </p:spPr>
      </p:pic>
      <p:sp>
        <p:nvSpPr>
          <p:cNvPr id="26" name="Text 19"/>
          <p:cNvSpPr txBox="1"/>
          <p:nvPr/>
        </p:nvSpPr>
        <p:spPr>
          <a:xfrm>
            <a:off x="5394960" y="3931920"/>
            <a:ext cx="2286000" cy="6400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Financial</a:t>
            </a:r>
            <a:endParaRPr lang="en-US" sz="1900" dirty="0"/>
          </a:p>
        </p:txBody>
      </p:sp>
      <p:sp>
        <p:nvSpPr>
          <p:cNvPr id="27" name="Text 20"/>
          <p:cNvSpPr txBox="1"/>
          <p:nvPr/>
        </p:nvSpPr>
        <p:spPr>
          <a:xfrm>
            <a:off x="4617720" y="4709160"/>
            <a:ext cx="297180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IBAN, tax debts, MPay payment history</a:t>
            </a:r>
            <a:endParaRPr lang="en-US" sz="1500" dirty="0"/>
          </a:p>
        </p:txBody>
      </p:sp>
      <p:sp>
        <p:nvSpPr>
          <p:cNvPr id="28" name="Not affected card"/>
          <p:cNvSpPr/>
          <p:nvPr/>
        </p:nvSpPr>
        <p:spPr>
          <a:xfrm>
            <a:off x="8138160" y="3657600"/>
            <a:ext cx="3474720" cy="2011680"/>
          </a:xfrm>
          <a:prstGeom prst="roundRect">
            <a:avLst>
              <a:gd name="adj" fmla="val 5455"/>
            </a:avLst>
          </a:prstGeom>
          <a:solidFill>
            <a:schemeClr val="bg2"/>
          </a:solidFill>
          <a:ln/>
        </p:spPr>
      </p:sp>
      <p:sp>
        <p:nvSpPr>
          <p:cNvPr id="29" name="Not affected circle"/>
          <p:cNvSpPr/>
          <p:nvPr/>
        </p:nvSpPr>
        <p:spPr>
          <a:xfrm>
            <a:off x="8412480" y="3931920"/>
            <a:ext cx="640080" cy="640080"/>
          </a:xfrm>
          <a:prstGeom prst="ellipse">
            <a:avLst/>
          </a:prstGeom>
          <a:solidFill>
            <a:schemeClr val="accent2"/>
          </a:solidFill>
          <a:ln/>
        </p:spPr>
      </p:sp>
      <p:pic>
        <p:nvPicPr>
          <p:cNvPr id="30" name="Not affected icon" descr="Not affected">    </p:cNvPr>
          <p:cNvPicPr>
            <a:picLocks noChangeAspect="1"/>
          </p:cNvPicPr>
          <p:nvPr/>
        </p:nvPicPr>
        <p:blipFill>
          <a:blip r:embed="rId6"/>
          <a:stretch>
            <a:fillRect/>
          </a:stretch>
        </p:blipFill>
        <p:spPr>
          <a:xfrm>
            <a:off x="8572500" y="4091940"/>
            <a:ext cx="320040" cy="320040"/>
          </a:xfrm>
          <a:prstGeom prst="rect">
            <a:avLst/>
          </a:prstGeom>
        </p:spPr>
      </p:pic>
      <p:sp>
        <p:nvSpPr>
          <p:cNvPr id="31" name="Text 23"/>
          <p:cNvSpPr txBox="1"/>
          <p:nvPr/>
        </p:nvSpPr>
        <p:spPr>
          <a:xfrm>
            <a:off x="9189720" y="3931920"/>
            <a:ext cx="2286000" cy="640080"/>
          </a:xfrm>
          <a:prstGeom prst="rect">
            <a:avLst/>
          </a:prstGeom>
          <a:noFill/>
          <a:ln/>
        </p:spPr>
        <p:txBody>
          <a:bodyPr wrap="square" lIns="0" tIns="0" rIns="0" bIns="0" rtlCol="0" anchor="ctr"/>
          <a:lstStyle/>
          <a:p>
            <a:pPr indent="0" marL="0">
              <a:buNone/>
            </a:pPr>
            <a:r>
              <a:rPr lang="en-US" sz="1900" b="1" dirty="0">
                <a:solidFill>
                  <a:schemeClr val="accent2"/>
                </a:solidFill>
                <a:latin typeface="Calibri" pitchFamily="34" charset="0"/>
                <a:ea typeface="Calibri" pitchFamily="34" charset="-122"/>
                <a:cs typeface="Calibri" pitchFamily="34" charset="-120"/>
              </a:rPr>
              <a:t>Not affected</a:t>
            </a:r>
            <a:endParaRPr lang="en-US" sz="1900" dirty="0"/>
          </a:p>
        </p:txBody>
      </p:sp>
      <p:sp>
        <p:nvSpPr>
          <p:cNvPr id="32" name="Text 24"/>
          <p:cNvSpPr txBox="1"/>
          <p:nvPr/>
        </p:nvSpPr>
        <p:spPr>
          <a:xfrm>
            <a:off x="8412480" y="4709160"/>
            <a:ext cx="2971800" cy="8686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Bank card data. No changes found in state registers</a:t>
            </a:r>
            <a:endParaRPr lang="en-US" sz="1500" dirty="0"/>
          </a:p>
        </p:txBody>
      </p:sp>
      <p:sp>
        <p:nvSpPr>
          <p:cNvPr id="33" name="Text 25"/>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300" i="1" dirty="0">
                <a:solidFill>
                  <a:schemeClr val="accent5"/>
                </a:solidFill>
                <a:latin typeface="Calibri" pitchFamily="34" charset="0"/>
                <a:ea typeface="Calibri" pitchFamily="34" charset="-122"/>
                <a:cs typeface="Calibri" pitchFamily="34" charset="-120"/>
              </a:rPr>
              <a:t>Not every affected person had every category exposed (AGE, STISC).</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2148840"/>
            <a:ext cx="2468880" cy="201168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02</a:t>
            </a:r>
            <a:endParaRPr lang="en-US" sz="13000" dirty="0"/>
          </a:p>
        </p:txBody>
      </p:sp>
      <p:sp>
        <p:nvSpPr>
          <p:cNvPr id="3" name="Text 1"/>
          <p:cNvSpPr txBox="1"/>
          <p:nvPr/>
        </p:nvSpPr>
        <p:spPr>
          <a:xfrm>
            <a:off x="3474720" y="2240280"/>
            <a:ext cx="5943600" cy="365760"/>
          </a:xfrm>
          <a:prstGeom prst="rect">
            <a:avLst/>
          </a:prstGeom>
          <a:noFill/>
          <a:ln/>
        </p:spPr>
        <p:txBody>
          <a:bodyPr wrap="square" lIns="0" tIns="0" rIns="0" bIns="0" rtlCol="0" anchor="t"/>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PART 02 OF 05</a:t>
            </a:r>
            <a:endParaRPr lang="en-US" sz="1400" dirty="0"/>
          </a:p>
        </p:txBody>
      </p:sp>
      <p:sp>
        <p:nvSpPr>
          <p:cNvPr id="4" name="Text 0"/>
          <p:cNvSpPr/>
          <p:nvPr>
            <p:ph idx="100" type="title" hasCustomPrompt="1"/>
          </p:nvPr>
        </p:nvSpPr>
        <p:spPr>
          <a:xfrm>
            <a:off x="3474720" y="2651760"/>
            <a:ext cx="5943600"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How it happened</a:t>
            </a:r>
            <a:endParaRPr lang="en-US" sz="4400" dirty="0"/>
          </a:p>
        </p:txBody>
      </p:sp>
      <p:sp>
        <p:nvSpPr>
          <p:cNvPr id="5" name="Text 0"/>
          <p:cNvSpPr/>
          <p:nvPr>
            <p:ph idx="101" type="body" hasCustomPrompt="1"/>
          </p:nvPr>
        </p:nvSpPr>
        <p:spPr>
          <a:xfrm>
            <a:off x="3474720" y="3611880"/>
            <a:ext cx="5943600" cy="731520"/>
          </a:xfrm>
          <a:prstGeom prst="rect">
            <a:avLst/>
          </a:prstGeom>
          <a:noFill/>
          <a:ln/>
        </p:spPr>
        <p:txBody>
          <a:bodyPr wrap="square" lIns="0" tIns="0" rIns="0" bIns="0" rtlCol="0" anchor="t"/>
          <a:lstStyle/>
          <a:p>
            <a:pPr algn="l" indent="0" marL="0">
              <a:buNone/>
            </a:pPr>
            <a:r>
              <a:rPr lang="en-US" sz="2000" dirty="0">
                <a:solidFill>
                  <a:schemeClr val="accent1"/>
                </a:solidFill>
                <a:latin typeface="Calibri" pitchFamily="34" charset="0"/>
                <a:ea typeface="Calibri" pitchFamily="34" charset="-122"/>
                <a:cs typeface="Calibri" pitchFamily="34" charset="-120"/>
              </a:rPr>
              <a:t>What is publicly known so far</a:t>
            </a:r>
            <a:endParaRPr lang="en-US" sz="2000" dirty="0"/>
          </a:p>
        </p:txBody>
      </p:sp>
      <p:sp>
        <p:nvSpPr>
          <p:cNvPr id="6" name="Search circle"/>
          <p:cNvSpPr/>
          <p:nvPr/>
        </p:nvSpPr>
        <p:spPr>
          <a:xfrm>
            <a:off x="9784080" y="2423160"/>
            <a:ext cx="1645920" cy="1645920"/>
          </a:xfrm>
          <a:prstGeom prst="ellipse">
            <a:avLst/>
          </a:prstGeom>
          <a:solidFill>
            <a:schemeClr val="accent4"/>
          </a:solidFill>
          <a:ln/>
        </p:spPr>
      </p:sp>
      <p:pic>
        <p:nvPicPr>
          <p:cNvPr id="7" name="Search icon" descr="Search">    </p:cNvPr>
          <p:cNvPicPr>
            <a:picLocks noChangeAspect="1"/>
          </p:cNvPicPr>
          <p:nvPr/>
        </p:nvPicPr>
        <p:blipFill>
          <a:blip r:embed="rId1"/>
          <a:stretch>
            <a:fillRect/>
          </a:stretch>
        </p:blipFill>
        <p:spPr>
          <a:xfrm>
            <a:off x="10195560" y="2834640"/>
            <a:ext cx="822960" cy="8229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attack, as described by the authorities</a:t>
            </a:r>
            <a:endParaRPr lang="en-US" sz="3600" dirty="0"/>
          </a:p>
        </p:txBody>
      </p:sp>
      <p:sp>
        <p:nvSpPr>
          <p:cNvPr id="3" name="Attackers node"/>
          <p:cNvSpPr/>
          <p:nvPr/>
        </p:nvSpPr>
        <p:spPr>
          <a:xfrm>
            <a:off x="548640" y="1417320"/>
            <a:ext cx="3474720" cy="1828800"/>
          </a:xfrm>
          <a:prstGeom prst="roundRect">
            <a:avLst>
              <a:gd name="adj" fmla="val 6000"/>
            </a:avLst>
          </a:prstGeom>
          <a:solidFill>
            <a:schemeClr val="bg2"/>
          </a:solidFill>
          <a:ln/>
        </p:spPr>
      </p:sp>
      <p:sp>
        <p:nvSpPr>
          <p:cNvPr id="4" name="Attackers circle"/>
          <p:cNvSpPr/>
          <p:nvPr/>
        </p:nvSpPr>
        <p:spPr>
          <a:xfrm>
            <a:off x="822960" y="1691640"/>
            <a:ext cx="777240" cy="777240"/>
          </a:xfrm>
          <a:prstGeom prst="ellipse">
            <a:avLst/>
          </a:prstGeom>
          <a:solidFill>
            <a:schemeClr val="accent3"/>
          </a:solidFill>
          <a:ln/>
        </p:spPr>
      </p:sp>
      <p:pic>
        <p:nvPicPr>
          <p:cNvPr id="5" name="Attackers icon" descr="Attackers">    </p:cNvPr>
          <p:cNvPicPr>
            <a:picLocks noChangeAspect="1"/>
          </p:cNvPicPr>
          <p:nvPr/>
        </p:nvPicPr>
        <p:blipFill>
          <a:blip r:embed="rId1"/>
          <a:stretch>
            <a:fillRect/>
          </a:stretch>
        </p:blipFill>
        <p:spPr>
          <a:xfrm>
            <a:off x="1017270" y="1885950"/>
            <a:ext cx="388620" cy="388620"/>
          </a:xfrm>
          <a:prstGeom prst="rect">
            <a:avLst/>
          </a:prstGeom>
        </p:spPr>
      </p:pic>
      <p:sp>
        <p:nvSpPr>
          <p:cNvPr id="6" name="Text 3"/>
          <p:cNvSpPr txBox="1"/>
          <p:nvPr/>
        </p:nvSpPr>
        <p:spPr>
          <a:xfrm>
            <a:off x="1783080" y="1645920"/>
            <a:ext cx="2103120" cy="7315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Attackers</a:t>
            </a:r>
            <a:endParaRPr lang="en-US" sz="1800" dirty="0"/>
          </a:p>
        </p:txBody>
      </p:sp>
      <p:sp>
        <p:nvSpPr>
          <p:cNvPr id="7" name="Text 4"/>
          <p:cNvSpPr txBox="1"/>
          <p:nvPr/>
        </p:nvSpPr>
        <p:spPr>
          <a:xfrm>
            <a:off x="1783080" y="2377440"/>
            <a:ext cx="21031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Automated requests from the internet</a:t>
            </a:r>
            <a:endParaRPr lang="en-US" sz="1400" dirty="0"/>
          </a:p>
        </p:txBody>
      </p:sp>
      <p:sp>
        <p:nvSpPr>
          <p:cNvPr id="8" name="Chain arrow 1"/>
          <p:cNvSpPr/>
          <p:nvPr/>
        </p:nvSpPr>
        <p:spPr>
          <a:xfrm>
            <a:off x="4069080" y="2331720"/>
            <a:ext cx="274320" cy="0"/>
          </a:xfrm>
          <a:prstGeom prst="line">
            <a:avLst/>
          </a:prstGeom>
          <a:noFill/>
          <a:ln w="31750">
            <a:solidFill>
              <a:srgbClr val="6B7A8C"/>
            </a:solidFill>
            <a:prstDash val="solid"/>
            <a:tailEnd type="triangle"/>
          </a:ln>
        </p:spPr>
      </p:sp>
      <p:sp>
        <p:nvSpPr>
          <p:cNvPr id="9" name="Public e-services node"/>
          <p:cNvSpPr/>
          <p:nvPr/>
        </p:nvSpPr>
        <p:spPr>
          <a:xfrm>
            <a:off x="4343400" y="1417320"/>
            <a:ext cx="3474720" cy="1828800"/>
          </a:xfrm>
          <a:prstGeom prst="roundRect">
            <a:avLst>
              <a:gd name="adj" fmla="val 6000"/>
            </a:avLst>
          </a:prstGeom>
          <a:solidFill>
            <a:schemeClr val="bg2"/>
          </a:solidFill>
          <a:ln/>
        </p:spPr>
      </p:sp>
      <p:sp>
        <p:nvSpPr>
          <p:cNvPr id="10" name="Public e-services circle"/>
          <p:cNvSpPr/>
          <p:nvPr/>
        </p:nvSpPr>
        <p:spPr>
          <a:xfrm>
            <a:off x="4617720" y="1691640"/>
            <a:ext cx="777240" cy="777240"/>
          </a:xfrm>
          <a:prstGeom prst="ellipse">
            <a:avLst/>
          </a:prstGeom>
          <a:solidFill>
            <a:schemeClr val="accent1"/>
          </a:solidFill>
          <a:ln/>
        </p:spPr>
      </p:sp>
      <p:pic>
        <p:nvPicPr>
          <p:cNvPr id="11" name="Public e-services icon" descr="Public e-services">    </p:cNvPr>
          <p:cNvPicPr>
            <a:picLocks noChangeAspect="1"/>
          </p:cNvPicPr>
          <p:nvPr/>
        </p:nvPicPr>
        <p:blipFill>
          <a:blip r:embed="rId2"/>
          <a:stretch>
            <a:fillRect/>
          </a:stretch>
        </p:blipFill>
        <p:spPr>
          <a:xfrm>
            <a:off x="4812030" y="1885950"/>
            <a:ext cx="388620" cy="388620"/>
          </a:xfrm>
          <a:prstGeom prst="rect">
            <a:avLst/>
          </a:prstGeom>
        </p:spPr>
      </p:pic>
      <p:sp>
        <p:nvSpPr>
          <p:cNvPr id="12" name="Text 8"/>
          <p:cNvSpPr txBox="1"/>
          <p:nvPr/>
        </p:nvSpPr>
        <p:spPr>
          <a:xfrm>
            <a:off x="5577840" y="1645920"/>
            <a:ext cx="2103120" cy="7315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Public e-services</a:t>
            </a:r>
            <a:endParaRPr lang="en-US" sz="1800" dirty="0"/>
          </a:p>
        </p:txBody>
      </p:sp>
      <p:sp>
        <p:nvSpPr>
          <p:cNvPr id="13" name="Text 9"/>
          <p:cNvSpPr txBox="1"/>
          <p:nvPr/>
        </p:nvSpPr>
        <p:spPr>
          <a:xfrm>
            <a:off x="5577840" y="2377440"/>
            <a:ext cx="21031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Reachable without authentication</a:t>
            </a:r>
            <a:endParaRPr lang="en-US" sz="1400" dirty="0"/>
          </a:p>
        </p:txBody>
      </p:sp>
      <p:sp>
        <p:nvSpPr>
          <p:cNvPr id="14" name="Chain arrow 2"/>
          <p:cNvSpPr/>
          <p:nvPr/>
        </p:nvSpPr>
        <p:spPr>
          <a:xfrm>
            <a:off x="7863840" y="2331720"/>
            <a:ext cx="274320" cy="0"/>
          </a:xfrm>
          <a:prstGeom prst="line">
            <a:avLst/>
          </a:prstGeom>
          <a:noFill/>
          <a:ln w="31750">
            <a:solidFill>
              <a:srgbClr val="6B7A8C"/>
            </a:solidFill>
            <a:prstDash val="solid"/>
            <a:tailEnd type="triangle"/>
          </a:ln>
        </p:spPr>
      </p:sp>
      <p:sp>
        <p:nvSpPr>
          <p:cNvPr id="15" name="Interconnected state registers node"/>
          <p:cNvSpPr/>
          <p:nvPr/>
        </p:nvSpPr>
        <p:spPr>
          <a:xfrm>
            <a:off x="8138160" y="1417320"/>
            <a:ext cx="3474720" cy="1828800"/>
          </a:xfrm>
          <a:prstGeom prst="roundRect">
            <a:avLst>
              <a:gd name="adj" fmla="val 6000"/>
            </a:avLst>
          </a:prstGeom>
          <a:solidFill>
            <a:schemeClr val="bg2"/>
          </a:solidFill>
          <a:ln/>
        </p:spPr>
      </p:sp>
      <p:sp>
        <p:nvSpPr>
          <p:cNvPr id="16" name="Interconnected state registers circle"/>
          <p:cNvSpPr/>
          <p:nvPr/>
        </p:nvSpPr>
        <p:spPr>
          <a:xfrm>
            <a:off x="8412480" y="1691640"/>
            <a:ext cx="777240" cy="777240"/>
          </a:xfrm>
          <a:prstGeom prst="ellipse">
            <a:avLst/>
          </a:prstGeom>
          <a:solidFill>
            <a:schemeClr val="accent4"/>
          </a:solidFill>
          <a:ln/>
        </p:spPr>
      </p:sp>
      <p:pic>
        <p:nvPicPr>
          <p:cNvPr id="17" name="Interconnected state registers icon" descr="Interconnected state registers">    </p:cNvPr>
          <p:cNvPicPr>
            <a:picLocks noChangeAspect="1"/>
          </p:cNvPicPr>
          <p:nvPr/>
        </p:nvPicPr>
        <p:blipFill>
          <a:blip r:embed="rId3"/>
          <a:stretch>
            <a:fillRect/>
          </a:stretch>
        </p:blipFill>
        <p:spPr>
          <a:xfrm>
            <a:off x="8606790" y="1885950"/>
            <a:ext cx="388620" cy="388620"/>
          </a:xfrm>
          <a:prstGeom prst="rect">
            <a:avLst/>
          </a:prstGeom>
        </p:spPr>
      </p:pic>
      <p:sp>
        <p:nvSpPr>
          <p:cNvPr id="18" name="Text 13"/>
          <p:cNvSpPr txBox="1"/>
          <p:nvPr/>
        </p:nvSpPr>
        <p:spPr>
          <a:xfrm>
            <a:off x="9372600" y="1645920"/>
            <a:ext cx="2103120" cy="7315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Interconnected state registers</a:t>
            </a:r>
            <a:endParaRPr lang="en-US" sz="1800" dirty="0"/>
          </a:p>
        </p:txBody>
      </p:sp>
      <p:sp>
        <p:nvSpPr>
          <p:cNvPr id="19" name="Text 14"/>
          <p:cNvSpPr txBox="1"/>
          <p:nvPr/>
        </p:nvSpPr>
        <p:spPr>
          <a:xfrm>
            <a:off x="9372600" y="2377440"/>
            <a:ext cx="21031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Data returned for each IDNP</a:t>
            </a:r>
            <a:endParaRPr lang="en-US" sz="1400" dirty="0"/>
          </a:p>
        </p:txBody>
      </p:sp>
      <p:sp>
        <p:nvSpPr>
          <p:cNvPr id="20" name="Loop label"/>
          <p:cNvSpPr/>
          <p:nvPr/>
        </p:nvSpPr>
        <p:spPr>
          <a:xfrm>
            <a:off x="4343400" y="3429000"/>
            <a:ext cx="7269480" cy="502920"/>
          </a:xfrm>
          <a:prstGeom prst="roundRect">
            <a:avLst>
              <a:gd name="adj" fmla="val 49091"/>
            </a:avLst>
          </a:prstGeom>
          <a:solidFill>
            <a:schemeClr val="accent1"/>
          </a:solidFill>
          <a:ln/>
        </p:spPr>
      </p:sp>
      <p:sp>
        <p:nvSpPr>
          <p:cNvPr id="21" name="Text 16"/>
          <p:cNvSpPr txBox="1"/>
          <p:nvPr/>
        </p:nvSpPr>
        <p:spPr>
          <a:xfrm>
            <a:off x="4343400" y="3429000"/>
            <a:ext cx="7269480" cy="502920"/>
          </a:xfrm>
          <a:prstGeom prst="rect">
            <a:avLst/>
          </a:prstGeom>
          <a:noFill/>
          <a:ln/>
        </p:spPr>
        <p:txBody>
          <a:bodyPr wrap="square" lIns="0" tIns="0" rIns="0" bIns="0" rtlCol="0" anchor="ctr"/>
          <a:lstStyle/>
          <a:p>
            <a:pPr algn="ctr" indent="0" marL="0">
              <a:buNone/>
            </a:pPr>
            <a:r>
              <a:rPr lang="en-US" sz="1500" b="1" dirty="0">
                <a:solidFill>
                  <a:schemeClr val="tx2"/>
                </a:solidFill>
                <a:latin typeface="Calibri" pitchFamily="34" charset="0"/>
                <a:ea typeface="Calibri" pitchFamily="34" charset="-122"/>
                <a:cs typeface="Calibri" pitchFamily="34" charset="-120"/>
              </a:rPr>
              <a:t>↻  Data obtained was used to make further extractions</a:t>
            </a:r>
            <a:endParaRPr lang="en-US" sz="1500" dirty="0"/>
          </a:p>
        </p:txBody>
      </p:sp>
      <p:sp>
        <p:nvSpPr>
          <p:cNvPr id="22" name="Text 17"/>
          <p:cNvSpPr txBox="1"/>
          <p:nvPr/>
        </p:nvSpPr>
        <p:spPr>
          <a:xfrm>
            <a:off x="548640" y="4206240"/>
            <a:ext cx="11064240" cy="201168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latin typeface="Calibri" pitchFamily="34" charset="0"/>
                <a:ea typeface="Calibri" pitchFamily="34" charset="-122"/>
                <a:cs typeface="Calibri" pitchFamily="34" charset="-120"/>
              </a:rPr>
              <a:t>Entry point: </a:t>
            </a:r>
            <a:pPr indent="0" marL="0">
              <a:spcAft>
                <a:spcPts val="600"/>
              </a:spcAft>
              <a:buNone/>
            </a:pPr>
            <a:r>
              <a:rPr lang="en-US" sz="1500" dirty="0">
                <a:solidFill>
                  <a:schemeClr val="tx1"/>
                </a:solidFill>
                <a:latin typeface="Calibri" pitchFamily="34" charset="0"/>
                <a:ea typeface="Calibri" pitchFamily="34" charset="-122"/>
                <a:cs typeface="Calibri" pitchFamily="34" charset="-120"/>
              </a:rPr>
              <a:t>vulnerabilities in services accessible without authentication. </a:t>
            </a:r>
            <a:pPr indent="0" marL="0">
              <a:spcAft>
                <a:spcPts val="600"/>
              </a:spcAft>
              <a:buNone/>
            </a:pPr>
            <a:r>
              <a:rPr lang="en-US" sz="1500" i="1" dirty="0">
                <a:solidFill>
                  <a:schemeClr val="accent5"/>
                </a:solidFill>
                <a:latin typeface="Calibri" pitchFamily="34" charset="0"/>
                <a:ea typeface="Calibri" pitchFamily="34" charset="-122"/>
                <a:cs typeface="Calibri" pitchFamily="34" charset="-120"/>
              </a:rPr>
              <a:t>(AGE)</a:t>
            </a:r>
            <a:endParaRPr lang="en-US" sz="1500" dirty="0"/>
          </a:p>
          <a:p>
            <a:pPr marL="342900" indent="-342900">
              <a:spcAft>
                <a:spcPts val="600"/>
              </a:spcAft>
              <a:buSzPct val="100000"/>
              <a:buChar char="•"/>
            </a:pPr>
            <a:r>
              <a:rPr lang="en-US" sz="1500" b="1" dirty="0">
                <a:solidFill>
                  <a:schemeClr val="tx2"/>
                </a:solidFill>
                <a:latin typeface="Calibri" pitchFamily="34" charset="0"/>
                <a:ea typeface="Calibri" pitchFamily="34" charset="-122"/>
                <a:cs typeface="Calibri" pitchFamily="34" charset="-120"/>
              </a:rPr>
              <a:t>Chaining: </a:t>
            </a:r>
            <a:pPr indent="0" marL="0">
              <a:spcAft>
                <a:spcPts val="600"/>
              </a:spcAft>
              <a:buNone/>
            </a:pPr>
            <a:r>
              <a:rPr lang="en-US" sz="1500" dirty="0">
                <a:solidFill>
                  <a:schemeClr val="tx1"/>
                </a:solidFill>
                <a:latin typeface="Calibri" pitchFamily="34" charset="0"/>
                <a:ea typeface="Calibri" pitchFamily="34" charset="-122"/>
                <a:cs typeface="Calibri" pitchFamily="34" charset="-120"/>
              </a:rPr>
              <a:t>the data obtained was then used for further extractions from connected systems. </a:t>
            </a:r>
            <a:pPr indent="0" marL="0">
              <a:spcAft>
                <a:spcPts val="600"/>
              </a:spcAft>
              <a:buNone/>
            </a:pPr>
            <a:r>
              <a:rPr lang="en-US" sz="1500" i="1" dirty="0">
                <a:solidFill>
                  <a:schemeClr val="accent5"/>
                </a:solidFill>
                <a:latin typeface="Calibri" pitchFamily="34" charset="0"/>
                <a:ea typeface="Calibri" pitchFamily="34" charset="-122"/>
                <a:cs typeface="Calibri" pitchFamily="34" charset="-120"/>
              </a:rPr>
              <a:t>(AGE)</a:t>
            </a:r>
            <a:endParaRPr lang="en-US" sz="1500" dirty="0"/>
          </a:p>
          <a:p>
            <a:pPr marL="342900" indent="-342900">
              <a:spcAft>
                <a:spcPts val="600"/>
              </a:spcAft>
              <a:buSzPct val="100000"/>
              <a:buChar char="•"/>
            </a:pPr>
            <a:r>
              <a:rPr lang="en-US" sz="1500" b="1" dirty="0">
                <a:solidFill>
                  <a:schemeClr val="tx2"/>
                </a:solidFill>
                <a:latin typeface="Calibri" pitchFamily="34" charset="0"/>
                <a:ea typeface="Calibri" pitchFamily="34" charset="-122"/>
                <a:cs typeface="Calibri" pitchFamily="34" charset="-120"/>
              </a:rPr>
              <a:t>Scale: </a:t>
            </a:r>
            <a:pPr indent="0" marL="0">
              <a:spcAft>
                <a:spcPts val="600"/>
              </a:spcAft>
              <a:buNone/>
            </a:pPr>
            <a:r>
              <a:rPr lang="en-US" sz="1500" dirty="0">
                <a:solidFill>
                  <a:schemeClr val="tx1"/>
                </a:solidFill>
                <a:latin typeface="Calibri" pitchFamily="34" charset="0"/>
                <a:ea typeface="Calibri" pitchFamily="34" charset="-122"/>
                <a:cs typeface="Calibri" pitchFamily="34" charset="-120"/>
              </a:rPr>
              <a:t>about 1 million IDNPs queried; about 11 million requests reported. </a:t>
            </a:r>
            <a:pPr indent="0" marL="0">
              <a:spcAft>
                <a:spcPts val="600"/>
              </a:spcAft>
              <a:buNone/>
            </a:pPr>
            <a:r>
              <a:rPr lang="en-US" sz="1500" i="1" dirty="0">
                <a:solidFill>
                  <a:schemeClr val="accent5"/>
                </a:solidFill>
                <a:latin typeface="Calibri" pitchFamily="34" charset="0"/>
                <a:ea typeface="Calibri" pitchFamily="34" charset="-122"/>
                <a:cs typeface="Calibri" pitchFamily="34" charset="-120"/>
              </a:rPr>
              <a:t>(AGE, The Record)</a:t>
            </a:r>
            <a:endParaRPr lang="en-US" sz="1500" dirty="0"/>
          </a:p>
          <a:p>
            <a:pPr marL="342900" indent="-342900">
              <a:spcAft>
                <a:spcPts val="600"/>
              </a:spcAft>
              <a:buSzPct val="100000"/>
              <a:buChar char="•"/>
            </a:pPr>
            <a:r>
              <a:rPr lang="en-US" sz="1500" b="1" dirty="0">
                <a:solidFill>
                  <a:schemeClr val="tx2"/>
                </a:solidFill>
                <a:latin typeface="Calibri" pitchFamily="34" charset="0"/>
                <a:ea typeface="Calibri" pitchFamily="34" charset="-122"/>
                <a:cs typeface="Calibri" pitchFamily="34" charset="-120"/>
              </a:rPr>
              <a:t>Audit trail: </a:t>
            </a:r>
            <a:pPr indent="0" marL="0">
              <a:spcAft>
                <a:spcPts val="600"/>
              </a:spcAft>
              <a:buNone/>
            </a:pPr>
            <a:r>
              <a:rPr lang="en-US" sz="1500" dirty="0">
                <a:solidFill>
                  <a:schemeClr val="tx1"/>
                </a:solidFill>
                <a:latin typeface="Calibri" pitchFamily="34" charset="0"/>
                <a:ea typeface="Calibri" pitchFamily="34" charset="-122"/>
                <a:cs typeface="Calibri" pitchFamily="34" charset="-120"/>
              </a:rPr>
              <a:t>one e-service recorded the wrong legal basis, so some people saw misleading entries in their EVO access history. </a:t>
            </a:r>
            <a:pPr indent="0" marL="0">
              <a:spcAft>
                <a:spcPts val="600"/>
              </a:spcAft>
              <a:buNone/>
            </a:pPr>
            <a:r>
              <a:rPr lang="en-US" sz="1500" i="1" dirty="0">
                <a:solidFill>
                  <a:schemeClr val="accent5"/>
                </a:solidFill>
                <a:latin typeface="Calibri" pitchFamily="34" charset="0"/>
                <a:ea typeface="Calibri" pitchFamily="34" charset="-122"/>
                <a:cs typeface="Calibri" pitchFamily="34" charset="-120"/>
              </a:rPr>
              <a:t>(AGE)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Four weaknesses the facts point to</a:t>
            </a:r>
            <a:endParaRPr lang="en-US" sz="3600" dirty="0"/>
          </a:p>
        </p:txBody>
      </p:sp>
      <p:sp>
        <p:nvSpPr>
          <p:cNvPr id="3" name="No login in front of personal data card"/>
          <p:cNvSpPr/>
          <p:nvPr/>
        </p:nvSpPr>
        <p:spPr>
          <a:xfrm>
            <a:off x="548640" y="1417320"/>
            <a:ext cx="5394960" cy="2011680"/>
          </a:xfrm>
          <a:prstGeom prst="roundRect">
            <a:avLst>
              <a:gd name="adj" fmla="val 5455"/>
            </a:avLst>
          </a:prstGeom>
          <a:solidFill>
            <a:schemeClr val="bg2"/>
          </a:solidFill>
          <a:ln/>
        </p:spPr>
      </p:sp>
      <p:sp>
        <p:nvSpPr>
          <p:cNvPr id="4" name="No login in front of personal data circle"/>
          <p:cNvSpPr/>
          <p:nvPr/>
        </p:nvSpPr>
        <p:spPr>
          <a:xfrm>
            <a:off x="822960" y="1691640"/>
            <a:ext cx="685800" cy="685800"/>
          </a:xfrm>
          <a:prstGeom prst="ellipse">
            <a:avLst/>
          </a:prstGeom>
          <a:solidFill>
            <a:schemeClr val="tx2"/>
          </a:solidFill>
          <a:ln/>
        </p:spPr>
      </p:sp>
      <p:pic>
        <p:nvPicPr>
          <p:cNvPr id="5" name="No login in front of personal data icon" descr="No login in front of personal data">    </p:cNvPr>
          <p:cNvPicPr>
            <a:picLocks noChangeAspect="1"/>
          </p:cNvPicPr>
          <p:nvPr/>
        </p:nvPicPr>
        <p:blipFill>
          <a:blip r:embed="rId1"/>
          <a:stretch>
            <a:fillRect/>
          </a:stretch>
        </p:blipFill>
        <p:spPr>
          <a:xfrm>
            <a:off x="994410" y="1863090"/>
            <a:ext cx="342900" cy="342900"/>
          </a:xfrm>
          <a:prstGeom prst="rect">
            <a:avLst/>
          </a:prstGeom>
        </p:spPr>
      </p:pic>
      <p:sp>
        <p:nvSpPr>
          <p:cNvPr id="6" name="Text 3"/>
          <p:cNvSpPr txBox="1"/>
          <p:nvPr/>
        </p:nvSpPr>
        <p:spPr>
          <a:xfrm>
            <a:off x="1691640" y="1691640"/>
            <a:ext cx="402336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 login in front of personal data</a:t>
            </a:r>
            <a:endParaRPr lang="en-US" sz="1800" dirty="0"/>
          </a:p>
        </p:txBody>
      </p:sp>
      <p:sp>
        <p:nvSpPr>
          <p:cNvPr id="7" name="Text 4"/>
          <p:cNvSpPr txBox="1"/>
          <p:nvPr/>
        </p:nvSpPr>
        <p:spPr>
          <a:xfrm>
            <a:off x="822960" y="2468880"/>
            <a:ext cx="48463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Services returned data about any person without checking who was asking.</a:t>
            </a:r>
            <a:endParaRPr lang="en-US" sz="1500" dirty="0"/>
          </a:p>
        </p:txBody>
      </p:sp>
      <p:sp>
        <p:nvSpPr>
          <p:cNvPr id="8" name="No login in front of personal data tag"/>
          <p:cNvSpPr/>
          <p:nvPr/>
        </p:nvSpPr>
        <p:spPr>
          <a:xfrm>
            <a:off x="822960" y="2990088"/>
            <a:ext cx="2743200" cy="310896"/>
          </a:xfrm>
          <a:prstGeom prst="roundRect">
            <a:avLst>
              <a:gd name="adj" fmla="val 50000"/>
            </a:avLst>
          </a:prstGeom>
          <a:solidFill>
            <a:schemeClr val="accent3"/>
          </a:solidFill>
          <a:ln/>
        </p:spPr>
      </p:sp>
      <p:sp>
        <p:nvSpPr>
          <p:cNvPr id="9" name="Text 6"/>
          <p:cNvSpPr txBox="1"/>
          <p:nvPr/>
        </p:nvSpPr>
        <p:spPr>
          <a:xfrm>
            <a:off x="822960" y="2990088"/>
            <a:ext cx="274320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OWASP A01 Broken Access Control</a:t>
            </a:r>
            <a:endParaRPr lang="en-US" sz="1100" dirty="0"/>
          </a:p>
        </p:txBody>
      </p:sp>
      <p:sp>
        <p:nvSpPr>
          <p:cNvPr id="10" name="No effective limits card"/>
          <p:cNvSpPr/>
          <p:nvPr/>
        </p:nvSpPr>
        <p:spPr>
          <a:xfrm>
            <a:off x="6217920" y="1417320"/>
            <a:ext cx="5394960" cy="2011680"/>
          </a:xfrm>
          <a:prstGeom prst="roundRect">
            <a:avLst>
              <a:gd name="adj" fmla="val 5455"/>
            </a:avLst>
          </a:prstGeom>
          <a:solidFill>
            <a:schemeClr val="bg2"/>
          </a:solidFill>
          <a:ln/>
        </p:spPr>
      </p:sp>
      <p:sp>
        <p:nvSpPr>
          <p:cNvPr id="11" name="No effective limits circle"/>
          <p:cNvSpPr/>
          <p:nvPr/>
        </p:nvSpPr>
        <p:spPr>
          <a:xfrm>
            <a:off x="6492240" y="1691640"/>
            <a:ext cx="685800" cy="685800"/>
          </a:xfrm>
          <a:prstGeom prst="ellipse">
            <a:avLst/>
          </a:prstGeom>
          <a:solidFill>
            <a:schemeClr val="tx2"/>
          </a:solidFill>
          <a:ln/>
        </p:spPr>
      </p:sp>
      <p:pic>
        <p:nvPicPr>
          <p:cNvPr id="12" name="No effective limits icon" descr="No effective limits">    </p:cNvPr>
          <p:cNvPicPr>
            <a:picLocks noChangeAspect="1"/>
          </p:cNvPicPr>
          <p:nvPr/>
        </p:nvPicPr>
        <p:blipFill>
          <a:blip r:embed="rId2"/>
          <a:stretch>
            <a:fillRect/>
          </a:stretch>
        </p:blipFill>
        <p:spPr>
          <a:xfrm>
            <a:off x="6663690" y="1863090"/>
            <a:ext cx="342900" cy="342900"/>
          </a:xfrm>
          <a:prstGeom prst="rect">
            <a:avLst/>
          </a:prstGeom>
        </p:spPr>
      </p:pic>
      <p:sp>
        <p:nvSpPr>
          <p:cNvPr id="13" name="Text 9"/>
          <p:cNvSpPr txBox="1"/>
          <p:nvPr/>
        </p:nvSpPr>
        <p:spPr>
          <a:xfrm>
            <a:off x="7360920" y="1691640"/>
            <a:ext cx="402336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 effective limits</a:t>
            </a:r>
            <a:endParaRPr lang="en-US" sz="1800" dirty="0"/>
          </a:p>
        </p:txBody>
      </p:sp>
      <p:sp>
        <p:nvSpPr>
          <p:cNvPr id="14" name="Text 10"/>
          <p:cNvSpPr txBox="1"/>
          <p:nvPr/>
        </p:nvSpPr>
        <p:spPr>
          <a:xfrm>
            <a:off x="6492240" y="2468880"/>
            <a:ext cx="48463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Around a million lookups over five days were possible before the attack was stopped.</a:t>
            </a:r>
            <a:endParaRPr lang="en-US" sz="1500" dirty="0"/>
          </a:p>
        </p:txBody>
      </p:sp>
      <p:sp>
        <p:nvSpPr>
          <p:cNvPr id="15" name="No effective limits tag"/>
          <p:cNvSpPr/>
          <p:nvPr/>
        </p:nvSpPr>
        <p:spPr>
          <a:xfrm>
            <a:off x="6492240" y="2990088"/>
            <a:ext cx="2743200" cy="310896"/>
          </a:xfrm>
          <a:prstGeom prst="roundRect">
            <a:avLst>
              <a:gd name="adj" fmla="val 50000"/>
            </a:avLst>
          </a:prstGeom>
          <a:solidFill>
            <a:schemeClr val="accent3"/>
          </a:solidFill>
          <a:ln/>
        </p:spPr>
      </p:sp>
      <p:sp>
        <p:nvSpPr>
          <p:cNvPr id="16" name="Text 12"/>
          <p:cNvSpPr txBox="1"/>
          <p:nvPr/>
        </p:nvSpPr>
        <p:spPr>
          <a:xfrm>
            <a:off x="6492240" y="2990088"/>
            <a:ext cx="274320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OWASP A09 Logging &amp; Alerting</a:t>
            </a:r>
            <a:endParaRPr lang="en-US" sz="1100" dirty="0"/>
          </a:p>
        </p:txBody>
      </p:sp>
      <p:sp>
        <p:nvSpPr>
          <p:cNvPr id="17" name="Too much data per query card"/>
          <p:cNvSpPr/>
          <p:nvPr/>
        </p:nvSpPr>
        <p:spPr>
          <a:xfrm>
            <a:off x="548640" y="3657600"/>
            <a:ext cx="5394960" cy="2011680"/>
          </a:xfrm>
          <a:prstGeom prst="roundRect">
            <a:avLst>
              <a:gd name="adj" fmla="val 5455"/>
            </a:avLst>
          </a:prstGeom>
          <a:solidFill>
            <a:schemeClr val="bg2"/>
          </a:solidFill>
          <a:ln/>
        </p:spPr>
      </p:sp>
      <p:sp>
        <p:nvSpPr>
          <p:cNvPr id="18" name="Too much data per query circle"/>
          <p:cNvSpPr/>
          <p:nvPr/>
        </p:nvSpPr>
        <p:spPr>
          <a:xfrm>
            <a:off x="822960" y="3931920"/>
            <a:ext cx="685800" cy="685800"/>
          </a:xfrm>
          <a:prstGeom prst="ellipse">
            <a:avLst/>
          </a:prstGeom>
          <a:solidFill>
            <a:schemeClr val="tx2"/>
          </a:solidFill>
          <a:ln/>
        </p:spPr>
      </p:sp>
      <p:pic>
        <p:nvPicPr>
          <p:cNvPr id="19" name="Too much data per query icon" descr="Too much data per query">    </p:cNvPr>
          <p:cNvPicPr>
            <a:picLocks noChangeAspect="1"/>
          </p:cNvPicPr>
          <p:nvPr/>
        </p:nvPicPr>
        <p:blipFill>
          <a:blip r:embed="rId3"/>
          <a:stretch>
            <a:fillRect/>
          </a:stretch>
        </p:blipFill>
        <p:spPr>
          <a:xfrm>
            <a:off x="994410" y="4103370"/>
            <a:ext cx="342900" cy="342900"/>
          </a:xfrm>
          <a:prstGeom prst="rect">
            <a:avLst/>
          </a:prstGeom>
        </p:spPr>
      </p:pic>
      <p:sp>
        <p:nvSpPr>
          <p:cNvPr id="20" name="Text 15"/>
          <p:cNvSpPr txBox="1"/>
          <p:nvPr/>
        </p:nvSpPr>
        <p:spPr>
          <a:xfrm>
            <a:off x="1691640" y="3931920"/>
            <a:ext cx="402336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Too much data per query</a:t>
            </a:r>
            <a:endParaRPr lang="en-US" sz="1800" dirty="0"/>
          </a:p>
        </p:txBody>
      </p:sp>
      <p:sp>
        <p:nvSpPr>
          <p:cNvPr id="21" name="Text 16"/>
          <p:cNvSpPr txBox="1"/>
          <p:nvPr/>
        </p:nvSpPr>
        <p:spPr>
          <a:xfrm>
            <a:off x="822960" y="4709160"/>
            <a:ext cx="48463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One query unlocked data from many connected registers: identity, family, money.</a:t>
            </a:r>
            <a:endParaRPr lang="en-US" sz="1500" dirty="0"/>
          </a:p>
        </p:txBody>
      </p:sp>
      <p:sp>
        <p:nvSpPr>
          <p:cNvPr id="22" name="Too much data per query tag"/>
          <p:cNvSpPr/>
          <p:nvPr/>
        </p:nvSpPr>
        <p:spPr>
          <a:xfrm>
            <a:off x="822960" y="5230368"/>
            <a:ext cx="2743200" cy="310896"/>
          </a:xfrm>
          <a:prstGeom prst="roundRect">
            <a:avLst>
              <a:gd name="adj" fmla="val 50000"/>
            </a:avLst>
          </a:prstGeom>
          <a:solidFill>
            <a:schemeClr val="accent3"/>
          </a:solidFill>
          <a:ln/>
        </p:spPr>
      </p:sp>
      <p:sp>
        <p:nvSpPr>
          <p:cNvPr id="23" name="Text 18"/>
          <p:cNvSpPr txBox="1"/>
          <p:nvPr/>
        </p:nvSpPr>
        <p:spPr>
          <a:xfrm>
            <a:off x="822960" y="5230368"/>
            <a:ext cx="274320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OWASP A06 Insecure Design</a:t>
            </a:r>
            <a:endParaRPr lang="en-US" sz="1100" dirty="0"/>
          </a:p>
        </p:txBody>
      </p:sp>
      <p:sp>
        <p:nvSpPr>
          <p:cNvPr id="24" name="Unreliable audit trail card"/>
          <p:cNvSpPr/>
          <p:nvPr/>
        </p:nvSpPr>
        <p:spPr>
          <a:xfrm>
            <a:off x="6217920" y="3657600"/>
            <a:ext cx="5394960" cy="2011680"/>
          </a:xfrm>
          <a:prstGeom prst="roundRect">
            <a:avLst>
              <a:gd name="adj" fmla="val 5455"/>
            </a:avLst>
          </a:prstGeom>
          <a:solidFill>
            <a:schemeClr val="bg2"/>
          </a:solidFill>
          <a:ln/>
        </p:spPr>
      </p:sp>
      <p:sp>
        <p:nvSpPr>
          <p:cNvPr id="25" name="Unreliable audit trail circle"/>
          <p:cNvSpPr/>
          <p:nvPr/>
        </p:nvSpPr>
        <p:spPr>
          <a:xfrm>
            <a:off x="6492240" y="3931920"/>
            <a:ext cx="685800" cy="685800"/>
          </a:xfrm>
          <a:prstGeom prst="ellipse">
            <a:avLst/>
          </a:prstGeom>
          <a:solidFill>
            <a:schemeClr val="tx2"/>
          </a:solidFill>
          <a:ln/>
        </p:spPr>
      </p:sp>
      <p:pic>
        <p:nvPicPr>
          <p:cNvPr id="26" name="Unreliable audit trail icon" descr="Unreliable audit trail">    </p:cNvPr>
          <p:cNvPicPr>
            <a:picLocks noChangeAspect="1"/>
          </p:cNvPicPr>
          <p:nvPr/>
        </p:nvPicPr>
        <p:blipFill>
          <a:blip r:embed="rId4"/>
          <a:stretch>
            <a:fillRect/>
          </a:stretch>
        </p:blipFill>
        <p:spPr>
          <a:xfrm>
            <a:off x="6663690" y="4103370"/>
            <a:ext cx="342900" cy="342900"/>
          </a:xfrm>
          <a:prstGeom prst="rect">
            <a:avLst/>
          </a:prstGeom>
        </p:spPr>
      </p:pic>
      <p:sp>
        <p:nvSpPr>
          <p:cNvPr id="27" name="Text 21"/>
          <p:cNvSpPr txBox="1"/>
          <p:nvPr/>
        </p:nvSpPr>
        <p:spPr>
          <a:xfrm>
            <a:off x="7360920" y="3931920"/>
            <a:ext cx="402336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Unreliable audit trail</a:t>
            </a:r>
            <a:endParaRPr lang="en-US" sz="1800" dirty="0"/>
          </a:p>
        </p:txBody>
      </p:sp>
      <p:sp>
        <p:nvSpPr>
          <p:cNvPr id="28" name="Text 22"/>
          <p:cNvSpPr txBox="1"/>
          <p:nvPr/>
        </p:nvSpPr>
        <p:spPr>
          <a:xfrm>
            <a:off x="6492240" y="4709160"/>
            <a:ext cx="48463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wrong legal basis was logged, so the access history misled citizens.</a:t>
            </a:r>
            <a:endParaRPr lang="en-US" sz="1500" dirty="0"/>
          </a:p>
        </p:txBody>
      </p:sp>
      <p:sp>
        <p:nvSpPr>
          <p:cNvPr id="29" name="Unreliable audit trail tag"/>
          <p:cNvSpPr/>
          <p:nvPr/>
        </p:nvSpPr>
        <p:spPr>
          <a:xfrm>
            <a:off x="6492240" y="5230368"/>
            <a:ext cx="2743200" cy="310896"/>
          </a:xfrm>
          <a:prstGeom prst="roundRect">
            <a:avLst>
              <a:gd name="adj" fmla="val 50000"/>
            </a:avLst>
          </a:prstGeom>
          <a:solidFill>
            <a:schemeClr val="accent3"/>
          </a:solidFill>
          <a:ln/>
        </p:spPr>
      </p:sp>
      <p:sp>
        <p:nvSpPr>
          <p:cNvPr id="30" name="Text 24"/>
          <p:cNvSpPr txBox="1"/>
          <p:nvPr/>
        </p:nvSpPr>
        <p:spPr>
          <a:xfrm>
            <a:off x="6492240" y="5230368"/>
            <a:ext cx="274320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OWASP A09 Logging &amp; Alerting</a:t>
            </a:r>
            <a:endParaRPr lang="en-US" sz="1100" dirty="0"/>
          </a:p>
        </p:txBody>
      </p:sp>
      <p:sp>
        <p:nvSpPr>
          <p:cNvPr id="31" name="Text 25"/>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300" i="1" dirty="0">
                <a:solidFill>
                  <a:schemeClr val="accent5"/>
                </a:solidFill>
                <a:latin typeface="Calibri" pitchFamily="34" charset="0"/>
                <a:ea typeface="Calibri" pitchFamily="34" charset="-122"/>
                <a:cs typeface="Calibri" pitchFamily="34" charset="-120"/>
              </a:rPr>
              <a:t>This is our analysis of the public information, not an official finding.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2148840"/>
            <a:ext cx="2468880" cy="201168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03</a:t>
            </a:r>
            <a:endParaRPr lang="en-US" sz="13000" dirty="0"/>
          </a:p>
        </p:txBody>
      </p:sp>
      <p:sp>
        <p:nvSpPr>
          <p:cNvPr id="3" name="Text 1"/>
          <p:cNvSpPr txBox="1"/>
          <p:nvPr/>
        </p:nvSpPr>
        <p:spPr>
          <a:xfrm>
            <a:off x="3474720" y="2240280"/>
            <a:ext cx="5943600" cy="365760"/>
          </a:xfrm>
          <a:prstGeom prst="rect">
            <a:avLst/>
          </a:prstGeom>
          <a:noFill/>
          <a:ln/>
        </p:spPr>
        <p:txBody>
          <a:bodyPr wrap="square" lIns="0" tIns="0" rIns="0" bIns="0" rtlCol="0" anchor="t"/>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PART 03 OF 05</a:t>
            </a:r>
            <a:endParaRPr lang="en-US" sz="1400" dirty="0"/>
          </a:p>
        </p:txBody>
      </p:sp>
      <p:sp>
        <p:nvSpPr>
          <p:cNvPr id="4" name="Text 0"/>
          <p:cNvSpPr/>
          <p:nvPr>
            <p:ph idx="100" type="title" hasCustomPrompt="1"/>
          </p:nvPr>
        </p:nvSpPr>
        <p:spPr>
          <a:xfrm>
            <a:off x="3474720" y="2651760"/>
            <a:ext cx="5943600"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The risks</a:t>
            </a:r>
            <a:endParaRPr lang="en-US" sz="4400" dirty="0"/>
          </a:p>
        </p:txBody>
      </p:sp>
      <p:sp>
        <p:nvSpPr>
          <p:cNvPr id="5" name="Text 0"/>
          <p:cNvSpPr/>
          <p:nvPr>
            <p:ph idx="101" type="body" hasCustomPrompt="1"/>
          </p:nvPr>
        </p:nvSpPr>
        <p:spPr>
          <a:xfrm>
            <a:off x="3474720" y="3611880"/>
            <a:ext cx="5943600" cy="731520"/>
          </a:xfrm>
          <a:prstGeom prst="rect">
            <a:avLst/>
          </a:prstGeom>
          <a:noFill/>
          <a:ln/>
        </p:spPr>
        <p:txBody>
          <a:bodyPr wrap="square" lIns="0" tIns="0" rIns="0" bIns="0" rtlCol="0" anchor="t"/>
          <a:lstStyle/>
          <a:p>
            <a:pPr algn="l" indent="0" marL="0">
              <a:buNone/>
            </a:pPr>
            <a:r>
              <a:rPr lang="en-US" sz="2000" dirty="0">
                <a:solidFill>
                  <a:schemeClr val="accent1"/>
                </a:solidFill>
                <a:latin typeface="Calibri" pitchFamily="34" charset="0"/>
                <a:ea typeface="Calibri" pitchFamily="34" charset="-122"/>
                <a:cs typeface="Calibri" pitchFamily="34" charset="-120"/>
              </a:rPr>
              <a:t>Stolen data does not expire</a:t>
            </a:r>
            <a:endParaRPr lang="en-US" sz="2000" dirty="0"/>
          </a:p>
        </p:txBody>
      </p:sp>
      <p:sp>
        <p:nvSpPr>
          <p:cNvPr id="6" name="Warning circle"/>
          <p:cNvSpPr/>
          <p:nvPr/>
        </p:nvSpPr>
        <p:spPr>
          <a:xfrm>
            <a:off x="9784080" y="2423160"/>
            <a:ext cx="1645920" cy="1645920"/>
          </a:xfrm>
          <a:prstGeom prst="ellipse">
            <a:avLst/>
          </a:prstGeom>
          <a:solidFill>
            <a:schemeClr val="accent4"/>
          </a:solidFill>
          <a:ln/>
        </p:spPr>
      </p:sp>
      <p:pic>
        <p:nvPicPr>
          <p:cNvPr id="7" name="Warning icon" descr="Warning">    </p:cNvPr>
          <p:cNvPicPr>
            <a:picLocks noChangeAspect="1"/>
          </p:cNvPicPr>
          <p:nvPr/>
        </p:nvPicPr>
        <p:blipFill>
          <a:blip r:embed="rId1"/>
          <a:stretch>
            <a:fillRect/>
          </a:stretch>
        </p:blipFill>
        <p:spPr>
          <a:xfrm>
            <a:off x="10195560" y="2834640"/>
            <a:ext cx="822960" cy="8229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criminals can do with this data</a:t>
            </a:r>
            <a:endParaRPr lang="en-US" sz="3600" dirty="0"/>
          </a:p>
        </p:txBody>
      </p:sp>
      <p:sp>
        <p:nvSpPr>
          <p:cNvPr id="3" name="Fake bank calls card"/>
          <p:cNvSpPr/>
          <p:nvPr/>
        </p:nvSpPr>
        <p:spPr>
          <a:xfrm>
            <a:off x="548640" y="1417320"/>
            <a:ext cx="3474720" cy="2148840"/>
          </a:xfrm>
          <a:prstGeom prst="roundRect">
            <a:avLst>
              <a:gd name="adj" fmla="val 5106"/>
            </a:avLst>
          </a:prstGeom>
          <a:solidFill>
            <a:schemeClr val="bg2"/>
          </a:solidFill>
          <a:ln/>
        </p:spPr>
      </p:sp>
      <p:sp>
        <p:nvSpPr>
          <p:cNvPr id="4" name="Fake bank calls circle"/>
          <p:cNvSpPr/>
          <p:nvPr/>
        </p:nvSpPr>
        <p:spPr>
          <a:xfrm>
            <a:off x="822960" y="1691640"/>
            <a:ext cx="640080" cy="640080"/>
          </a:xfrm>
          <a:prstGeom prst="ellipse">
            <a:avLst/>
          </a:prstGeom>
          <a:solidFill>
            <a:schemeClr val="accent3"/>
          </a:solidFill>
          <a:ln/>
        </p:spPr>
      </p:sp>
      <p:pic>
        <p:nvPicPr>
          <p:cNvPr id="5" name="Fake bank calls icon" descr="Fake bank calls">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0020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Fake bank calls</a:t>
            </a:r>
            <a:endParaRPr lang="en-US" sz="1700" dirty="0"/>
          </a:p>
        </p:txBody>
      </p:sp>
      <p:sp>
        <p:nvSpPr>
          <p:cNvPr id="7" name="Text 4"/>
          <p:cNvSpPr txBox="1"/>
          <p:nvPr/>
        </p:nvSpPr>
        <p:spPr>
          <a:xfrm>
            <a:off x="822960" y="2468880"/>
            <a:ext cx="297180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They know your IBAN and recent payments, so the call sounds real.</a:t>
            </a:r>
            <a:endParaRPr lang="en-US" sz="1500" dirty="0"/>
          </a:p>
        </p:txBody>
      </p:sp>
      <p:sp>
        <p:nvSpPr>
          <p:cNvPr id="8" name="“Your son is in trouble” card"/>
          <p:cNvSpPr/>
          <p:nvPr/>
        </p:nvSpPr>
        <p:spPr>
          <a:xfrm>
            <a:off x="4343400" y="1417320"/>
            <a:ext cx="3474720" cy="2148840"/>
          </a:xfrm>
          <a:prstGeom prst="roundRect">
            <a:avLst>
              <a:gd name="adj" fmla="val 5106"/>
            </a:avLst>
          </a:prstGeom>
          <a:solidFill>
            <a:schemeClr val="bg2"/>
          </a:solidFill>
          <a:ln/>
        </p:spPr>
      </p:sp>
      <p:sp>
        <p:nvSpPr>
          <p:cNvPr id="9" name="“Your son is in trouble” circle"/>
          <p:cNvSpPr/>
          <p:nvPr/>
        </p:nvSpPr>
        <p:spPr>
          <a:xfrm>
            <a:off x="4617720" y="1691640"/>
            <a:ext cx="640080" cy="640080"/>
          </a:xfrm>
          <a:prstGeom prst="ellipse">
            <a:avLst/>
          </a:prstGeom>
          <a:solidFill>
            <a:schemeClr val="accent3"/>
          </a:solidFill>
          <a:ln/>
        </p:spPr>
      </p:sp>
      <p:pic>
        <p:nvPicPr>
          <p:cNvPr id="10" name="“Your son is in trouble” icon" descr="“Your son is in trouble”">    </p:cNvPr>
          <p:cNvPicPr>
            <a:picLocks noChangeAspect="1"/>
          </p:cNvPicPr>
          <p:nvPr/>
        </p:nvPicPr>
        <p:blipFill>
          <a:blip r:embed="rId2"/>
          <a:stretch>
            <a:fillRect/>
          </a:stretch>
        </p:blipFill>
        <p:spPr>
          <a:xfrm>
            <a:off x="4777740" y="1851660"/>
            <a:ext cx="320040" cy="320040"/>
          </a:xfrm>
          <a:prstGeom prst="rect">
            <a:avLst/>
          </a:prstGeom>
        </p:spPr>
      </p:pic>
      <p:sp>
        <p:nvSpPr>
          <p:cNvPr id="11" name="Text 7"/>
          <p:cNvSpPr txBox="1"/>
          <p:nvPr/>
        </p:nvSpPr>
        <p:spPr>
          <a:xfrm>
            <a:off x="539496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“Your son is in trouble”</a:t>
            </a:r>
            <a:endParaRPr lang="en-US" sz="1700" dirty="0"/>
          </a:p>
        </p:txBody>
      </p:sp>
      <p:sp>
        <p:nvSpPr>
          <p:cNvPr id="12" name="Text 8"/>
          <p:cNvSpPr txBox="1"/>
          <p:nvPr/>
        </p:nvSpPr>
        <p:spPr>
          <a:xfrm>
            <a:off x="4617720" y="2468880"/>
            <a:ext cx="297180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They know your relatives' names and can invent a believable emergency.</a:t>
            </a:r>
            <a:endParaRPr lang="en-US" sz="1500" dirty="0"/>
          </a:p>
        </p:txBody>
      </p:sp>
      <p:sp>
        <p:nvSpPr>
          <p:cNvPr id="13" name="Fake officials card"/>
          <p:cNvSpPr/>
          <p:nvPr/>
        </p:nvSpPr>
        <p:spPr>
          <a:xfrm>
            <a:off x="8138160" y="1417320"/>
            <a:ext cx="3474720" cy="2148840"/>
          </a:xfrm>
          <a:prstGeom prst="roundRect">
            <a:avLst>
              <a:gd name="adj" fmla="val 5106"/>
            </a:avLst>
          </a:prstGeom>
          <a:solidFill>
            <a:schemeClr val="bg2"/>
          </a:solidFill>
          <a:ln/>
        </p:spPr>
      </p:sp>
      <p:sp>
        <p:nvSpPr>
          <p:cNvPr id="14" name="Fake officials circle"/>
          <p:cNvSpPr/>
          <p:nvPr/>
        </p:nvSpPr>
        <p:spPr>
          <a:xfrm>
            <a:off x="8412480" y="1691640"/>
            <a:ext cx="640080" cy="640080"/>
          </a:xfrm>
          <a:prstGeom prst="ellipse">
            <a:avLst/>
          </a:prstGeom>
          <a:solidFill>
            <a:schemeClr val="accent3"/>
          </a:solidFill>
          <a:ln/>
        </p:spPr>
      </p:sp>
      <p:pic>
        <p:nvPicPr>
          <p:cNvPr id="15" name="Fake officials icon" descr="Fake officials">    </p:cNvPr>
          <p:cNvPicPr>
            <a:picLocks noChangeAspect="1"/>
          </p:cNvPicPr>
          <p:nvPr/>
        </p:nvPicPr>
        <p:blipFill>
          <a:blip r:embed="rId3"/>
          <a:stretch>
            <a:fillRect/>
          </a:stretch>
        </p:blipFill>
        <p:spPr>
          <a:xfrm>
            <a:off x="8572500" y="1851660"/>
            <a:ext cx="320040" cy="320040"/>
          </a:xfrm>
          <a:prstGeom prst="rect">
            <a:avLst/>
          </a:prstGeom>
        </p:spPr>
      </p:pic>
      <p:sp>
        <p:nvSpPr>
          <p:cNvPr id="16" name="Text 11"/>
          <p:cNvSpPr txBox="1"/>
          <p:nvPr/>
        </p:nvSpPr>
        <p:spPr>
          <a:xfrm>
            <a:off x="918972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Fake officials</a:t>
            </a:r>
            <a:endParaRPr lang="en-US" sz="1700" dirty="0"/>
          </a:p>
        </p:txBody>
      </p:sp>
      <p:sp>
        <p:nvSpPr>
          <p:cNvPr id="17" name="Text 12"/>
          <p:cNvSpPr txBox="1"/>
          <p:nvPr/>
        </p:nvSpPr>
        <p:spPr>
          <a:xfrm>
            <a:off x="8412480" y="2468880"/>
            <a:ext cx="297180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Tax debts, cars, pension: perfect details for a fake inspector or ministry.</a:t>
            </a:r>
            <a:endParaRPr lang="en-US" sz="1500" dirty="0"/>
          </a:p>
        </p:txBody>
      </p:sp>
      <p:sp>
        <p:nvSpPr>
          <p:cNvPr id="18" name="Targeting the vulnerable card"/>
          <p:cNvSpPr/>
          <p:nvPr/>
        </p:nvSpPr>
        <p:spPr>
          <a:xfrm>
            <a:off x="548640" y="3794760"/>
            <a:ext cx="3474720" cy="2148840"/>
          </a:xfrm>
          <a:prstGeom prst="roundRect">
            <a:avLst>
              <a:gd name="adj" fmla="val 5106"/>
            </a:avLst>
          </a:prstGeom>
          <a:solidFill>
            <a:schemeClr val="bg2"/>
          </a:solidFill>
          <a:ln/>
        </p:spPr>
      </p:sp>
      <p:sp>
        <p:nvSpPr>
          <p:cNvPr id="19" name="Targeting the vulnerable circle"/>
          <p:cNvSpPr/>
          <p:nvPr/>
        </p:nvSpPr>
        <p:spPr>
          <a:xfrm>
            <a:off x="822960" y="4069080"/>
            <a:ext cx="640080" cy="640080"/>
          </a:xfrm>
          <a:prstGeom prst="ellipse">
            <a:avLst/>
          </a:prstGeom>
          <a:solidFill>
            <a:schemeClr val="accent3"/>
          </a:solidFill>
          <a:ln/>
        </p:spPr>
      </p:sp>
      <p:pic>
        <p:nvPicPr>
          <p:cNvPr id="20" name="Targeting the vulnerable icon" descr="Targeting the vulnerable">    </p:cNvPr>
          <p:cNvPicPr>
            <a:picLocks noChangeAspect="1"/>
          </p:cNvPicPr>
          <p:nvPr/>
        </p:nvPicPr>
        <p:blipFill>
          <a:blip r:embed="rId4"/>
          <a:stretch>
            <a:fillRect/>
          </a:stretch>
        </p:blipFill>
        <p:spPr>
          <a:xfrm>
            <a:off x="982980" y="4229100"/>
            <a:ext cx="320040" cy="320040"/>
          </a:xfrm>
          <a:prstGeom prst="rect">
            <a:avLst/>
          </a:prstGeom>
        </p:spPr>
      </p:pic>
      <p:sp>
        <p:nvSpPr>
          <p:cNvPr id="21" name="Text 15"/>
          <p:cNvSpPr txBox="1"/>
          <p:nvPr/>
        </p:nvSpPr>
        <p:spPr>
          <a:xfrm>
            <a:off x="160020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Targeting the vulnerable</a:t>
            </a:r>
            <a:endParaRPr lang="en-US" sz="1700" dirty="0"/>
          </a:p>
        </p:txBody>
      </p:sp>
      <p:sp>
        <p:nvSpPr>
          <p:cNvPr id="22" name="Text 16"/>
          <p:cNvSpPr txBox="1"/>
          <p:nvPr/>
        </p:nvSpPr>
        <p:spPr>
          <a:xfrm>
            <a:off x="822960" y="4846320"/>
            <a:ext cx="297180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Pension and disability data shows who is easiest to pressure.</a:t>
            </a:r>
            <a:endParaRPr lang="en-US" sz="1500" dirty="0"/>
          </a:p>
        </p:txBody>
      </p:sp>
      <p:sp>
        <p:nvSpPr>
          <p:cNvPr id="23" name="Identity fraud card"/>
          <p:cNvSpPr/>
          <p:nvPr/>
        </p:nvSpPr>
        <p:spPr>
          <a:xfrm>
            <a:off x="4343400" y="3794760"/>
            <a:ext cx="3474720" cy="2148840"/>
          </a:xfrm>
          <a:prstGeom prst="roundRect">
            <a:avLst>
              <a:gd name="adj" fmla="val 5106"/>
            </a:avLst>
          </a:prstGeom>
          <a:solidFill>
            <a:schemeClr val="bg2"/>
          </a:solidFill>
          <a:ln/>
        </p:spPr>
      </p:sp>
      <p:sp>
        <p:nvSpPr>
          <p:cNvPr id="24" name="Identity fraud circle"/>
          <p:cNvSpPr/>
          <p:nvPr/>
        </p:nvSpPr>
        <p:spPr>
          <a:xfrm>
            <a:off x="4617720" y="4069080"/>
            <a:ext cx="640080" cy="640080"/>
          </a:xfrm>
          <a:prstGeom prst="ellipse">
            <a:avLst/>
          </a:prstGeom>
          <a:solidFill>
            <a:schemeClr val="accent3"/>
          </a:solidFill>
          <a:ln/>
        </p:spPr>
      </p:sp>
      <p:pic>
        <p:nvPicPr>
          <p:cNvPr id="25" name="Identity fraud icon" descr="Identity fraud">    </p:cNvPr>
          <p:cNvPicPr>
            <a:picLocks noChangeAspect="1"/>
          </p:cNvPicPr>
          <p:nvPr/>
        </p:nvPicPr>
        <p:blipFill>
          <a:blip r:embed="rId5"/>
          <a:stretch>
            <a:fillRect/>
          </a:stretch>
        </p:blipFill>
        <p:spPr>
          <a:xfrm>
            <a:off x="4777740" y="4229100"/>
            <a:ext cx="320040" cy="320040"/>
          </a:xfrm>
          <a:prstGeom prst="rect">
            <a:avLst/>
          </a:prstGeom>
        </p:spPr>
      </p:pic>
      <p:sp>
        <p:nvSpPr>
          <p:cNvPr id="26" name="Text 19"/>
          <p:cNvSpPr txBox="1"/>
          <p:nvPr/>
        </p:nvSpPr>
        <p:spPr>
          <a:xfrm>
            <a:off x="539496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Identity fraud</a:t>
            </a:r>
            <a:endParaRPr lang="en-US" sz="1700" dirty="0"/>
          </a:p>
        </p:txBody>
      </p:sp>
      <p:sp>
        <p:nvSpPr>
          <p:cNvPr id="27" name="Text 20"/>
          <p:cNvSpPr txBox="1"/>
          <p:nvPr/>
        </p:nvSpPr>
        <p:spPr>
          <a:xfrm>
            <a:off x="4617720" y="4846320"/>
            <a:ext cx="297180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Name, IDNP, birth date and photo help impersonate you.</a:t>
            </a:r>
            <a:endParaRPr lang="en-US" sz="1500" dirty="0"/>
          </a:p>
        </p:txBody>
      </p:sp>
      <p:sp>
        <p:nvSpPr>
          <p:cNvPr id="28" name="Risk for years card"/>
          <p:cNvSpPr/>
          <p:nvPr/>
        </p:nvSpPr>
        <p:spPr>
          <a:xfrm>
            <a:off x="8138160" y="3794760"/>
            <a:ext cx="3474720" cy="2148840"/>
          </a:xfrm>
          <a:prstGeom prst="roundRect">
            <a:avLst>
              <a:gd name="adj" fmla="val 5106"/>
            </a:avLst>
          </a:prstGeom>
          <a:solidFill>
            <a:schemeClr val="bg2"/>
          </a:solidFill>
          <a:ln/>
        </p:spPr>
      </p:sp>
      <p:sp>
        <p:nvSpPr>
          <p:cNvPr id="29" name="Risk for years circle"/>
          <p:cNvSpPr/>
          <p:nvPr/>
        </p:nvSpPr>
        <p:spPr>
          <a:xfrm>
            <a:off x="8412480" y="4069080"/>
            <a:ext cx="640080" cy="640080"/>
          </a:xfrm>
          <a:prstGeom prst="ellipse">
            <a:avLst/>
          </a:prstGeom>
          <a:solidFill>
            <a:schemeClr val="accent3"/>
          </a:solidFill>
          <a:ln/>
        </p:spPr>
      </p:sp>
      <p:pic>
        <p:nvPicPr>
          <p:cNvPr id="30" name="Risk for years icon" descr="Risk for years">    </p:cNvPr>
          <p:cNvPicPr>
            <a:picLocks noChangeAspect="1"/>
          </p:cNvPicPr>
          <p:nvPr/>
        </p:nvPicPr>
        <p:blipFill>
          <a:blip r:embed="rId6"/>
          <a:stretch>
            <a:fillRect/>
          </a:stretch>
        </p:blipFill>
        <p:spPr>
          <a:xfrm>
            <a:off x="8572500" y="4229100"/>
            <a:ext cx="320040" cy="320040"/>
          </a:xfrm>
          <a:prstGeom prst="rect">
            <a:avLst/>
          </a:prstGeom>
        </p:spPr>
      </p:pic>
      <p:sp>
        <p:nvSpPr>
          <p:cNvPr id="31" name="Text 23"/>
          <p:cNvSpPr txBox="1"/>
          <p:nvPr/>
        </p:nvSpPr>
        <p:spPr>
          <a:xfrm>
            <a:off x="918972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Risk for years</a:t>
            </a:r>
            <a:endParaRPr lang="en-US" sz="1700" dirty="0"/>
          </a:p>
        </p:txBody>
      </p:sp>
      <p:sp>
        <p:nvSpPr>
          <p:cNvPr id="32" name="Text 24"/>
          <p:cNvSpPr txBox="1"/>
          <p:nvPr/>
        </p:nvSpPr>
        <p:spPr>
          <a:xfrm>
            <a:off x="8412480" y="4846320"/>
            <a:ext cx="2971800" cy="9601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You can change a password, but not your birth date, IDNP or family.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Anatomy of a scam built on leaked data</a:t>
            </a:r>
            <a:endParaRPr lang="en-US" sz="3600" dirty="0"/>
          </a:p>
        </p:txBody>
      </p:sp>
      <p:sp>
        <p:nvSpPr>
          <p:cNvPr id="3" name="Phone frame"/>
          <p:cNvSpPr/>
          <p:nvPr/>
        </p:nvSpPr>
        <p:spPr>
          <a:xfrm>
            <a:off x="548640" y="1371600"/>
            <a:ext cx="5120640" cy="4572000"/>
          </a:xfrm>
          <a:prstGeom prst="roundRect">
            <a:avLst>
              <a:gd name="adj" fmla="val 6000"/>
            </a:avLst>
          </a:prstGeom>
          <a:solidFill>
            <a:schemeClr val="tx2"/>
          </a:solidFill>
          <a:ln/>
        </p:spPr>
      </p:sp>
      <p:sp>
        <p:nvSpPr>
          <p:cNvPr id="4" name="Text 2"/>
          <p:cNvSpPr txBox="1"/>
          <p:nvPr/>
        </p:nvSpPr>
        <p:spPr>
          <a:xfrm>
            <a:off x="822960" y="1554480"/>
            <a:ext cx="4572000" cy="3200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SMS  ·  necunoscut</a:t>
            </a:r>
            <a:endParaRPr lang="en-US" sz="1200" dirty="0"/>
          </a:p>
        </p:txBody>
      </p:sp>
      <p:sp>
        <p:nvSpPr>
          <p:cNvPr id="5" name="Message bubble"/>
          <p:cNvSpPr/>
          <p:nvPr/>
        </p:nvSpPr>
        <p:spPr>
          <a:xfrm>
            <a:off x="822960" y="2011680"/>
            <a:ext cx="4572000" cy="3566160"/>
          </a:xfrm>
          <a:prstGeom prst="roundRect">
            <a:avLst>
              <a:gd name="adj" fmla="val 5128"/>
            </a:avLst>
          </a:prstGeom>
          <a:solidFill>
            <a:schemeClr val="bg2"/>
          </a:solidFill>
          <a:ln/>
        </p:spPr>
      </p:sp>
      <p:sp>
        <p:nvSpPr>
          <p:cNvPr id="6" name="Text 4"/>
          <p:cNvSpPr txBox="1"/>
          <p:nvPr/>
        </p:nvSpPr>
        <p:spPr>
          <a:xfrm>
            <a:off x="1051560" y="2194560"/>
            <a:ext cx="4114800" cy="320040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Stimată doamnă </a:t>
            </a:r>
            <a:pPr indent="0" marL="0">
              <a:buNone/>
            </a:pPr>
            <a:r>
              <a:rPr lang="en-US" sz="1700" b="1" dirty="0">
                <a:solidFill>
                  <a:schemeClr val="accent3"/>
                </a:solidFill>
                <a:latin typeface="Calibri" pitchFamily="34" charset="0"/>
                <a:ea typeface="Calibri" pitchFamily="34" charset="-122"/>
                <a:cs typeface="Calibri" pitchFamily="34" charset="-120"/>
              </a:rPr>
              <a:t>Maria Popescu</a:t>
            </a:r>
            <a:pPr indent="0" marL="0">
              <a:buNone/>
            </a:pPr>
            <a:r>
              <a:rPr lang="en-US" sz="1700" dirty="0">
                <a:solidFill>
                  <a:schemeClr val="tx1"/>
                </a:solidFill>
                <a:latin typeface="Calibri" pitchFamily="34" charset="0"/>
                <a:ea typeface="Calibri" pitchFamily="34" charset="-122"/>
                <a:cs typeface="Calibri" pitchFamily="34" charset="-120"/>
              </a:rPr>
              <a:t>, am observat o plată suspectă din contul </a:t>
            </a:r>
            <a:pPr indent="0" marL="0">
              <a:buNone/>
            </a:pPr>
            <a:r>
              <a:rPr lang="en-US" sz="1700" b="1" dirty="0">
                <a:solidFill>
                  <a:schemeClr val="accent3"/>
                </a:solidFill>
                <a:latin typeface="Calibri" pitchFamily="34" charset="0"/>
                <a:ea typeface="Calibri" pitchFamily="34" charset="-122"/>
                <a:cs typeface="Calibri" pitchFamily="34" charset="-120"/>
              </a:rPr>
              <a:t>MD24…7731</a:t>
            </a:r>
            <a:pPr indent="0" marL="0">
              <a:buNone/>
            </a:pPr>
            <a:r>
              <a:rPr lang="en-US" sz="1700" dirty="0">
                <a:solidFill>
                  <a:schemeClr val="tx1"/>
                </a:solidFill>
                <a:latin typeface="Calibri" pitchFamily="34" charset="0"/>
                <a:ea typeface="Calibri" pitchFamily="34" charset="-122"/>
                <a:cs typeface="Calibri" pitchFamily="34" charset="-120"/>
              </a:rPr>
              <a:t> după achitarea </a:t>
            </a:r>
            <a:pPr indent="0" marL="0">
              <a:buNone/>
            </a:pPr>
            <a:r>
              <a:rPr lang="en-US" sz="1700" b="1" dirty="0">
                <a:solidFill>
                  <a:schemeClr val="accent3"/>
                </a:solidFill>
                <a:latin typeface="Calibri" pitchFamily="34" charset="0"/>
                <a:ea typeface="Calibri" pitchFamily="34" charset="-122"/>
                <a:cs typeface="Calibri" pitchFamily="34" charset="-120"/>
              </a:rPr>
              <a:t>impozitului auto din 12.10</a:t>
            </a:r>
            <a:pPr indent="0" marL="0">
              <a:buNone/>
            </a:pPr>
            <a:r>
              <a:rPr lang="en-US" sz="1700" dirty="0">
                <a:solidFill>
                  <a:schemeClr val="tx1"/>
                </a:solidFill>
                <a:latin typeface="Calibri" pitchFamily="34" charset="0"/>
                <a:ea typeface="Calibri" pitchFamily="34" charset="-122"/>
                <a:cs typeface="Calibri" pitchFamily="34" charset="-120"/>
              </a:rPr>
              <a:t>. Pentru a bloca operațiunea </a:t>
            </a:r>
            <a:pPr indent="0" marL="0">
              <a:buNone/>
            </a:pPr>
            <a:r>
              <a:rPr lang="en-US" sz="1700" b="1" dirty="0">
                <a:solidFill>
                  <a:schemeClr val="accent1"/>
                </a:solidFill>
                <a:latin typeface="Calibri" pitchFamily="34" charset="0"/>
                <a:ea typeface="Calibri" pitchFamily="34" charset="-122"/>
                <a:cs typeface="Calibri" pitchFamily="34" charset="-120"/>
              </a:rPr>
              <a:t>în 15 minute</a:t>
            </a:r>
            <a:pPr indent="0" marL="0">
              <a:buNone/>
            </a:pPr>
            <a:r>
              <a:rPr lang="en-US" sz="1700" dirty="0">
                <a:solidFill>
                  <a:schemeClr val="tx1"/>
                </a:solidFill>
                <a:latin typeface="Calibri" pitchFamily="34" charset="0"/>
                <a:ea typeface="Calibri" pitchFamily="34" charset="-122"/>
                <a:cs typeface="Calibri" pitchFamily="34" charset="-120"/>
              </a:rPr>
              <a:t>, </a:t>
            </a:r>
            <a:pPr indent="0" marL="0">
              <a:buNone/>
            </a:pPr>
            <a:r>
              <a:rPr lang="en-US" sz="1700" b="1" dirty="0">
                <a:solidFill>
                  <a:schemeClr val="accent1"/>
                </a:solidFill>
                <a:latin typeface="Calibri" pitchFamily="34" charset="0"/>
                <a:ea typeface="Calibri" pitchFamily="34" charset="-122"/>
                <a:cs typeface="Calibri" pitchFamily="34" charset="-120"/>
              </a:rPr>
              <a:t>comunicați codul primit prin SMS</a:t>
            </a:r>
            <a:pPr indent="0" marL="0">
              <a:buNone/>
            </a:pPr>
            <a:r>
              <a:rPr lang="en-US" sz="1700" dirty="0">
                <a:solidFill>
                  <a:schemeClr val="tx1"/>
                </a:solidFill>
                <a:latin typeface="Calibri" pitchFamily="34" charset="0"/>
                <a:ea typeface="Calibri" pitchFamily="34" charset="-122"/>
                <a:cs typeface="Calibri" pitchFamily="34" charset="-120"/>
              </a:rPr>
              <a:t> operatorului care vă va suna.</a:t>
            </a:r>
            <a:endParaRPr lang="en-US" sz="1700" dirty="0"/>
          </a:p>
        </p:txBody>
      </p:sp>
      <p:sp>
        <p:nvSpPr>
          <p:cNvPr id="7" name="Real data from the leak flag"/>
          <p:cNvSpPr/>
          <p:nvPr/>
        </p:nvSpPr>
        <p:spPr>
          <a:xfrm>
            <a:off x="6035040" y="1371600"/>
            <a:ext cx="5577840" cy="1005840"/>
          </a:xfrm>
          <a:prstGeom prst="roundRect">
            <a:avLst>
              <a:gd name="adj" fmla="val 10909"/>
            </a:avLst>
          </a:prstGeom>
          <a:solidFill>
            <a:schemeClr val="bg2"/>
          </a:solidFill>
          <a:ln/>
        </p:spPr>
      </p:sp>
      <p:sp>
        <p:nvSpPr>
          <p:cNvPr id="8" name="Real data from the leak dot"/>
          <p:cNvSpPr/>
          <p:nvPr/>
        </p:nvSpPr>
        <p:spPr>
          <a:xfrm>
            <a:off x="6217920" y="1691640"/>
            <a:ext cx="365760" cy="365760"/>
          </a:xfrm>
          <a:prstGeom prst="ellipse">
            <a:avLst/>
          </a:prstGeom>
          <a:solidFill>
            <a:schemeClr val="accent3"/>
          </a:solidFill>
          <a:ln/>
        </p:spPr>
      </p:sp>
      <p:sp>
        <p:nvSpPr>
          <p:cNvPr id="9" name="Text 7"/>
          <p:cNvSpPr txBox="1"/>
          <p:nvPr/>
        </p:nvSpPr>
        <p:spPr>
          <a:xfrm>
            <a:off x="6766560" y="1463040"/>
            <a:ext cx="466344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Real data from the leak</a:t>
            </a:r>
            <a:endParaRPr lang="en-US" sz="1700" dirty="0"/>
          </a:p>
        </p:txBody>
      </p:sp>
      <p:sp>
        <p:nvSpPr>
          <p:cNvPr id="10" name="Text 8"/>
          <p:cNvSpPr txBox="1"/>
          <p:nvPr/>
        </p:nvSpPr>
        <p:spPr>
          <a:xfrm>
            <a:off x="6766560" y="1847088"/>
            <a:ext cx="466344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Name, IBAN, a real MPay payment: it feels legitimate.</a:t>
            </a:r>
            <a:endParaRPr lang="en-US" sz="1500" dirty="0"/>
          </a:p>
        </p:txBody>
      </p:sp>
      <p:sp>
        <p:nvSpPr>
          <p:cNvPr id="11" name="Urgency flag"/>
          <p:cNvSpPr/>
          <p:nvPr/>
        </p:nvSpPr>
        <p:spPr>
          <a:xfrm>
            <a:off x="6035040" y="2532888"/>
            <a:ext cx="5577840" cy="1005840"/>
          </a:xfrm>
          <a:prstGeom prst="roundRect">
            <a:avLst>
              <a:gd name="adj" fmla="val 10909"/>
            </a:avLst>
          </a:prstGeom>
          <a:solidFill>
            <a:schemeClr val="bg2"/>
          </a:solidFill>
          <a:ln/>
        </p:spPr>
      </p:sp>
      <p:sp>
        <p:nvSpPr>
          <p:cNvPr id="12" name="Urgency dot"/>
          <p:cNvSpPr/>
          <p:nvPr/>
        </p:nvSpPr>
        <p:spPr>
          <a:xfrm>
            <a:off x="6217920" y="2852928"/>
            <a:ext cx="365760" cy="365760"/>
          </a:xfrm>
          <a:prstGeom prst="ellipse">
            <a:avLst/>
          </a:prstGeom>
          <a:solidFill>
            <a:schemeClr val="accent1"/>
          </a:solidFill>
          <a:ln/>
        </p:spPr>
      </p:sp>
      <p:sp>
        <p:nvSpPr>
          <p:cNvPr id="13" name="Text 11"/>
          <p:cNvSpPr txBox="1"/>
          <p:nvPr/>
        </p:nvSpPr>
        <p:spPr>
          <a:xfrm>
            <a:off x="6766560" y="2624328"/>
            <a:ext cx="466344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Urgency</a:t>
            </a:r>
            <a:endParaRPr lang="en-US" sz="1700" dirty="0"/>
          </a:p>
        </p:txBody>
      </p:sp>
      <p:sp>
        <p:nvSpPr>
          <p:cNvPr id="14" name="Text 12"/>
          <p:cNvSpPr txBox="1"/>
          <p:nvPr/>
        </p:nvSpPr>
        <p:spPr>
          <a:xfrm>
            <a:off x="6766560" y="3008376"/>
            <a:ext cx="466344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“15 minutes” leaves no time to think or check.</a:t>
            </a:r>
            <a:endParaRPr lang="en-US" sz="1500" dirty="0"/>
          </a:p>
        </p:txBody>
      </p:sp>
      <p:sp>
        <p:nvSpPr>
          <p:cNvPr id="15" name="Asks for a code flag"/>
          <p:cNvSpPr/>
          <p:nvPr/>
        </p:nvSpPr>
        <p:spPr>
          <a:xfrm>
            <a:off x="6035040" y="3694176"/>
            <a:ext cx="5577840" cy="1005840"/>
          </a:xfrm>
          <a:prstGeom prst="roundRect">
            <a:avLst>
              <a:gd name="adj" fmla="val 10909"/>
            </a:avLst>
          </a:prstGeom>
          <a:solidFill>
            <a:schemeClr val="bg2"/>
          </a:solidFill>
          <a:ln/>
        </p:spPr>
      </p:sp>
      <p:sp>
        <p:nvSpPr>
          <p:cNvPr id="16" name="Asks for a code dot"/>
          <p:cNvSpPr/>
          <p:nvPr/>
        </p:nvSpPr>
        <p:spPr>
          <a:xfrm>
            <a:off x="6217920" y="4014216"/>
            <a:ext cx="365760" cy="365760"/>
          </a:xfrm>
          <a:prstGeom prst="ellipse">
            <a:avLst/>
          </a:prstGeom>
          <a:solidFill>
            <a:schemeClr val="accent1"/>
          </a:solidFill>
          <a:ln/>
        </p:spPr>
      </p:sp>
      <p:sp>
        <p:nvSpPr>
          <p:cNvPr id="17" name="Text 15"/>
          <p:cNvSpPr txBox="1"/>
          <p:nvPr/>
        </p:nvSpPr>
        <p:spPr>
          <a:xfrm>
            <a:off x="6766560" y="3785616"/>
            <a:ext cx="466344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Asks for a code</a:t>
            </a:r>
            <a:endParaRPr lang="en-US" sz="1700" dirty="0"/>
          </a:p>
        </p:txBody>
      </p:sp>
      <p:sp>
        <p:nvSpPr>
          <p:cNvPr id="18" name="Text 16"/>
          <p:cNvSpPr txBox="1"/>
          <p:nvPr/>
        </p:nvSpPr>
        <p:spPr>
          <a:xfrm>
            <a:off x="6766560" y="4169664"/>
            <a:ext cx="466344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No bank or institution ever asks for your SMS code.</a:t>
            </a:r>
            <a:endParaRPr lang="en-US" sz="1500" dirty="0"/>
          </a:p>
        </p:txBody>
      </p:sp>
      <p:sp>
        <p:nvSpPr>
          <p:cNvPr id="19" name="The right reaction flag"/>
          <p:cNvSpPr/>
          <p:nvPr/>
        </p:nvSpPr>
        <p:spPr>
          <a:xfrm>
            <a:off x="6035040" y="4855464"/>
            <a:ext cx="5577840" cy="1005840"/>
          </a:xfrm>
          <a:prstGeom prst="roundRect">
            <a:avLst>
              <a:gd name="adj" fmla="val 10909"/>
            </a:avLst>
          </a:prstGeom>
          <a:solidFill>
            <a:schemeClr val="bg2"/>
          </a:solidFill>
          <a:ln/>
        </p:spPr>
      </p:sp>
      <p:sp>
        <p:nvSpPr>
          <p:cNvPr id="20" name="The right reaction dot"/>
          <p:cNvSpPr/>
          <p:nvPr/>
        </p:nvSpPr>
        <p:spPr>
          <a:xfrm>
            <a:off x="6217920" y="5175504"/>
            <a:ext cx="365760" cy="365760"/>
          </a:xfrm>
          <a:prstGeom prst="ellipse">
            <a:avLst/>
          </a:prstGeom>
          <a:solidFill>
            <a:schemeClr val="accent2"/>
          </a:solidFill>
          <a:ln/>
        </p:spPr>
      </p:sp>
      <p:sp>
        <p:nvSpPr>
          <p:cNvPr id="21" name="Text 19"/>
          <p:cNvSpPr txBox="1"/>
          <p:nvPr/>
        </p:nvSpPr>
        <p:spPr>
          <a:xfrm>
            <a:off x="6766560" y="4946904"/>
            <a:ext cx="466344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The right reaction</a:t>
            </a:r>
            <a:endParaRPr lang="en-US" sz="1700" dirty="0"/>
          </a:p>
        </p:txBody>
      </p:sp>
      <p:sp>
        <p:nvSpPr>
          <p:cNvPr id="22" name="Text 20"/>
          <p:cNvSpPr txBox="1"/>
          <p:nvPr/>
        </p:nvSpPr>
        <p:spPr>
          <a:xfrm>
            <a:off x="6766560" y="5330952"/>
            <a:ext cx="466344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Hang up. Call the bank on the number printed on your card.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Not an isolated incident</a:t>
            </a:r>
            <a:endParaRPr lang="en-US" sz="3600" dirty="0"/>
          </a:p>
        </p:txBody>
      </p:sp>
      <p:sp>
        <p:nvSpPr>
          <p:cNvPr id="3" name="Context card 1"/>
          <p:cNvSpPr/>
          <p:nvPr/>
        </p:nvSpPr>
        <p:spPr>
          <a:xfrm>
            <a:off x="548640" y="1463040"/>
            <a:ext cx="3474720" cy="3291840"/>
          </a:xfrm>
          <a:prstGeom prst="roundRect">
            <a:avLst>
              <a:gd name="adj" fmla="val 3333"/>
            </a:avLst>
          </a:prstGeom>
          <a:solidFill>
            <a:schemeClr val="bg2"/>
          </a:solidFill>
          <a:ln/>
        </p:spPr>
      </p:sp>
      <p:sp>
        <p:nvSpPr>
          <p:cNvPr id="4" name="Text 2"/>
          <p:cNvSpPr txBox="1"/>
          <p:nvPr/>
        </p:nvSpPr>
        <p:spPr>
          <a:xfrm>
            <a:off x="822960" y="1691640"/>
            <a:ext cx="2926080" cy="100584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2nd</a:t>
            </a:r>
            <a:endParaRPr lang="en-US" sz="4800" dirty="0"/>
          </a:p>
        </p:txBody>
      </p:sp>
      <p:sp>
        <p:nvSpPr>
          <p:cNvPr id="5" name="Text 3"/>
          <p:cNvSpPr txBox="1"/>
          <p:nvPr/>
        </p:nvSpPr>
        <p:spPr>
          <a:xfrm>
            <a:off x="822960" y="2788920"/>
            <a:ext cx="2926080" cy="14630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major breach of Moldovan state systems in 2026. The healthcare database was breached in April</a:t>
            </a:r>
            <a:endParaRPr lang="en-US" sz="1500" dirty="0"/>
          </a:p>
        </p:txBody>
      </p:sp>
      <p:sp>
        <p:nvSpPr>
          <p:cNvPr id="6" name="Text 4"/>
          <p:cNvSpPr txBox="1"/>
          <p:nvPr/>
        </p:nvSpPr>
        <p:spPr>
          <a:xfrm>
            <a:off x="822960" y="4297680"/>
            <a:ext cx="2926080" cy="32004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Risky Bulletin</a:t>
            </a:r>
            <a:endParaRPr lang="en-US" sz="1100" dirty="0"/>
          </a:p>
        </p:txBody>
      </p:sp>
      <p:sp>
        <p:nvSpPr>
          <p:cNvPr id="7" name="Context card 2"/>
          <p:cNvSpPr/>
          <p:nvPr/>
        </p:nvSpPr>
        <p:spPr>
          <a:xfrm>
            <a:off x="4343400" y="1463040"/>
            <a:ext cx="3474720" cy="3291840"/>
          </a:xfrm>
          <a:prstGeom prst="roundRect">
            <a:avLst>
              <a:gd name="adj" fmla="val 3333"/>
            </a:avLst>
          </a:prstGeom>
          <a:solidFill>
            <a:schemeClr val="bg2"/>
          </a:solidFill>
          <a:ln/>
        </p:spPr>
      </p:sp>
      <p:sp>
        <p:nvSpPr>
          <p:cNvPr id="8" name="Text 6"/>
          <p:cNvSpPr txBox="1"/>
          <p:nvPr/>
        </p:nvSpPr>
        <p:spPr>
          <a:xfrm>
            <a:off x="4617720" y="1691640"/>
            <a:ext cx="2926080" cy="10058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2,600</a:t>
            </a:r>
            <a:endParaRPr lang="en-US" sz="4800" dirty="0"/>
          </a:p>
        </p:txBody>
      </p:sp>
      <p:sp>
        <p:nvSpPr>
          <p:cNvPr id="9" name="Text 7"/>
          <p:cNvSpPr txBox="1"/>
          <p:nvPr/>
        </p:nvSpPr>
        <p:spPr>
          <a:xfrm>
            <a:off x="4617720" y="2788920"/>
            <a:ext cx="2926080" cy="14630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of 8,200 cyber incidents analyzed in the EU hit public administration, the most targeted sector</a:t>
            </a:r>
            <a:endParaRPr lang="en-US" sz="1500" dirty="0"/>
          </a:p>
        </p:txBody>
      </p:sp>
      <p:sp>
        <p:nvSpPr>
          <p:cNvPr id="10" name="Text 8"/>
          <p:cNvSpPr txBox="1"/>
          <p:nvPr/>
        </p:nvSpPr>
        <p:spPr>
          <a:xfrm>
            <a:off x="4617720" y="4297680"/>
            <a:ext cx="2926080" cy="32004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ENISA, September 2026</a:t>
            </a:r>
            <a:endParaRPr lang="en-US" sz="1100" dirty="0"/>
          </a:p>
        </p:txBody>
      </p:sp>
      <p:sp>
        <p:nvSpPr>
          <p:cNvPr id="11" name="Context card 3"/>
          <p:cNvSpPr/>
          <p:nvPr/>
        </p:nvSpPr>
        <p:spPr>
          <a:xfrm>
            <a:off x="8138160" y="1463040"/>
            <a:ext cx="3474720" cy="3291840"/>
          </a:xfrm>
          <a:prstGeom prst="roundRect">
            <a:avLst>
              <a:gd name="adj" fmla="val 3333"/>
            </a:avLst>
          </a:prstGeom>
          <a:solidFill>
            <a:schemeClr val="bg2"/>
          </a:solidFill>
          <a:ln/>
        </p:spPr>
      </p:sp>
      <p:sp>
        <p:nvSpPr>
          <p:cNvPr id="12" name="Text 10"/>
          <p:cNvSpPr txBox="1"/>
          <p:nvPr/>
        </p:nvSpPr>
        <p:spPr>
          <a:xfrm>
            <a:off x="8412480" y="1691640"/>
            <a:ext cx="2926080" cy="100584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Hybrid</a:t>
            </a:r>
            <a:endParaRPr lang="en-US" sz="4800" dirty="0"/>
          </a:p>
        </p:txBody>
      </p:sp>
      <p:sp>
        <p:nvSpPr>
          <p:cNvPr id="13" name="Text 11"/>
          <p:cNvSpPr txBox="1"/>
          <p:nvPr/>
        </p:nvSpPr>
        <p:spPr>
          <a:xfrm>
            <a:off x="8412480" y="2788920"/>
            <a:ext cx="2926080" cy="14630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authorities see the attack as possibly part of a wider hybrid campaign against Moldova</a:t>
            </a:r>
            <a:endParaRPr lang="en-US" sz="1500" dirty="0"/>
          </a:p>
        </p:txBody>
      </p:sp>
      <p:sp>
        <p:nvSpPr>
          <p:cNvPr id="14" name="Text 12"/>
          <p:cNvSpPr txBox="1"/>
          <p:nvPr/>
        </p:nvSpPr>
        <p:spPr>
          <a:xfrm>
            <a:off x="8412480" y="4297680"/>
            <a:ext cx="2926080" cy="32004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Government of Moldova</a:t>
            </a:r>
            <a:endParaRPr lang="en-US" sz="1100" dirty="0"/>
          </a:p>
        </p:txBody>
      </p:sp>
      <p:sp>
        <p:nvSpPr>
          <p:cNvPr id="15" name="Text 13"/>
          <p:cNvSpPr txBox="1"/>
          <p:nvPr/>
        </p:nvSpPr>
        <p:spPr>
          <a:xfrm>
            <a:off x="548640" y="5120640"/>
            <a:ext cx="11064240" cy="8229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Why governments? </a:t>
            </a:r>
            <a:pPr indent="0" marL="0">
              <a:buNone/>
            </a:pPr>
            <a:r>
              <a:rPr lang="en-US" sz="1700" dirty="0">
                <a:solidFill>
                  <a:schemeClr val="tx1"/>
                </a:solidFill>
                <a:latin typeface="Calibri" pitchFamily="34" charset="0"/>
                <a:ea typeface="Calibri" pitchFamily="34" charset="-122"/>
                <a:cs typeface="Calibri" pitchFamily="34" charset="-120"/>
              </a:rPr>
              <a:t>They hold complete, verified data about everyone, connect many old and new systems, and are a political target.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2148840"/>
            <a:ext cx="2468880" cy="201168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04</a:t>
            </a:r>
            <a:endParaRPr lang="en-US" sz="13000" dirty="0"/>
          </a:p>
        </p:txBody>
      </p:sp>
      <p:sp>
        <p:nvSpPr>
          <p:cNvPr id="3" name="Text 1"/>
          <p:cNvSpPr txBox="1"/>
          <p:nvPr/>
        </p:nvSpPr>
        <p:spPr>
          <a:xfrm>
            <a:off x="3474720" y="2240280"/>
            <a:ext cx="5943600" cy="365760"/>
          </a:xfrm>
          <a:prstGeom prst="rect">
            <a:avLst/>
          </a:prstGeom>
          <a:noFill/>
          <a:ln/>
        </p:spPr>
        <p:txBody>
          <a:bodyPr wrap="square" lIns="0" tIns="0" rIns="0" bIns="0" rtlCol="0" anchor="t"/>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PART 04 OF 05</a:t>
            </a:r>
            <a:endParaRPr lang="en-US" sz="1400" dirty="0"/>
          </a:p>
        </p:txBody>
      </p:sp>
      <p:sp>
        <p:nvSpPr>
          <p:cNvPr id="4" name="Text 0"/>
          <p:cNvSpPr/>
          <p:nvPr>
            <p:ph idx="100" type="title" hasCustomPrompt="1"/>
          </p:nvPr>
        </p:nvSpPr>
        <p:spPr>
          <a:xfrm>
            <a:off x="3474720" y="2651760"/>
            <a:ext cx="5943600"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How to prevent it</a:t>
            </a:r>
            <a:endParaRPr lang="en-US" sz="4400" dirty="0"/>
          </a:p>
        </p:txBody>
      </p:sp>
      <p:sp>
        <p:nvSpPr>
          <p:cNvPr id="5" name="Text 0"/>
          <p:cNvSpPr/>
          <p:nvPr>
            <p:ph idx="101" type="body" hasCustomPrompt="1"/>
          </p:nvPr>
        </p:nvSpPr>
        <p:spPr>
          <a:xfrm>
            <a:off x="3474720" y="3611880"/>
            <a:ext cx="5943600" cy="731520"/>
          </a:xfrm>
          <a:prstGeom prst="rect">
            <a:avLst/>
          </a:prstGeom>
          <a:noFill/>
          <a:ln/>
        </p:spPr>
        <p:txBody>
          <a:bodyPr wrap="square" lIns="0" tIns="0" rIns="0" bIns="0" rtlCol="0" anchor="t"/>
          <a:lstStyle/>
          <a:p>
            <a:pPr algn="l" indent="0" marL="0">
              <a:buNone/>
            </a:pPr>
            <a:r>
              <a:rPr lang="en-US" sz="2000" dirty="0">
                <a:solidFill>
                  <a:schemeClr val="accent1"/>
                </a:solidFill>
                <a:latin typeface="Calibri" pitchFamily="34" charset="0"/>
                <a:ea typeface="Calibri" pitchFamily="34" charset="-122"/>
                <a:cs typeface="Calibri" pitchFamily="34" charset="-120"/>
              </a:rPr>
              <a:t>Citizens, developers and organizations</a:t>
            </a:r>
            <a:endParaRPr lang="en-US" sz="2000" dirty="0"/>
          </a:p>
        </p:txBody>
      </p:sp>
      <p:sp>
        <p:nvSpPr>
          <p:cNvPr id="6" name="Shield circle"/>
          <p:cNvSpPr/>
          <p:nvPr/>
        </p:nvSpPr>
        <p:spPr>
          <a:xfrm>
            <a:off x="9784080" y="2423160"/>
            <a:ext cx="1645920" cy="1645920"/>
          </a:xfrm>
          <a:prstGeom prst="ellipse">
            <a:avLst/>
          </a:prstGeom>
          <a:solidFill>
            <a:schemeClr val="accent4"/>
          </a:solidFill>
          <a:ln/>
        </p:spPr>
      </p:sp>
      <p:pic>
        <p:nvPicPr>
          <p:cNvPr id="7" name="Shield icon" descr="Shield">    </p:cNvPr>
          <p:cNvPicPr>
            <a:picLocks noChangeAspect="1"/>
          </p:cNvPicPr>
          <p:nvPr/>
        </p:nvPicPr>
        <p:blipFill>
          <a:blip r:embed="rId1"/>
          <a:stretch>
            <a:fillRect/>
          </a:stretch>
        </p:blipFill>
        <p:spPr>
          <a:xfrm>
            <a:off x="10195560" y="2834640"/>
            <a:ext cx="822960" cy="822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you can do as a citizen, today</a:t>
            </a:r>
            <a:endParaRPr lang="en-US" sz="3600" dirty="0"/>
          </a:p>
        </p:txBody>
      </p:sp>
      <p:sp>
        <p:nvSpPr>
          <p:cNvPr id="3" name="Check your data access history card"/>
          <p:cNvSpPr/>
          <p:nvPr/>
        </p:nvSpPr>
        <p:spPr>
          <a:xfrm>
            <a:off x="548640" y="1417320"/>
            <a:ext cx="5394960" cy="1371600"/>
          </a:xfrm>
          <a:prstGeom prst="roundRect">
            <a:avLst>
              <a:gd name="adj" fmla="val 8000"/>
            </a:avLst>
          </a:prstGeom>
          <a:solidFill>
            <a:schemeClr val="bg2"/>
          </a:solidFill>
          <a:ln/>
        </p:spPr>
      </p:sp>
      <p:sp>
        <p:nvSpPr>
          <p:cNvPr id="4" name="Check your data access history circle"/>
          <p:cNvSpPr/>
          <p:nvPr/>
        </p:nvSpPr>
        <p:spPr>
          <a:xfrm>
            <a:off x="777240" y="1691640"/>
            <a:ext cx="777240" cy="777240"/>
          </a:xfrm>
          <a:prstGeom prst="ellipse">
            <a:avLst/>
          </a:prstGeom>
          <a:solidFill>
            <a:schemeClr val="accent2"/>
          </a:solidFill>
          <a:ln/>
        </p:spPr>
      </p:sp>
      <p:pic>
        <p:nvPicPr>
          <p:cNvPr id="5" name="Check your data access history icon" descr="Check your data access history">    </p:cNvPr>
          <p:cNvPicPr>
            <a:picLocks noChangeAspect="1"/>
          </p:cNvPicPr>
          <p:nvPr/>
        </p:nvPicPr>
        <p:blipFill>
          <a:blip r:embed="rId1"/>
          <a:stretch>
            <a:fillRect/>
          </a:stretch>
        </p:blipFill>
        <p:spPr>
          <a:xfrm>
            <a:off x="971550" y="1885950"/>
            <a:ext cx="388620" cy="388620"/>
          </a:xfrm>
          <a:prstGeom prst="rect">
            <a:avLst/>
          </a:prstGeom>
        </p:spPr>
      </p:pic>
      <p:sp>
        <p:nvSpPr>
          <p:cNvPr id="6" name="Text 3"/>
          <p:cNvSpPr txBox="1"/>
          <p:nvPr/>
        </p:nvSpPr>
        <p:spPr>
          <a:xfrm>
            <a:off x="1737360" y="1600200"/>
            <a:ext cx="4023360" cy="45720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Check your data access history</a:t>
            </a:r>
            <a:endParaRPr lang="en-US" sz="1700" dirty="0"/>
          </a:p>
        </p:txBody>
      </p:sp>
      <p:sp>
        <p:nvSpPr>
          <p:cNvPr id="7" name="Text 4"/>
          <p:cNvSpPr txBox="1"/>
          <p:nvPr/>
        </p:nvSpPr>
        <p:spPr>
          <a:xfrm>
            <a:off x="1737360" y="2075688"/>
            <a:ext cx="402336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EVO app → Contul tău → Istoricul accesării datelor</a:t>
            </a:r>
            <a:endParaRPr lang="en-US" sz="1400" dirty="0"/>
          </a:p>
        </p:txBody>
      </p:sp>
      <p:sp>
        <p:nvSpPr>
          <p:cNvPr id="8" name="Never share passwords or SMS codes card"/>
          <p:cNvSpPr/>
          <p:nvPr/>
        </p:nvSpPr>
        <p:spPr>
          <a:xfrm>
            <a:off x="6217920" y="1417320"/>
            <a:ext cx="5394960" cy="1371600"/>
          </a:xfrm>
          <a:prstGeom prst="roundRect">
            <a:avLst>
              <a:gd name="adj" fmla="val 8000"/>
            </a:avLst>
          </a:prstGeom>
          <a:solidFill>
            <a:schemeClr val="bg2"/>
          </a:solidFill>
          <a:ln/>
        </p:spPr>
      </p:sp>
      <p:sp>
        <p:nvSpPr>
          <p:cNvPr id="9" name="Never share passwords or SMS codes circle"/>
          <p:cNvSpPr/>
          <p:nvPr/>
        </p:nvSpPr>
        <p:spPr>
          <a:xfrm>
            <a:off x="6446520" y="1691640"/>
            <a:ext cx="777240" cy="777240"/>
          </a:xfrm>
          <a:prstGeom prst="ellipse">
            <a:avLst/>
          </a:prstGeom>
          <a:solidFill>
            <a:schemeClr val="accent2"/>
          </a:solidFill>
          <a:ln/>
        </p:spPr>
      </p:sp>
      <p:pic>
        <p:nvPicPr>
          <p:cNvPr id="10" name="Never share passwords or SMS codes icon" descr="Never share passwords or SMS codes">    </p:cNvPr>
          <p:cNvPicPr>
            <a:picLocks noChangeAspect="1"/>
          </p:cNvPicPr>
          <p:nvPr/>
        </p:nvPicPr>
        <p:blipFill>
          <a:blip r:embed="rId2"/>
          <a:stretch>
            <a:fillRect/>
          </a:stretch>
        </p:blipFill>
        <p:spPr>
          <a:xfrm>
            <a:off x="6640830" y="1885950"/>
            <a:ext cx="388620" cy="388620"/>
          </a:xfrm>
          <a:prstGeom prst="rect">
            <a:avLst/>
          </a:prstGeom>
        </p:spPr>
      </p:pic>
      <p:sp>
        <p:nvSpPr>
          <p:cNvPr id="11" name="Text 7"/>
          <p:cNvSpPr txBox="1"/>
          <p:nvPr/>
        </p:nvSpPr>
        <p:spPr>
          <a:xfrm>
            <a:off x="7406640" y="1600200"/>
            <a:ext cx="4023360" cy="45720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Never share passwords or SMS codes</a:t>
            </a:r>
            <a:endParaRPr lang="en-US" sz="1700" dirty="0"/>
          </a:p>
        </p:txBody>
      </p:sp>
      <p:sp>
        <p:nvSpPr>
          <p:cNvPr id="12" name="Text 8"/>
          <p:cNvSpPr txBox="1"/>
          <p:nvPr/>
        </p:nvSpPr>
        <p:spPr>
          <a:xfrm>
            <a:off x="7406640" y="2075688"/>
            <a:ext cx="402336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 bank, police officer or ministry will ever ask for them</a:t>
            </a:r>
            <a:endParaRPr lang="en-US" sz="1400" dirty="0"/>
          </a:p>
        </p:txBody>
      </p:sp>
      <p:sp>
        <p:nvSpPr>
          <p:cNvPr id="13" name="Hang up and call back card"/>
          <p:cNvSpPr/>
          <p:nvPr/>
        </p:nvSpPr>
        <p:spPr>
          <a:xfrm>
            <a:off x="548640" y="2971800"/>
            <a:ext cx="5394960" cy="1371600"/>
          </a:xfrm>
          <a:prstGeom prst="roundRect">
            <a:avLst>
              <a:gd name="adj" fmla="val 8000"/>
            </a:avLst>
          </a:prstGeom>
          <a:solidFill>
            <a:schemeClr val="bg2"/>
          </a:solidFill>
          <a:ln/>
        </p:spPr>
      </p:sp>
      <p:sp>
        <p:nvSpPr>
          <p:cNvPr id="14" name="Hang up and call back circle"/>
          <p:cNvSpPr/>
          <p:nvPr/>
        </p:nvSpPr>
        <p:spPr>
          <a:xfrm>
            <a:off x="777240" y="3246120"/>
            <a:ext cx="777240" cy="777240"/>
          </a:xfrm>
          <a:prstGeom prst="ellipse">
            <a:avLst/>
          </a:prstGeom>
          <a:solidFill>
            <a:schemeClr val="accent2"/>
          </a:solidFill>
          <a:ln/>
        </p:spPr>
      </p:sp>
      <p:pic>
        <p:nvPicPr>
          <p:cNvPr id="15" name="Hang up and call back icon" descr="Hang up and call back">    </p:cNvPr>
          <p:cNvPicPr>
            <a:picLocks noChangeAspect="1"/>
          </p:cNvPicPr>
          <p:nvPr/>
        </p:nvPicPr>
        <p:blipFill>
          <a:blip r:embed="rId3"/>
          <a:stretch>
            <a:fillRect/>
          </a:stretch>
        </p:blipFill>
        <p:spPr>
          <a:xfrm>
            <a:off x="971550" y="3440430"/>
            <a:ext cx="388620" cy="388620"/>
          </a:xfrm>
          <a:prstGeom prst="rect">
            <a:avLst/>
          </a:prstGeom>
        </p:spPr>
      </p:pic>
      <p:sp>
        <p:nvSpPr>
          <p:cNvPr id="16" name="Text 11"/>
          <p:cNvSpPr txBox="1"/>
          <p:nvPr/>
        </p:nvSpPr>
        <p:spPr>
          <a:xfrm>
            <a:off x="1737360" y="3154680"/>
            <a:ext cx="4023360" cy="45720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Hang up and call back</a:t>
            </a:r>
            <a:endParaRPr lang="en-US" sz="1700" dirty="0"/>
          </a:p>
        </p:txBody>
      </p:sp>
      <p:sp>
        <p:nvSpPr>
          <p:cNvPr id="17" name="Text 12"/>
          <p:cNvSpPr txBox="1"/>
          <p:nvPr/>
        </p:nvSpPr>
        <p:spPr>
          <a:xfrm>
            <a:off x="1737360" y="3630168"/>
            <a:ext cx="402336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the official number from the card or website, not the one from the message</a:t>
            </a:r>
            <a:endParaRPr lang="en-US" sz="1400" dirty="0"/>
          </a:p>
        </p:txBody>
      </p:sp>
      <p:sp>
        <p:nvSpPr>
          <p:cNvPr id="18" name="Agree on a family code word card"/>
          <p:cNvSpPr/>
          <p:nvPr/>
        </p:nvSpPr>
        <p:spPr>
          <a:xfrm>
            <a:off x="6217920" y="2971800"/>
            <a:ext cx="5394960" cy="1371600"/>
          </a:xfrm>
          <a:prstGeom prst="roundRect">
            <a:avLst>
              <a:gd name="adj" fmla="val 8000"/>
            </a:avLst>
          </a:prstGeom>
          <a:solidFill>
            <a:schemeClr val="bg2"/>
          </a:solidFill>
          <a:ln/>
        </p:spPr>
      </p:sp>
      <p:sp>
        <p:nvSpPr>
          <p:cNvPr id="19" name="Agree on a family code word circle"/>
          <p:cNvSpPr/>
          <p:nvPr/>
        </p:nvSpPr>
        <p:spPr>
          <a:xfrm>
            <a:off x="6446520" y="3246120"/>
            <a:ext cx="777240" cy="777240"/>
          </a:xfrm>
          <a:prstGeom prst="ellipse">
            <a:avLst/>
          </a:prstGeom>
          <a:solidFill>
            <a:schemeClr val="accent2"/>
          </a:solidFill>
          <a:ln/>
        </p:spPr>
      </p:sp>
      <p:pic>
        <p:nvPicPr>
          <p:cNvPr id="20" name="Agree on a family code word icon" descr="Agree on a family code word">    </p:cNvPr>
          <p:cNvPicPr>
            <a:picLocks noChangeAspect="1"/>
          </p:cNvPicPr>
          <p:nvPr/>
        </p:nvPicPr>
        <p:blipFill>
          <a:blip r:embed="rId4"/>
          <a:stretch>
            <a:fillRect/>
          </a:stretch>
        </p:blipFill>
        <p:spPr>
          <a:xfrm>
            <a:off x="6640830" y="3440430"/>
            <a:ext cx="388620" cy="388620"/>
          </a:xfrm>
          <a:prstGeom prst="rect">
            <a:avLst/>
          </a:prstGeom>
        </p:spPr>
      </p:pic>
      <p:sp>
        <p:nvSpPr>
          <p:cNvPr id="21" name="Text 15"/>
          <p:cNvSpPr txBox="1"/>
          <p:nvPr/>
        </p:nvSpPr>
        <p:spPr>
          <a:xfrm>
            <a:off x="7406640" y="3154680"/>
            <a:ext cx="4023360" cy="45720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Agree on a family code word</a:t>
            </a:r>
            <a:endParaRPr lang="en-US" sz="1700" dirty="0"/>
          </a:p>
        </p:txBody>
      </p:sp>
      <p:sp>
        <p:nvSpPr>
          <p:cNvPr id="22" name="Text 16"/>
          <p:cNvSpPr txBox="1"/>
          <p:nvPr/>
        </p:nvSpPr>
        <p:spPr>
          <a:xfrm>
            <a:off x="7406640" y="3630168"/>
            <a:ext cx="402336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Ask for it when someone “from the family” urgently needs money</a:t>
            </a:r>
            <a:endParaRPr lang="en-US" sz="1400" dirty="0"/>
          </a:p>
        </p:txBody>
      </p:sp>
      <p:sp>
        <p:nvSpPr>
          <p:cNvPr id="23" name="Turn on bank notifications card"/>
          <p:cNvSpPr/>
          <p:nvPr/>
        </p:nvSpPr>
        <p:spPr>
          <a:xfrm>
            <a:off x="548640" y="4526280"/>
            <a:ext cx="5394960" cy="1371600"/>
          </a:xfrm>
          <a:prstGeom prst="roundRect">
            <a:avLst>
              <a:gd name="adj" fmla="val 8000"/>
            </a:avLst>
          </a:prstGeom>
          <a:solidFill>
            <a:schemeClr val="bg2"/>
          </a:solidFill>
          <a:ln/>
        </p:spPr>
      </p:sp>
      <p:sp>
        <p:nvSpPr>
          <p:cNvPr id="24" name="Turn on bank notifications circle"/>
          <p:cNvSpPr/>
          <p:nvPr/>
        </p:nvSpPr>
        <p:spPr>
          <a:xfrm>
            <a:off x="777240" y="4800600"/>
            <a:ext cx="777240" cy="777240"/>
          </a:xfrm>
          <a:prstGeom prst="ellipse">
            <a:avLst/>
          </a:prstGeom>
          <a:solidFill>
            <a:schemeClr val="accent2"/>
          </a:solidFill>
          <a:ln/>
        </p:spPr>
      </p:sp>
      <p:pic>
        <p:nvPicPr>
          <p:cNvPr id="25" name="Turn on bank notifications icon" descr="Turn on bank notifications">    </p:cNvPr>
          <p:cNvPicPr>
            <a:picLocks noChangeAspect="1"/>
          </p:cNvPicPr>
          <p:nvPr/>
        </p:nvPicPr>
        <p:blipFill>
          <a:blip r:embed="rId5"/>
          <a:stretch>
            <a:fillRect/>
          </a:stretch>
        </p:blipFill>
        <p:spPr>
          <a:xfrm>
            <a:off x="971550" y="4994910"/>
            <a:ext cx="388620" cy="388620"/>
          </a:xfrm>
          <a:prstGeom prst="rect">
            <a:avLst/>
          </a:prstGeom>
        </p:spPr>
      </p:pic>
      <p:sp>
        <p:nvSpPr>
          <p:cNvPr id="26" name="Text 19"/>
          <p:cNvSpPr txBox="1"/>
          <p:nvPr/>
        </p:nvSpPr>
        <p:spPr>
          <a:xfrm>
            <a:off x="1737360" y="4709160"/>
            <a:ext cx="4023360" cy="45720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Turn on bank notifications</a:t>
            </a:r>
            <a:endParaRPr lang="en-US" sz="1700" dirty="0"/>
          </a:p>
        </p:txBody>
      </p:sp>
      <p:sp>
        <p:nvSpPr>
          <p:cNvPr id="27" name="Text 20"/>
          <p:cNvSpPr txBox="1"/>
          <p:nvPr/>
        </p:nvSpPr>
        <p:spPr>
          <a:xfrm>
            <a:off x="1737360" y="5184648"/>
            <a:ext cx="402336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Report any transaction you do not recognize immediately</a:t>
            </a:r>
            <a:endParaRPr lang="en-US" sz="1400" dirty="0"/>
          </a:p>
        </p:txBody>
      </p:sp>
      <p:sp>
        <p:nvSpPr>
          <p:cNvPr id="28" name="Do not open unsolicited links card"/>
          <p:cNvSpPr/>
          <p:nvPr/>
        </p:nvSpPr>
        <p:spPr>
          <a:xfrm>
            <a:off x="6217920" y="4526280"/>
            <a:ext cx="5394960" cy="1371600"/>
          </a:xfrm>
          <a:prstGeom prst="roundRect">
            <a:avLst>
              <a:gd name="adj" fmla="val 8000"/>
            </a:avLst>
          </a:prstGeom>
          <a:solidFill>
            <a:schemeClr val="bg2"/>
          </a:solidFill>
          <a:ln/>
        </p:spPr>
      </p:sp>
      <p:sp>
        <p:nvSpPr>
          <p:cNvPr id="29" name="Do not open unsolicited links circle"/>
          <p:cNvSpPr/>
          <p:nvPr/>
        </p:nvSpPr>
        <p:spPr>
          <a:xfrm>
            <a:off x="6446520" y="4800600"/>
            <a:ext cx="777240" cy="777240"/>
          </a:xfrm>
          <a:prstGeom prst="ellipse">
            <a:avLst/>
          </a:prstGeom>
          <a:solidFill>
            <a:schemeClr val="accent2"/>
          </a:solidFill>
          <a:ln/>
        </p:spPr>
      </p:sp>
      <p:pic>
        <p:nvPicPr>
          <p:cNvPr id="30" name="Do not open unsolicited links icon" descr="Do not open unsolicited links">    </p:cNvPr>
          <p:cNvPicPr>
            <a:picLocks noChangeAspect="1"/>
          </p:cNvPicPr>
          <p:nvPr/>
        </p:nvPicPr>
        <p:blipFill>
          <a:blip r:embed="rId6"/>
          <a:stretch>
            <a:fillRect/>
          </a:stretch>
        </p:blipFill>
        <p:spPr>
          <a:xfrm>
            <a:off x="6640830" y="4994910"/>
            <a:ext cx="388620" cy="388620"/>
          </a:xfrm>
          <a:prstGeom prst="rect">
            <a:avLst/>
          </a:prstGeom>
        </p:spPr>
      </p:pic>
      <p:sp>
        <p:nvSpPr>
          <p:cNvPr id="31" name="Text 23"/>
          <p:cNvSpPr txBox="1"/>
          <p:nvPr/>
        </p:nvSpPr>
        <p:spPr>
          <a:xfrm>
            <a:off x="7406640" y="4709160"/>
            <a:ext cx="4023360" cy="45720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Do not open unsolicited links</a:t>
            </a:r>
            <a:endParaRPr lang="en-US" sz="1700" dirty="0"/>
          </a:p>
        </p:txBody>
      </p:sp>
      <p:sp>
        <p:nvSpPr>
          <p:cNvPr id="32" name="Text 24"/>
          <p:cNvSpPr txBox="1"/>
          <p:nvPr/>
        </p:nvSpPr>
        <p:spPr>
          <a:xfrm>
            <a:off x="7406640" y="5184648"/>
            <a:ext cx="402336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And never approve payments requested by strangers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developers and organizations must do</a:t>
            </a:r>
            <a:endParaRPr lang="en-US" sz="3600" dirty="0"/>
          </a:p>
        </p:txBody>
      </p:sp>
      <p:sp>
        <p:nvSpPr>
          <p:cNvPr id="3" name="Prevent card"/>
          <p:cNvSpPr/>
          <p:nvPr/>
        </p:nvSpPr>
        <p:spPr>
          <a:xfrm>
            <a:off x="548640" y="1417320"/>
            <a:ext cx="5394960" cy="3931920"/>
          </a:xfrm>
          <a:prstGeom prst="roundRect">
            <a:avLst>
              <a:gd name="adj" fmla="val 2791"/>
            </a:avLst>
          </a:prstGeom>
          <a:solidFill>
            <a:schemeClr val="bg2"/>
          </a:solidFill>
          <a:ln/>
        </p:spPr>
      </p:sp>
      <p:sp>
        <p:nvSpPr>
          <p:cNvPr id="4" name="Prevent circle"/>
          <p:cNvSpPr/>
          <p:nvPr/>
        </p:nvSpPr>
        <p:spPr>
          <a:xfrm>
            <a:off x="822960" y="1645920"/>
            <a:ext cx="685800" cy="685800"/>
          </a:xfrm>
          <a:prstGeom prst="ellipse">
            <a:avLst/>
          </a:prstGeom>
          <a:solidFill>
            <a:schemeClr val="accent4"/>
          </a:solidFill>
          <a:ln/>
        </p:spPr>
      </p:sp>
      <p:pic>
        <p:nvPicPr>
          <p:cNvPr id="5" name="Prevent icon" descr="Prevent">    </p:cNvPr>
          <p:cNvPicPr>
            <a:picLocks noChangeAspect="1"/>
          </p:cNvPicPr>
          <p:nvPr/>
        </p:nvPicPr>
        <p:blipFill>
          <a:blip r:embed="rId1"/>
          <a:stretch>
            <a:fillRect/>
          </a:stretch>
        </p:blipFill>
        <p:spPr>
          <a:xfrm>
            <a:off x="994410" y="1817370"/>
            <a:ext cx="342900" cy="342900"/>
          </a:xfrm>
          <a:prstGeom prst="rect">
            <a:avLst/>
          </a:prstGeom>
        </p:spPr>
      </p:pic>
      <p:sp>
        <p:nvSpPr>
          <p:cNvPr id="6" name="Text 3"/>
          <p:cNvSpPr txBox="1"/>
          <p:nvPr/>
        </p:nvSpPr>
        <p:spPr>
          <a:xfrm>
            <a:off x="1691640" y="1645920"/>
            <a:ext cx="4023360" cy="685800"/>
          </a:xfrm>
          <a:prstGeom prst="rect">
            <a:avLst/>
          </a:prstGeom>
          <a:noFill/>
          <a:ln/>
        </p:spPr>
        <p:txBody>
          <a:bodyPr wrap="square" lIns="0" tIns="0" rIns="0" bIns="0" rtlCol="0" anchor="ctr"/>
          <a:lstStyle/>
          <a:p>
            <a:pPr indent="0" marL="0">
              <a:buNone/>
            </a:pPr>
            <a:r>
              <a:rPr lang="en-US" sz="2200" b="1" dirty="0">
                <a:solidFill>
                  <a:schemeClr val="tx2"/>
                </a:solidFill>
                <a:latin typeface="Calibri" pitchFamily="34" charset="0"/>
                <a:ea typeface="Calibri" pitchFamily="34" charset="-122"/>
                <a:cs typeface="Calibri" pitchFamily="34" charset="-120"/>
              </a:rPr>
              <a:t>Prevent</a:t>
            </a:r>
            <a:endParaRPr lang="en-US" sz="2200" dirty="0"/>
          </a:p>
        </p:txBody>
      </p:sp>
      <p:sp>
        <p:nvSpPr>
          <p:cNvPr id="7" name="Text 4"/>
          <p:cNvSpPr txBox="1"/>
          <p:nvPr/>
        </p:nvSpPr>
        <p:spPr>
          <a:xfrm>
            <a:off x="868680" y="256032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Authenticate every endpoint that returns personal data</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Authorize per record and per purpose: who may see what, and why</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Return the minimum data needed; mask IDNP and IBAN</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Least privilege between connected systems</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Keep an inventory: no forgotten or test services online</a:t>
            </a:r>
            <a:endParaRPr lang="en-US" sz="1600" dirty="0"/>
          </a:p>
        </p:txBody>
      </p:sp>
      <p:sp>
        <p:nvSpPr>
          <p:cNvPr id="8" name="Detect and respond card"/>
          <p:cNvSpPr/>
          <p:nvPr/>
        </p:nvSpPr>
        <p:spPr>
          <a:xfrm>
            <a:off x="6217920" y="1417320"/>
            <a:ext cx="5394960" cy="3931920"/>
          </a:xfrm>
          <a:prstGeom prst="roundRect">
            <a:avLst>
              <a:gd name="adj" fmla="val 2791"/>
            </a:avLst>
          </a:prstGeom>
          <a:solidFill>
            <a:schemeClr val="bg2"/>
          </a:solidFill>
          <a:ln/>
        </p:spPr>
      </p:sp>
      <p:sp>
        <p:nvSpPr>
          <p:cNvPr id="9" name="Detect and respond circle"/>
          <p:cNvSpPr/>
          <p:nvPr/>
        </p:nvSpPr>
        <p:spPr>
          <a:xfrm>
            <a:off x="6492240" y="1645920"/>
            <a:ext cx="685800" cy="685800"/>
          </a:xfrm>
          <a:prstGeom prst="ellipse">
            <a:avLst/>
          </a:prstGeom>
          <a:solidFill>
            <a:schemeClr val="accent3"/>
          </a:solidFill>
          <a:ln/>
        </p:spPr>
      </p:sp>
      <p:pic>
        <p:nvPicPr>
          <p:cNvPr id="10" name="Detect and respond icon" descr="Detect and respond">    </p:cNvPr>
          <p:cNvPicPr>
            <a:picLocks noChangeAspect="1"/>
          </p:cNvPicPr>
          <p:nvPr/>
        </p:nvPicPr>
        <p:blipFill>
          <a:blip r:embed="rId2"/>
          <a:stretch>
            <a:fillRect/>
          </a:stretch>
        </p:blipFill>
        <p:spPr>
          <a:xfrm>
            <a:off x="6663690" y="1817370"/>
            <a:ext cx="342900" cy="342900"/>
          </a:xfrm>
          <a:prstGeom prst="rect">
            <a:avLst/>
          </a:prstGeom>
        </p:spPr>
      </p:pic>
      <p:sp>
        <p:nvSpPr>
          <p:cNvPr id="11" name="Text 7"/>
          <p:cNvSpPr txBox="1"/>
          <p:nvPr/>
        </p:nvSpPr>
        <p:spPr>
          <a:xfrm>
            <a:off x="7360920" y="1645920"/>
            <a:ext cx="4023360" cy="685800"/>
          </a:xfrm>
          <a:prstGeom prst="rect">
            <a:avLst/>
          </a:prstGeom>
          <a:noFill/>
          <a:ln/>
        </p:spPr>
        <p:txBody>
          <a:bodyPr wrap="square" lIns="0" tIns="0" rIns="0" bIns="0" rtlCol="0" anchor="ctr"/>
          <a:lstStyle/>
          <a:p>
            <a:pPr indent="0" marL="0">
              <a:buNone/>
            </a:pPr>
            <a:r>
              <a:rPr lang="en-US" sz="2200" b="1" dirty="0">
                <a:solidFill>
                  <a:schemeClr val="tx2"/>
                </a:solidFill>
                <a:latin typeface="Calibri" pitchFamily="34" charset="0"/>
                <a:ea typeface="Calibri" pitchFamily="34" charset="-122"/>
                <a:cs typeface="Calibri" pitchFamily="34" charset="-120"/>
              </a:rPr>
              <a:t>Detect and respond</a:t>
            </a:r>
            <a:endParaRPr lang="en-US" sz="2200" dirty="0"/>
          </a:p>
        </p:txBody>
      </p:sp>
      <p:sp>
        <p:nvSpPr>
          <p:cNvPr id="12" name="Text 8"/>
          <p:cNvSpPr txBox="1"/>
          <p:nvPr/>
        </p:nvSpPr>
        <p:spPr>
          <a:xfrm>
            <a:off x="6537960" y="256032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Rate limits and quotas per client and per API key</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Alerts on unusual volume: a million lookups is never normal</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Reliable audit logs: who accessed what, when and why</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 tested incident response plan</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Regular audits and penetration tests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response: what worked, what is unknown</a:t>
            </a:r>
            <a:endParaRPr lang="en-US" sz="3600" dirty="0"/>
          </a:p>
        </p:txBody>
      </p:sp>
      <p:sp>
        <p:nvSpPr>
          <p:cNvPr id="3" name="What worked card"/>
          <p:cNvSpPr/>
          <p:nvPr/>
        </p:nvSpPr>
        <p:spPr>
          <a:xfrm>
            <a:off x="548640" y="1417320"/>
            <a:ext cx="5394960" cy="3931920"/>
          </a:xfrm>
          <a:prstGeom prst="roundRect">
            <a:avLst>
              <a:gd name="adj" fmla="val 2791"/>
            </a:avLst>
          </a:prstGeom>
          <a:solidFill>
            <a:schemeClr val="bg2"/>
          </a:solidFill>
          <a:ln/>
        </p:spPr>
      </p:sp>
      <p:pic>
        <p:nvPicPr>
          <p:cNvPr id="4" name="What worked icon" descr="What worked">    </p:cNvPr>
          <p:cNvPicPr>
            <a:picLocks noChangeAspect="1"/>
          </p:cNvPicPr>
          <p:nvPr/>
        </p:nvPicPr>
        <p:blipFill>
          <a:blip r:embed="rId1"/>
          <a:stretch>
            <a:fillRect/>
          </a:stretch>
        </p:blipFill>
        <p:spPr>
          <a:xfrm>
            <a:off x="822960" y="1645920"/>
            <a:ext cx="594360" cy="594360"/>
          </a:xfrm>
          <a:prstGeom prst="rect">
            <a:avLst/>
          </a:prstGeom>
        </p:spPr>
      </p:pic>
      <p:sp>
        <p:nvSpPr>
          <p:cNvPr id="5" name="Text 2"/>
          <p:cNvSpPr txBox="1"/>
          <p:nvPr/>
        </p:nvSpPr>
        <p:spPr>
          <a:xfrm>
            <a:off x="1600200" y="1645920"/>
            <a:ext cx="4114800" cy="594360"/>
          </a:xfrm>
          <a:prstGeom prst="rect">
            <a:avLst/>
          </a:prstGeom>
          <a:noFill/>
          <a:ln/>
        </p:spPr>
        <p:txBody>
          <a:bodyPr wrap="square" lIns="0" tIns="0" rIns="0" bIns="0" rtlCol="0" anchor="ctr"/>
          <a:lstStyle/>
          <a:p>
            <a:pPr indent="0" marL="0">
              <a:buNone/>
            </a:pPr>
            <a:r>
              <a:rPr lang="en-US" sz="2200" b="1" dirty="0">
                <a:solidFill>
                  <a:schemeClr val="accent2"/>
                </a:solidFill>
                <a:latin typeface="Calibri" pitchFamily="34" charset="0"/>
                <a:ea typeface="Calibri" pitchFamily="34" charset="-122"/>
                <a:cs typeface="Calibri" pitchFamily="34" charset="-120"/>
              </a:rPr>
              <a:t>What worked</a:t>
            </a:r>
            <a:endParaRPr lang="en-US" sz="2200" dirty="0"/>
          </a:p>
        </p:txBody>
      </p:sp>
      <p:sp>
        <p:nvSpPr>
          <p:cNvPr id="6" name="Text 3"/>
          <p:cNvSpPr txBox="1"/>
          <p:nvPr/>
        </p:nvSpPr>
        <p:spPr>
          <a:xfrm>
            <a:off x="868680" y="2514600"/>
            <a:ext cx="484632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The attack was detected and stopped</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Fast containment: 82 services and 30+ systems offline</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Public disclosure the next day, with clear advice</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Joint investigation: AGE, STISC, ASC, SIS, police</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Services return only after new security checks</a:t>
            </a:r>
            <a:endParaRPr lang="en-US" sz="1600" dirty="0"/>
          </a:p>
        </p:txBody>
      </p:sp>
      <p:sp>
        <p:nvSpPr>
          <p:cNvPr id="7" name="Open questions card"/>
          <p:cNvSpPr/>
          <p:nvPr/>
        </p:nvSpPr>
        <p:spPr>
          <a:xfrm>
            <a:off x="6217920" y="1417320"/>
            <a:ext cx="5394960" cy="3931920"/>
          </a:xfrm>
          <a:prstGeom prst="roundRect">
            <a:avLst>
              <a:gd name="adj" fmla="val 2791"/>
            </a:avLst>
          </a:prstGeom>
          <a:solidFill>
            <a:schemeClr val="bg2"/>
          </a:solidFill>
          <a:ln/>
        </p:spPr>
      </p:sp>
      <p:pic>
        <p:nvPicPr>
          <p:cNvPr id="8" name="Open questions icon" descr="Open questions">    </p:cNvPr>
          <p:cNvPicPr>
            <a:picLocks noChangeAspect="1"/>
          </p:cNvPicPr>
          <p:nvPr/>
        </p:nvPicPr>
        <p:blipFill>
          <a:blip r:embed="rId2"/>
          <a:stretch>
            <a:fillRect/>
          </a:stretch>
        </p:blipFill>
        <p:spPr>
          <a:xfrm>
            <a:off x="6492240" y="1645920"/>
            <a:ext cx="594360" cy="594360"/>
          </a:xfrm>
          <a:prstGeom prst="rect">
            <a:avLst/>
          </a:prstGeom>
        </p:spPr>
      </p:pic>
      <p:sp>
        <p:nvSpPr>
          <p:cNvPr id="9" name="Text 5"/>
          <p:cNvSpPr txBox="1"/>
          <p:nvPr/>
        </p:nvSpPr>
        <p:spPr>
          <a:xfrm>
            <a:off x="7269480" y="1645920"/>
            <a:ext cx="4114800" cy="594360"/>
          </a:xfrm>
          <a:prstGeom prst="rect">
            <a:avLst/>
          </a:prstGeom>
          <a:noFill/>
          <a:ln/>
        </p:spPr>
        <p:txBody>
          <a:bodyPr wrap="square" lIns="0" tIns="0" rIns="0" bIns="0" rtlCol="0" anchor="ctr"/>
          <a:lstStyle/>
          <a:p>
            <a:pPr indent="0" marL="0">
              <a:buNone/>
            </a:pPr>
            <a:r>
              <a:rPr lang="en-US" sz="2200" b="1" dirty="0">
                <a:solidFill>
                  <a:schemeClr val="accent1"/>
                </a:solidFill>
                <a:latin typeface="Calibri" pitchFamily="34" charset="0"/>
                <a:ea typeface="Calibri" pitchFamily="34" charset="-122"/>
                <a:cs typeface="Calibri" pitchFamily="34" charset="-120"/>
              </a:rPr>
              <a:t>Open questions</a:t>
            </a:r>
            <a:endParaRPr lang="en-US" sz="2200" dirty="0"/>
          </a:p>
        </p:txBody>
      </p:sp>
      <p:sp>
        <p:nvSpPr>
          <p:cNvPr id="10" name="Text 6"/>
          <p:cNvSpPr txBox="1"/>
          <p:nvPr/>
        </p:nvSpPr>
        <p:spPr>
          <a:xfrm>
            <a:off x="6537960" y="2514600"/>
            <a:ext cx="484632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Why could these services be used without login?</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Why did five days of mass queries not trigger alarms sooner?</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Do other systems share the same design?</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Exactly how many people were affected?</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Who is behind the attack?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You will practice exactly this in our labs</a:t>
            </a:r>
            <a:endParaRPr lang="en-US" sz="3600" dirty="0"/>
          </a:p>
        </p:txBody>
      </p:sp>
      <p:sp>
        <p:nvSpPr>
          <p:cNvPr id="3" name="Lab 1 row"/>
          <p:cNvSpPr/>
          <p:nvPr/>
        </p:nvSpPr>
        <p:spPr>
          <a:xfrm>
            <a:off x="548640" y="1417320"/>
            <a:ext cx="11064240" cy="749808"/>
          </a:xfrm>
          <a:prstGeom prst="roundRect">
            <a:avLst>
              <a:gd name="adj" fmla="val 14634"/>
            </a:avLst>
          </a:prstGeom>
          <a:solidFill>
            <a:schemeClr val="bg2"/>
          </a:solidFill>
          <a:ln/>
        </p:spPr>
      </p:sp>
      <p:sp>
        <p:nvSpPr>
          <p:cNvPr id="4" name="Lab 1 badge"/>
          <p:cNvSpPr/>
          <p:nvPr/>
        </p:nvSpPr>
        <p:spPr>
          <a:xfrm>
            <a:off x="731520" y="1563624"/>
            <a:ext cx="1051560" cy="457200"/>
          </a:xfrm>
          <a:prstGeom prst="roundRect">
            <a:avLst>
              <a:gd name="adj" fmla="val 20000"/>
            </a:avLst>
          </a:prstGeom>
          <a:solidFill>
            <a:schemeClr val="accent2"/>
          </a:solidFill>
          <a:ln/>
        </p:spPr>
      </p:sp>
      <p:sp>
        <p:nvSpPr>
          <p:cNvPr id="5" name="Text 3"/>
          <p:cNvSpPr txBox="1"/>
          <p:nvPr/>
        </p:nvSpPr>
        <p:spPr>
          <a:xfrm>
            <a:off x="731520" y="1563624"/>
            <a:ext cx="105156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1</a:t>
            </a:r>
            <a:endParaRPr lang="en-US" sz="1600" dirty="0"/>
          </a:p>
        </p:txBody>
      </p:sp>
      <p:sp>
        <p:nvSpPr>
          <p:cNvPr id="6" name="Text 4"/>
          <p:cNvSpPr txBox="1"/>
          <p:nvPr/>
        </p:nvSpPr>
        <p:spPr>
          <a:xfrm>
            <a:off x="2011680" y="1417320"/>
            <a:ext cx="9418320" cy="749808"/>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Threat model and attack surface: which endpoints are public and what they expose</a:t>
            </a:r>
            <a:endParaRPr lang="en-US" sz="1700" dirty="0"/>
          </a:p>
        </p:txBody>
      </p:sp>
      <p:sp>
        <p:nvSpPr>
          <p:cNvPr id="7" name="Lab 2 row"/>
          <p:cNvSpPr/>
          <p:nvPr/>
        </p:nvSpPr>
        <p:spPr>
          <a:xfrm>
            <a:off x="548640" y="2313432"/>
            <a:ext cx="11064240" cy="749808"/>
          </a:xfrm>
          <a:prstGeom prst="roundRect">
            <a:avLst>
              <a:gd name="adj" fmla="val 14634"/>
            </a:avLst>
          </a:prstGeom>
          <a:solidFill>
            <a:schemeClr val="bg2"/>
          </a:solidFill>
          <a:ln/>
        </p:spPr>
      </p:sp>
      <p:sp>
        <p:nvSpPr>
          <p:cNvPr id="8" name="Lab 2 badge"/>
          <p:cNvSpPr/>
          <p:nvPr/>
        </p:nvSpPr>
        <p:spPr>
          <a:xfrm>
            <a:off x="731520" y="2459736"/>
            <a:ext cx="1051560" cy="457200"/>
          </a:xfrm>
          <a:prstGeom prst="roundRect">
            <a:avLst>
              <a:gd name="adj" fmla="val 20000"/>
            </a:avLst>
          </a:prstGeom>
          <a:solidFill>
            <a:schemeClr val="accent2"/>
          </a:solidFill>
          <a:ln/>
        </p:spPr>
      </p:sp>
      <p:sp>
        <p:nvSpPr>
          <p:cNvPr id="9" name="Text 7"/>
          <p:cNvSpPr txBox="1"/>
          <p:nvPr/>
        </p:nvSpPr>
        <p:spPr>
          <a:xfrm>
            <a:off x="731520" y="2459736"/>
            <a:ext cx="105156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2</a:t>
            </a:r>
            <a:endParaRPr lang="en-US" sz="1600" dirty="0"/>
          </a:p>
        </p:txBody>
      </p:sp>
      <p:sp>
        <p:nvSpPr>
          <p:cNvPr id="10" name="Text 8"/>
          <p:cNvSpPr txBox="1"/>
          <p:nvPr/>
        </p:nvSpPr>
        <p:spPr>
          <a:xfrm>
            <a:off x="2011680" y="2313432"/>
            <a:ext cx="9418320" cy="749808"/>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Input validation and safe database queries</a:t>
            </a:r>
            <a:endParaRPr lang="en-US" sz="1700" dirty="0"/>
          </a:p>
        </p:txBody>
      </p:sp>
      <p:sp>
        <p:nvSpPr>
          <p:cNvPr id="11" name="Lab 3 row"/>
          <p:cNvSpPr/>
          <p:nvPr/>
        </p:nvSpPr>
        <p:spPr>
          <a:xfrm>
            <a:off x="548640" y="3209544"/>
            <a:ext cx="11064240" cy="749808"/>
          </a:xfrm>
          <a:prstGeom prst="roundRect">
            <a:avLst>
              <a:gd name="adj" fmla="val 14634"/>
            </a:avLst>
          </a:prstGeom>
          <a:solidFill>
            <a:schemeClr val="bg2"/>
          </a:solidFill>
          <a:ln/>
        </p:spPr>
      </p:sp>
      <p:sp>
        <p:nvSpPr>
          <p:cNvPr id="12" name="Lab 3 badge"/>
          <p:cNvSpPr/>
          <p:nvPr/>
        </p:nvSpPr>
        <p:spPr>
          <a:xfrm>
            <a:off x="731520" y="3355848"/>
            <a:ext cx="1051560" cy="457200"/>
          </a:xfrm>
          <a:prstGeom prst="roundRect">
            <a:avLst>
              <a:gd name="adj" fmla="val 20000"/>
            </a:avLst>
          </a:prstGeom>
          <a:solidFill>
            <a:schemeClr val="accent2"/>
          </a:solidFill>
          <a:ln/>
        </p:spPr>
      </p:sp>
      <p:sp>
        <p:nvSpPr>
          <p:cNvPr id="13" name="Text 11"/>
          <p:cNvSpPr txBox="1"/>
          <p:nvPr/>
        </p:nvSpPr>
        <p:spPr>
          <a:xfrm>
            <a:off x="731520" y="3355848"/>
            <a:ext cx="105156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3</a:t>
            </a:r>
            <a:endParaRPr lang="en-US" sz="1600" dirty="0"/>
          </a:p>
        </p:txBody>
      </p:sp>
      <p:sp>
        <p:nvSpPr>
          <p:cNvPr id="14" name="Text 12"/>
          <p:cNvSpPr txBox="1"/>
          <p:nvPr/>
        </p:nvSpPr>
        <p:spPr>
          <a:xfrm>
            <a:off x="2011680" y="3209544"/>
            <a:ext cx="9418320" cy="749808"/>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Authentication, per-record authorization (IDOR) and rate limiting on login</a:t>
            </a:r>
            <a:endParaRPr lang="en-US" sz="1700" dirty="0"/>
          </a:p>
        </p:txBody>
      </p:sp>
      <p:sp>
        <p:nvSpPr>
          <p:cNvPr id="15" name="Lab 4 row"/>
          <p:cNvSpPr/>
          <p:nvPr/>
        </p:nvSpPr>
        <p:spPr>
          <a:xfrm>
            <a:off x="548640" y="4105656"/>
            <a:ext cx="11064240" cy="749808"/>
          </a:xfrm>
          <a:prstGeom prst="roundRect">
            <a:avLst>
              <a:gd name="adj" fmla="val 14634"/>
            </a:avLst>
          </a:prstGeom>
          <a:solidFill>
            <a:schemeClr val="bg2"/>
          </a:solidFill>
          <a:ln/>
        </p:spPr>
      </p:sp>
      <p:sp>
        <p:nvSpPr>
          <p:cNvPr id="16" name="Lab 4 badge"/>
          <p:cNvSpPr/>
          <p:nvPr/>
        </p:nvSpPr>
        <p:spPr>
          <a:xfrm>
            <a:off x="731520" y="4251960"/>
            <a:ext cx="1051560" cy="457200"/>
          </a:xfrm>
          <a:prstGeom prst="roundRect">
            <a:avLst>
              <a:gd name="adj" fmla="val 20000"/>
            </a:avLst>
          </a:prstGeom>
          <a:solidFill>
            <a:schemeClr val="accent4"/>
          </a:solidFill>
          <a:ln/>
        </p:spPr>
      </p:sp>
      <p:sp>
        <p:nvSpPr>
          <p:cNvPr id="17" name="Text 15"/>
          <p:cNvSpPr txBox="1"/>
          <p:nvPr/>
        </p:nvSpPr>
        <p:spPr>
          <a:xfrm>
            <a:off x="731520" y="4251960"/>
            <a:ext cx="105156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4</a:t>
            </a:r>
            <a:endParaRPr lang="en-US" sz="1600" dirty="0"/>
          </a:p>
        </p:txBody>
      </p:sp>
      <p:sp>
        <p:nvSpPr>
          <p:cNvPr id="18" name="Text 16"/>
          <p:cNvSpPr txBox="1"/>
          <p:nvPr/>
        </p:nvSpPr>
        <p:spPr>
          <a:xfrm>
            <a:off x="2011680" y="4105656"/>
            <a:ext cx="9418320" cy="749808"/>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Logs and Fail2ban: detecting and blocking abusive clients automatically</a:t>
            </a:r>
            <a:endParaRPr lang="en-US" sz="1700" dirty="0"/>
          </a:p>
        </p:txBody>
      </p:sp>
      <p:sp>
        <p:nvSpPr>
          <p:cNvPr id="19" name="Lab 5 row"/>
          <p:cNvSpPr/>
          <p:nvPr/>
        </p:nvSpPr>
        <p:spPr>
          <a:xfrm>
            <a:off x="548640" y="5001768"/>
            <a:ext cx="11064240" cy="749808"/>
          </a:xfrm>
          <a:prstGeom prst="roundRect">
            <a:avLst>
              <a:gd name="adj" fmla="val 14634"/>
            </a:avLst>
          </a:prstGeom>
          <a:solidFill>
            <a:schemeClr val="bg2"/>
          </a:solidFill>
          <a:ln/>
        </p:spPr>
      </p:sp>
      <p:sp>
        <p:nvSpPr>
          <p:cNvPr id="20" name="Lab 5 badge"/>
          <p:cNvSpPr/>
          <p:nvPr/>
        </p:nvSpPr>
        <p:spPr>
          <a:xfrm>
            <a:off x="731520" y="5148072"/>
            <a:ext cx="1051560" cy="457200"/>
          </a:xfrm>
          <a:prstGeom prst="roundRect">
            <a:avLst>
              <a:gd name="adj" fmla="val 20000"/>
            </a:avLst>
          </a:prstGeom>
          <a:solidFill>
            <a:schemeClr val="accent4"/>
          </a:solidFill>
          <a:ln/>
        </p:spPr>
      </p:sp>
      <p:sp>
        <p:nvSpPr>
          <p:cNvPr id="21" name="Text 19"/>
          <p:cNvSpPr txBox="1"/>
          <p:nvPr/>
        </p:nvSpPr>
        <p:spPr>
          <a:xfrm>
            <a:off x="731520" y="5148072"/>
            <a:ext cx="105156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5</a:t>
            </a:r>
            <a:endParaRPr lang="en-US" sz="1600" dirty="0"/>
          </a:p>
        </p:txBody>
      </p:sp>
      <p:sp>
        <p:nvSpPr>
          <p:cNvPr id="22" name="Text 20"/>
          <p:cNvSpPr txBox="1"/>
          <p:nvPr/>
        </p:nvSpPr>
        <p:spPr>
          <a:xfrm>
            <a:off x="2011680" y="5001768"/>
            <a:ext cx="9418320" cy="749808"/>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Nginx rate limiting, HTTPS, security headers, secrets kept out of code</a:t>
            </a:r>
            <a:endParaRPr lang="en-US" sz="1700" dirty="0"/>
          </a:p>
        </p:txBody>
      </p:sp>
      <p:sp>
        <p:nvSpPr>
          <p:cNvPr id="23" name="Text 21"/>
          <p:cNvSpPr txBox="1"/>
          <p:nvPr/>
        </p:nvSpPr>
        <p:spPr>
          <a:xfrm>
            <a:off x="548640" y="5943600"/>
            <a:ext cx="11064240"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The Notes app has the same kind of flaw: </a:t>
            </a:r>
            <a:pPr indent="0" marL="0">
              <a:buNone/>
            </a:pPr>
            <a:r>
              <a:rPr lang="en-US" sz="1600" dirty="0">
                <a:solidFill>
                  <a:schemeClr val="tx1"/>
                </a:solidFill>
                <a:latin typeface="Calibri" pitchFamily="34" charset="0"/>
                <a:ea typeface="Calibri" pitchFamily="34" charset="-122"/>
                <a:cs typeface="Calibri" pitchFamily="34" charset="-120"/>
              </a:rPr>
              <a:t>in Lab 3 you will find an endpoint that returns other people's notes to anyone who asks.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2148840"/>
            <a:ext cx="2468880" cy="201168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05</a:t>
            </a:r>
            <a:endParaRPr lang="en-US" sz="13000" dirty="0"/>
          </a:p>
        </p:txBody>
      </p:sp>
      <p:sp>
        <p:nvSpPr>
          <p:cNvPr id="3" name="Text 1"/>
          <p:cNvSpPr txBox="1"/>
          <p:nvPr/>
        </p:nvSpPr>
        <p:spPr>
          <a:xfrm>
            <a:off x="3474720" y="2240280"/>
            <a:ext cx="5943600" cy="365760"/>
          </a:xfrm>
          <a:prstGeom prst="rect">
            <a:avLst/>
          </a:prstGeom>
          <a:noFill/>
          <a:ln/>
        </p:spPr>
        <p:txBody>
          <a:bodyPr wrap="square" lIns="0" tIns="0" rIns="0" bIns="0" rtlCol="0" anchor="t"/>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PART 05 OF 05</a:t>
            </a:r>
            <a:endParaRPr lang="en-US" sz="1400" dirty="0"/>
          </a:p>
        </p:txBody>
      </p:sp>
      <p:sp>
        <p:nvSpPr>
          <p:cNvPr id="4" name="Text 0"/>
          <p:cNvSpPr/>
          <p:nvPr>
            <p:ph idx="100" type="title" hasCustomPrompt="1"/>
          </p:nvPr>
        </p:nvSpPr>
        <p:spPr>
          <a:xfrm>
            <a:off x="3474720" y="2651760"/>
            <a:ext cx="5943600"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Discussion</a:t>
            </a:r>
            <a:endParaRPr lang="en-US" sz="4400" dirty="0"/>
          </a:p>
        </p:txBody>
      </p:sp>
      <p:sp>
        <p:nvSpPr>
          <p:cNvPr id="5" name="Text 0"/>
          <p:cNvSpPr/>
          <p:nvPr>
            <p:ph idx="101" type="body" hasCustomPrompt="1"/>
          </p:nvPr>
        </p:nvSpPr>
        <p:spPr>
          <a:xfrm>
            <a:off x="3474720" y="3611880"/>
            <a:ext cx="5943600" cy="731520"/>
          </a:xfrm>
          <a:prstGeom prst="rect">
            <a:avLst/>
          </a:prstGeom>
          <a:noFill/>
          <a:ln/>
        </p:spPr>
        <p:txBody>
          <a:bodyPr wrap="square" lIns="0" tIns="0" rIns="0" bIns="0" rtlCol="0" anchor="t"/>
          <a:lstStyle/>
          <a:p>
            <a:pPr algn="l" indent="0" marL="0">
              <a:buNone/>
            </a:pPr>
            <a:r>
              <a:rPr lang="en-US" sz="2000" dirty="0">
                <a:solidFill>
                  <a:schemeClr val="accent1"/>
                </a:solidFill>
                <a:latin typeface="Calibri" pitchFamily="34" charset="0"/>
                <a:ea typeface="Calibri" pitchFamily="34" charset="-122"/>
                <a:cs typeface="Calibri" pitchFamily="34" charset="-120"/>
              </a:rPr>
              <a:t>Think like the security team</a:t>
            </a:r>
            <a:endParaRPr lang="en-US" sz="2000" dirty="0"/>
          </a:p>
        </p:txBody>
      </p:sp>
      <p:sp>
        <p:nvSpPr>
          <p:cNvPr id="6" name="Teacher circle"/>
          <p:cNvSpPr/>
          <p:nvPr/>
        </p:nvSpPr>
        <p:spPr>
          <a:xfrm>
            <a:off x="9784080" y="2423160"/>
            <a:ext cx="1645920" cy="1645920"/>
          </a:xfrm>
          <a:prstGeom prst="ellipse">
            <a:avLst/>
          </a:prstGeom>
          <a:solidFill>
            <a:schemeClr val="accent4"/>
          </a:solidFill>
          <a:ln/>
        </p:spPr>
      </p:sp>
      <p:pic>
        <p:nvPicPr>
          <p:cNvPr id="7" name="Teacher icon" descr="Teacher">    </p:cNvPr>
          <p:cNvPicPr>
            <a:picLocks noChangeAspect="1"/>
          </p:cNvPicPr>
          <p:nvPr/>
        </p:nvPicPr>
        <p:blipFill>
          <a:blip r:embed="rId1"/>
          <a:stretch>
            <a:fillRect/>
          </a:stretch>
        </p:blipFill>
        <p:spPr>
          <a:xfrm>
            <a:off x="10195560" y="2834640"/>
            <a:ext cx="822960" cy="8229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Class exercise: you are the security team (20 min)</a:t>
            </a:r>
            <a:endParaRPr lang="en-US" sz="3600" dirty="0"/>
          </a:p>
        </p:txBody>
      </p:sp>
      <p:sp>
        <p:nvSpPr>
          <p:cNvPr id="3" name="Map the attack surface card"/>
          <p:cNvSpPr/>
          <p:nvPr/>
        </p:nvSpPr>
        <p:spPr>
          <a:xfrm>
            <a:off x="548640" y="1417320"/>
            <a:ext cx="5394960" cy="2011680"/>
          </a:xfrm>
          <a:prstGeom prst="roundRect">
            <a:avLst>
              <a:gd name="adj" fmla="val 5455"/>
            </a:avLst>
          </a:prstGeom>
          <a:solidFill>
            <a:schemeClr val="bg2"/>
          </a:solidFill>
          <a:ln/>
        </p:spPr>
      </p:sp>
      <p:sp>
        <p:nvSpPr>
          <p:cNvPr id="4" name="Text 2"/>
          <p:cNvSpPr txBox="1"/>
          <p:nvPr/>
        </p:nvSpPr>
        <p:spPr>
          <a:xfrm>
            <a:off x="822960" y="1600200"/>
            <a:ext cx="73152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a:t>
            </a:r>
            <a:endParaRPr lang="en-US" sz="4800" dirty="0"/>
          </a:p>
        </p:txBody>
      </p:sp>
      <p:sp>
        <p:nvSpPr>
          <p:cNvPr id="5" name="Text 3"/>
          <p:cNvSpPr txBox="1"/>
          <p:nvPr/>
        </p:nvSpPr>
        <p:spPr>
          <a:xfrm>
            <a:off x="1645920" y="1691640"/>
            <a:ext cx="411480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Map the attack surface</a:t>
            </a:r>
            <a:endParaRPr lang="en-US" sz="1900" dirty="0"/>
          </a:p>
        </p:txBody>
      </p:sp>
      <p:sp>
        <p:nvSpPr>
          <p:cNvPr id="6" name="Text 4"/>
          <p:cNvSpPr txBox="1"/>
          <p:nvPr/>
        </p:nvSpPr>
        <p:spPr>
          <a:xfrm>
            <a:off x="1645920" y="2286000"/>
            <a:ext cx="411480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Which public services return personal data? Which need login and which do not?</a:t>
            </a:r>
            <a:endParaRPr lang="en-US" sz="1500" dirty="0"/>
          </a:p>
        </p:txBody>
      </p:sp>
      <p:sp>
        <p:nvSpPr>
          <p:cNvPr id="7" name="Choose three controls card"/>
          <p:cNvSpPr/>
          <p:nvPr/>
        </p:nvSpPr>
        <p:spPr>
          <a:xfrm>
            <a:off x="6217920" y="1417320"/>
            <a:ext cx="5394960" cy="2011680"/>
          </a:xfrm>
          <a:prstGeom prst="roundRect">
            <a:avLst>
              <a:gd name="adj" fmla="val 5455"/>
            </a:avLst>
          </a:prstGeom>
          <a:solidFill>
            <a:schemeClr val="bg2"/>
          </a:solidFill>
          <a:ln/>
        </p:spPr>
      </p:sp>
      <p:sp>
        <p:nvSpPr>
          <p:cNvPr id="8" name="Text 6"/>
          <p:cNvSpPr txBox="1"/>
          <p:nvPr/>
        </p:nvSpPr>
        <p:spPr>
          <a:xfrm>
            <a:off x="6492240" y="1600200"/>
            <a:ext cx="73152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9" name="Text 7"/>
          <p:cNvSpPr txBox="1"/>
          <p:nvPr/>
        </p:nvSpPr>
        <p:spPr>
          <a:xfrm>
            <a:off x="7315200" y="1691640"/>
            <a:ext cx="411480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Choose three controls</a:t>
            </a:r>
            <a:endParaRPr lang="en-US" sz="1900" dirty="0"/>
          </a:p>
        </p:txBody>
      </p:sp>
      <p:sp>
        <p:nvSpPr>
          <p:cNvPr id="10" name="Text 8"/>
          <p:cNvSpPr txBox="1"/>
          <p:nvPr/>
        </p:nvSpPr>
        <p:spPr>
          <a:xfrm>
            <a:off x="7315200" y="2286000"/>
            <a:ext cx="411480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If you could deploy only three defenses tomorrow, which ones and why?</a:t>
            </a:r>
            <a:endParaRPr lang="en-US" sz="1500" dirty="0"/>
          </a:p>
        </p:txBody>
      </p:sp>
      <p:sp>
        <p:nvSpPr>
          <p:cNvPr id="11" name="Write one alert rule card"/>
          <p:cNvSpPr/>
          <p:nvPr/>
        </p:nvSpPr>
        <p:spPr>
          <a:xfrm>
            <a:off x="548640" y="3657600"/>
            <a:ext cx="5394960" cy="2011680"/>
          </a:xfrm>
          <a:prstGeom prst="roundRect">
            <a:avLst>
              <a:gd name="adj" fmla="val 5455"/>
            </a:avLst>
          </a:prstGeom>
          <a:solidFill>
            <a:schemeClr val="bg2"/>
          </a:solidFill>
          <a:ln/>
        </p:spPr>
      </p:sp>
      <p:sp>
        <p:nvSpPr>
          <p:cNvPr id="12" name="Text 10"/>
          <p:cNvSpPr txBox="1"/>
          <p:nvPr/>
        </p:nvSpPr>
        <p:spPr>
          <a:xfrm>
            <a:off x="822960" y="3840480"/>
            <a:ext cx="73152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a:t>
            </a:r>
            <a:endParaRPr lang="en-US" sz="4800" dirty="0"/>
          </a:p>
        </p:txBody>
      </p:sp>
      <p:sp>
        <p:nvSpPr>
          <p:cNvPr id="13" name="Text 11"/>
          <p:cNvSpPr txBox="1"/>
          <p:nvPr/>
        </p:nvSpPr>
        <p:spPr>
          <a:xfrm>
            <a:off x="1645920" y="3931920"/>
            <a:ext cx="411480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Write one alert rule</a:t>
            </a:r>
            <a:endParaRPr lang="en-US" sz="1900" dirty="0"/>
          </a:p>
        </p:txBody>
      </p:sp>
      <p:sp>
        <p:nvSpPr>
          <p:cNvPr id="14" name="Text 12"/>
          <p:cNvSpPr txBox="1"/>
          <p:nvPr/>
        </p:nvSpPr>
        <p:spPr>
          <a:xfrm>
            <a:off x="1645920" y="4526280"/>
            <a:ext cx="411480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What exact condition should have raised an alarm on 19 October?</a:t>
            </a:r>
            <a:endParaRPr lang="en-US" sz="1500" dirty="0"/>
          </a:p>
        </p:txBody>
      </p:sp>
      <p:sp>
        <p:nvSpPr>
          <p:cNvPr id="15" name="Notify the citizens card"/>
          <p:cNvSpPr/>
          <p:nvPr/>
        </p:nvSpPr>
        <p:spPr>
          <a:xfrm>
            <a:off x="6217920" y="3657600"/>
            <a:ext cx="5394960" cy="2011680"/>
          </a:xfrm>
          <a:prstGeom prst="roundRect">
            <a:avLst>
              <a:gd name="adj" fmla="val 5455"/>
            </a:avLst>
          </a:prstGeom>
          <a:solidFill>
            <a:schemeClr val="bg2"/>
          </a:solidFill>
          <a:ln/>
        </p:spPr>
      </p:sp>
      <p:sp>
        <p:nvSpPr>
          <p:cNvPr id="16" name="Text 14"/>
          <p:cNvSpPr txBox="1"/>
          <p:nvPr/>
        </p:nvSpPr>
        <p:spPr>
          <a:xfrm>
            <a:off x="6492240" y="3840480"/>
            <a:ext cx="73152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a:t>
            </a:r>
            <a:endParaRPr lang="en-US" sz="4800" dirty="0"/>
          </a:p>
        </p:txBody>
      </p:sp>
      <p:sp>
        <p:nvSpPr>
          <p:cNvPr id="17" name="Text 15"/>
          <p:cNvSpPr txBox="1"/>
          <p:nvPr/>
        </p:nvSpPr>
        <p:spPr>
          <a:xfrm>
            <a:off x="7315200" y="3931920"/>
            <a:ext cx="411480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Notify the citizens</a:t>
            </a:r>
            <a:endParaRPr lang="en-US" sz="1900" dirty="0"/>
          </a:p>
        </p:txBody>
      </p:sp>
      <p:sp>
        <p:nvSpPr>
          <p:cNvPr id="18" name="Text 16"/>
          <p:cNvSpPr txBox="1"/>
          <p:nvPr/>
        </p:nvSpPr>
        <p:spPr>
          <a:xfrm>
            <a:off x="7315200" y="4526280"/>
            <a:ext cx="411480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Write a short, honest SMS to affected people: what happened and what to do.</a:t>
            </a:r>
            <a:endParaRPr lang="en-US" sz="1500" dirty="0"/>
          </a:p>
        </p:txBody>
      </p:sp>
      <p:sp>
        <p:nvSpPr>
          <p:cNvPr id="19" name="Text 17"/>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Groups of 3–4 students. Each group presents one answer in 2 minutes.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Key takeaways</a:t>
            </a:r>
            <a:endParaRPr lang="en-US" sz="3600" dirty="0"/>
          </a:p>
        </p:txBody>
      </p:sp>
      <p:sp>
        <p:nvSpPr>
          <p:cNvPr id="3" name="No authentication = public data row"/>
          <p:cNvSpPr/>
          <p:nvPr/>
        </p:nvSpPr>
        <p:spPr>
          <a:xfrm>
            <a:off x="548640" y="1417320"/>
            <a:ext cx="11064240" cy="1005840"/>
          </a:xfrm>
          <a:prstGeom prst="roundRect">
            <a:avLst>
              <a:gd name="adj" fmla="val 10909"/>
            </a:avLst>
          </a:prstGeom>
          <a:solidFill>
            <a:schemeClr val="bg2"/>
          </a:solidFill>
          <a:ln/>
        </p:spPr>
      </p:sp>
      <p:sp>
        <p:nvSpPr>
          <p:cNvPr id="4" name="No authentication = public data circle"/>
          <p:cNvSpPr/>
          <p:nvPr/>
        </p:nvSpPr>
        <p:spPr>
          <a:xfrm>
            <a:off x="731520" y="1572768"/>
            <a:ext cx="694944" cy="694944"/>
          </a:xfrm>
          <a:prstGeom prst="ellipse">
            <a:avLst/>
          </a:prstGeom>
          <a:solidFill>
            <a:schemeClr val="tx2"/>
          </a:solidFill>
          <a:ln/>
        </p:spPr>
      </p:sp>
      <p:pic>
        <p:nvPicPr>
          <p:cNvPr id="5" name="No authentication = public data icon" descr="No authentication = public data">    </p:cNvPr>
          <p:cNvPicPr>
            <a:picLocks noChangeAspect="1"/>
          </p:cNvPicPr>
          <p:nvPr/>
        </p:nvPicPr>
        <p:blipFill>
          <a:blip r:embed="rId1"/>
          <a:stretch>
            <a:fillRect/>
          </a:stretch>
        </p:blipFill>
        <p:spPr>
          <a:xfrm>
            <a:off x="905256" y="1746504"/>
            <a:ext cx="347472" cy="347472"/>
          </a:xfrm>
          <a:prstGeom prst="rect">
            <a:avLst/>
          </a:prstGeom>
        </p:spPr>
      </p:pic>
      <p:sp>
        <p:nvSpPr>
          <p:cNvPr id="6" name="Text 3"/>
          <p:cNvSpPr txBox="1"/>
          <p:nvPr/>
        </p:nvSpPr>
        <p:spPr>
          <a:xfrm>
            <a:off x="1691640" y="1490472"/>
            <a:ext cx="9692640" cy="45720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No authentication = public data</a:t>
            </a:r>
            <a:endParaRPr lang="en-US" sz="1900" dirty="0"/>
          </a:p>
        </p:txBody>
      </p:sp>
      <p:sp>
        <p:nvSpPr>
          <p:cNvPr id="7" name="Text 4"/>
          <p:cNvSpPr txBox="1"/>
          <p:nvPr/>
        </p:nvSpPr>
        <p:spPr>
          <a:xfrm>
            <a:off x="1691640" y="1920240"/>
            <a:ext cx="9692640" cy="41148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If an endpoint answers anyone, assume attackers will ask it a million times.</a:t>
            </a:r>
            <a:endParaRPr lang="en-US" sz="1500" dirty="0"/>
          </a:p>
        </p:txBody>
      </p:sp>
      <p:sp>
        <p:nvSpPr>
          <p:cNvPr id="8" name="Limits and alerts are not optional row"/>
          <p:cNvSpPr/>
          <p:nvPr/>
        </p:nvSpPr>
        <p:spPr>
          <a:xfrm>
            <a:off x="548640" y="2578608"/>
            <a:ext cx="11064240" cy="1005840"/>
          </a:xfrm>
          <a:prstGeom prst="roundRect">
            <a:avLst>
              <a:gd name="adj" fmla="val 10909"/>
            </a:avLst>
          </a:prstGeom>
          <a:solidFill>
            <a:schemeClr val="bg2"/>
          </a:solidFill>
          <a:ln/>
        </p:spPr>
      </p:sp>
      <p:sp>
        <p:nvSpPr>
          <p:cNvPr id="9" name="Limits and alerts are not optional circle"/>
          <p:cNvSpPr/>
          <p:nvPr/>
        </p:nvSpPr>
        <p:spPr>
          <a:xfrm>
            <a:off x="731520" y="2734056"/>
            <a:ext cx="694944" cy="694944"/>
          </a:xfrm>
          <a:prstGeom prst="ellipse">
            <a:avLst/>
          </a:prstGeom>
          <a:solidFill>
            <a:schemeClr val="tx2"/>
          </a:solidFill>
          <a:ln/>
        </p:spPr>
      </p:sp>
      <p:pic>
        <p:nvPicPr>
          <p:cNvPr id="10" name="Limits and alerts are not optional icon" descr="Limits and alerts are not optional">    </p:cNvPr>
          <p:cNvPicPr>
            <a:picLocks noChangeAspect="1"/>
          </p:cNvPicPr>
          <p:nvPr/>
        </p:nvPicPr>
        <p:blipFill>
          <a:blip r:embed="rId2"/>
          <a:stretch>
            <a:fillRect/>
          </a:stretch>
        </p:blipFill>
        <p:spPr>
          <a:xfrm>
            <a:off x="905256" y="2907792"/>
            <a:ext cx="347472" cy="347472"/>
          </a:xfrm>
          <a:prstGeom prst="rect">
            <a:avLst/>
          </a:prstGeom>
        </p:spPr>
      </p:pic>
      <p:sp>
        <p:nvSpPr>
          <p:cNvPr id="11" name="Text 7"/>
          <p:cNvSpPr txBox="1"/>
          <p:nvPr/>
        </p:nvSpPr>
        <p:spPr>
          <a:xfrm>
            <a:off x="1691640" y="2651760"/>
            <a:ext cx="9692640" cy="45720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Limits and alerts are not optional</a:t>
            </a:r>
            <a:endParaRPr lang="en-US" sz="1900" dirty="0"/>
          </a:p>
        </p:txBody>
      </p:sp>
      <p:sp>
        <p:nvSpPr>
          <p:cNvPr id="12" name="Text 8"/>
          <p:cNvSpPr txBox="1"/>
          <p:nvPr/>
        </p:nvSpPr>
        <p:spPr>
          <a:xfrm>
            <a:off x="1691640" y="3081528"/>
            <a:ext cx="9692640" cy="41148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Rate limiting and monitoring turn days of silent theft into minutes.</a:t>
            </a:r>
            <a:endParaRPr lang="en-US" sz="1500" dirty="0"/>
          </a:p>
        </p:txBody>
      </p:sp>
      <p:sp>
        <p:nvSpPr>
          <p:cNvPr id="13" name="Connected systems multiply the damage row"/>
          <p:cNvSpPr/>
          <p:nvPr/>
        </p:nvSpPr>
        <p:spPr>
          <a:xfrm>
            <a:off x="548640" y="3739896"/>
            <a:ext cx="11064240" cy="1005840"/>
          </a:xfrm>
          <a:prstGeom prst="roundRect">
            <a:avLst>
              <a:gd name="adj" fmla="val 10909"/>
            </a:avLst>
          </a:prstGeom>
          <a:solidFill>
            <a:schemeClr val="bg2"/>
          </a:solidFill>
          <a:ln/>
        </p:spPr>
      </p:sp>
      <p:sp>
        <p:nvSpPr>
          <p:cNvPr id="14" name="Connected systems multiply the damage circle"/>
          <p:cNvSpPr/>
          <p:nvPr/>
        </p:nvSpPr>
        <p:spPr>
          <a:xfrm>
            <a:off x="731520" y="3895344"/>
            <a:ext cx="694944" cy="694944"/>
          </a:xfrm>
          <a:prstGeom prst="ellipse">
            <a:avLst/>
          </a:prstGeom>
          <a:solidFill>
            <a:schemeClr val="tx2"/>
          </a:solidFill>
          <a:ln/>
        </p:spPr>
      </p:sp>
      <p:pic>
        <p:nvPicPr>
          <p:cNvPr id="15" name="Connected systems multiply the damage icon" descr="Connected systems multiply the damage">    </p:cNvPr>
          <p:cNvPicPr>
            <a:picLocks noChangeAspect="1"/>
          </p:cNvPicPr>
          <p:nvPr/>
        </p:nvPicPr>
        <p:blipFill>
          <a:blip r:embed="rId3"/>
          <a:stretch>
            <a:fillRect/>
          </a:stretch>
        </p:blipFill>
        <p:spPr>
          <a:xfrm>
            <a:off x="905256" y="4069080"/>
            <a:ext cx="347472" cy="347472"/>
          </a:xfrm>
          <a:prstGeom prst="rect">
            <a:avLst/>
          </a:prstGeom>
        </p:spPr>
      </p:pic>
      <p:sp>
        <p:nvSpPr>
          <p:cNvPr id="16" name="Text 11"/>
          <p:cNvSpPr txBox="1"/>
          <p:nvPr/>
        </p:nvSpPr>
        <p:spPr>
          <a:xfrm>
            <a:off x="1691640" y="3813048"/>
            <a:ext cx="9692640" cy="45720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Connected systems multiply the damage</a:t>
            </a:r>
            <a:endParaRPr lang="en-US" sz="1900" dirty="0"/>
          </a:p>
        </p:txBody>
      </p:sp>
      <p:sp>
        <p:nvSpPr>
          <p:cNvPr id="17" name="Text 12"/>
          <p:cNvSpPr txBox="1"/>
          <p:nvPr/>
        </p:nvSpPr>
        <p:spPr>
          <a:xfrm>
            <a:off x="1691640" y="4242816"/>
            <a:ext cx="9692640" cy="41148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Give each system only the data it really needs.</a:t>
            </a:r>
            <a:endParaRPr lang="en-US" sz="1500" dirty="0"/>
          </a:p>
        </p:txBody>
      </p:sp>
      <p:sp>
        <p:nvSpPr>
          <p:cNvPr id="18" name="People are the final target row"/>
          <p:cNvSpPr/>
          <p:nvPr/>
        </p:nvSpPr>
        <p:spPr>
          <a:xfrm>
            <a:off x="548640" y="4901184"/>
            <a:ext cx="11064240" cy="1005840"/>
          </a:xfrm>
          <a:prstGeom prst="roundRect">
            <a:avLst>
              <a:gd name="adj" fmla="val 10909"/>
            </a:avLst>
          </a:prstGeom>
          <a:solidFill>
            <a:schemeClr val="bg2"/>
          </a:solidFill>
          <a:ln/>
        </p:spPr>
      </p:sp>
      <p:sp>
        <p:nvSpPr>
          <p:cNvPr id="19" name="People are the final target circle"/>
          <p:cNvSpPr/>
          <p:nvPr/>
        </p:nvSpPr>
        <p:spPr>
          <a:xfrm>
            <a:off x="731520" y="5056632"/>
            <a:ext cx="694944" cy="694944"/>
          </a:xfrm>
          <a:prstGeom prst="ellipse">
            <a:avLst/>
          </a:prstGeom>
          <a:solidFill>
            <a:schemeClr val="tx2"/>
          </a:solidFill>
          <a:ln/>
        </p:spPr>
      </p:sp>
      <p:pic>
        <p:nvPicPr>
          <p:cNvPr id="20" name="People are the final target icon" descr="People are the final target">    </p:cNvPr>
          <p:cNvPicPr>
            <a:picLocks noChangeAspect="1"/>
          </p:cNvPicPr>
          <p:nvPr/>
        </p:nvPicPr>
        <p:blipFill>
          <a:blip r:embed="rId4"/>
          <a:stretch>
            <a:fillRect/>
          </a:stretch>
        </p:blipFill>
        <p:spPr>
          <a:xfrm>
            <a:off x="905256" y="5230368"/>
            <a:ext cx="347472" cy="347472"/>
          </a:xfrm>
          <a:prstGeom prst="rect">
            <a:avLst/>
          </a:prstGeom>
        </p:spPr>
      </p:pic>
      <p:sp>
        <p:nvSpPr>
          <p:cNvPr id="21" name="Text 15"/>
          <p:cNvSpPr txBox="1"/>
          <p:nvPr/>
        </p:nvSpPr>
        <p:spPr>
          <a:xfrm>
            <a:off x="1691640" y="4974336"/>
            <a:ext cx="9692640" cy="45720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People are the final target</a:t>
            </a:r>
            <a:endParaRPr lang="en-US" sz="1900" dirty="0"/>
          </a:p>
        </p:txBody>
      </p:sp>
      <p:sp>
        <p:nvSpPr>
          <p:cNvPr id="22" name="Text 16"/>
          <p:cNvSpPr txBox="1"/>
          <p:nvPr/>
        </p:nvSpPr>
        <p:spPr>
          <a:xfrm>
            <a:off x="1691640" y="5404104"/>
            <a:ext cx="9692640" cy="41148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Leaked data powers scams for years. Teach your family to verify, not trust.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Sources</a:t>
            </a:r>
            <a:endParaRPr lang="en-US" sz="3600" dirty="0"/>
          </a:p>
        </p:txBody>
      </p:sp>
      <p:sp>
        <p:nvSpPr>
          <p:cNvPr id="3" name="Text 1"/>
          <p:cNvSpPr txBox="1"/>
          <p:nvPr/>
        </p:nvSpPr>
        <p:spPr>
          <a:xfrm>
            <a:off x="548640" y="1417320"/>
            <a:ext cx="11064240" cy="420624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2"/>
                </a:solidFill>
                <a:latin typeface="Calibri" pitchFamily="34" charset="0"/>
                <a:ea typeface="Calibri" pitchFamily="34" charset="-122"/>
                <a:cs typeface="Calibri" pitchFamily="34" charset="-120"/>
              </a:rPr>
              <a:t>AGE, official statement, 27 Oct 2026  </a:t>
            </a:r>
            <a:pPr indent="0" marL="0">
              <a:spcAft>
                <a:spcPts val="800"/>
              </a:spcAft>
              <a:buNone/>
            </a:pPr>
            <a:r>
              <a:rPr lang="en-US" sz="1500" dirty="0">
                <a:solidFill>
                  <a:schemeClr val="accent5"/>
                </a:solidFill>
                <a:latin typeface="Calibri" pitchFamily="34" charset="0"/>
                <a:ea typeface="Calibri" pitchFamily="34" charset="-122"/>
                <a:cs typeface="Calibri" pitchFamily="34" charset="-120"/>
              </a:rPr>
              <a:t>egov.md/ro/node/41145</a:t>
            </a:r>
            <a:endParaRPr lang="en-US" sz="1500" dirty="0"/>
          </a:p>
          <a:p>
            <a:pPr marL="342900" indent="-342900">
              <a:spcAft>
                <a:spcPts val="800"/>
              </a:spcAft>
              <a:buSzPct val="100000"/>
              <a:buChar char="•"/>
            </a:pPr>
            <a:r>
              <a:rPr lang="en-US" sz="1500" b="1" dirty="0">
                <a:solidFill>
                  <a:schemeClr val="tx2"/>
                </a:solidFill>
                <a:latin typeface="Calibri" pitchFamily="34" charset="0"/>
                <a:ea typeface="Calibri" pitchFamily="34" charset="-122"/>
                <a:cs typeface="Calibri" pitchFamily="34" charset="-120"/>
              </a:rPr>
              <a:t>Moldpres, STISC findings, 28 Oct 2026  </a:t>
            </a:r>
            <a:pPr indent="0" marL="0">
              <a:spcAft>
                <a:spcPts val="800"/>
              </a:spcAft>
              <a:buNone/>
            </a:pPr>
            <a:r>
              <a:rPr lang="en-US" sz="1500" dirty="0">
                <a:solidFill>
                  <a:schemeClr val="accent5"/>
                </a:solidFill>
                <a:latin typeface="Calibri" pitchFamily="34" charset="0"/>
                <a:ea typeface="Calibri" pitchFamily="34" charset="-122"/>
                <a:cs typeface="Calibri" pitchFamily="34" charset="-120"/>
              </a:rPr>
              <a:t>moldpres.md</a:t>
            </a:r>
            <a:endParaRPr lang="en-US" sz="1500" dirty="0"/>
          </a:p>
          <a:p>
            <a:pPr marL="342900" indent="-342900">
              <a:spcAft>
                <a:spcPts val="800"/>
              </a:spcAft>
              <a:buSzPct val="100000"/>
              <a:buChar char="•"/>
            </a:pPr>
            <a:r>
              <a:rPr lang="en-US" sz="1500" b="1" dirty="0">
                <a:solidFill>
                  <a:schemeClr val="tx2"/>
                </a:solidFill>
                <a:latin typeface="Calibri" pitchFamily="34" charset="0"/>
                <a:ea typeface="Calibri" pitchFamily="34" charset="-122"/>
                <a:cs typeface="Calibri" pitchFamily="34" charset="-120"/>
              </a:rPr>
              <a:t>The Record, 28 Oct 2026  </a:t>
            </a:r>
            <a:pPr indent="0" marL="0">
              <a:spcAft>
                <a:spcPts val="800"/>
              </a:spcAft>
              <a:buNone/>
            </a:pPr>
            <a:r>
              <a:rPr lang="en-US" sz="1500" dirty="0">
                <a:solidFill>
                  <a:schemeClr val="accent5"/>
                </a:solidFill>
                <a:latin typeface="Calibri" pitchFamily="34" charset="0"/>
                <a:ea typeface="Calibri" pitchFamily="34" charset="-122"/>
                <a:cs typeface="Calibri" pitchFamily="34" charset="-120"/>
              </a:rPr>
              <a:t>therecord.media/moldova-investigates-possible-foreign-involvement-cyberattacks</a:t>
            </a:r>
            <a:endParaRPr lang="en-US" sz="1500" dirty="0"/>
          </a:p>
          <a:p>
            <a:pPr marL="342900" indent="-342900">
              <a:spcAft>
                <a:spcPts val="800"/>
              </a:spcAft>
              <a:buSzPct val="100000"/>
              <a:buChar char="•"/>
            </a:pPr>
            <a:r>
              <a:rPr lang="en-US" sz="1500" b="1" dirty="0">
                <a:solidFill>
                  <a:schemeClr val="tx2"/>
                </a:solidFill>
                <a:latin typeface="Calibri" pitchFamily="34" charset="0"/>
                <a:ea typeface="Calibri" pitchFamily="34" charset="-122"/>
                <a:cs typeface="Calibri" pitchFamily="34" charset="-120"/>
              </a:rPr>
              <a:t>Risky Bulletin, 28 Oct 2026  </a:t>
            </a:r>
            <a:pPr indent="0" marL="0">
              <a:spcAft>
                <a:spcPts val="800"/>
              </a:spcAft>
              <a:buNone/>
            </a:pPr>
            <a:r>
              <a:rPr lang="en-US" sz="1500" dirty="0">
                <a:solidFill>
                  <a:schemeClr val="accent5"/>
                </a:solidFill>
                <a:latin typeface="Calibri" pitchFamily="34" charset="0"/>
                <a:ea typeface="Calibri" pitchFamily="34" charset="-122"/>
                <a:cs typeface="Calibri" pitchFamily="34" charset="-120"/>
              </a:rPr>
              <a:t>news.risky.biz</a:t>
            </a:r>
            <a:endParaRPr lang="en-US" sz="1500" dirty="0"/>
          </a:p>
          <a:p>
            <a:pPr marL="342900" indent="-342900">
              <a:spcAft>
                <a:spcPts val="800"/>
              </a:spcAft>
              <a:buSzPct val="100000"/>
              <a:buChar char="•"/>
            </a:pPr>
            <a:r>
              <a:rPr lang="en-US" sz="1500" b="1" dirty="0">
                <a:solidFill>
                  <a:schemeClr val="tx2"/>
                </a:solidFill>
                <a:latin typeface="Calibri" pitchFamily="34" charset="0"/>
                <a:ea typeface="Calibri" pitchFamily="34" charset="-122"/>
                <a:cs typeface="Calibri" pitchFamily="34" charset="-120"/>
              </a:rPr>
              <a:t>Diez.md, how to check your data, 27 Oct 2026  </a:t>
            </a:r>
            <a:pPr indent="0" marL="0">
              <a:spcAft>
                <a:spcPts val="800"/>
              </a:spcAft>
              <a:buNone/>
            </a:pPr>
            <a:r>
              <a:rPr lang="en-US" sz="1500" dirty="0">
                <a:solidFill>
                  <a:schemeClr val="accent5"/>
                </a:solidFill>
                <a:latin typeface="Calibri" pitchFamily="34" charset="0"/>
                <a:ea typeface="Calibri" pitchFamily="34" charset="-122"/>
                <a:cs typeface="Calibri" pitchFamily="34" charset="-120"/>
              </a:rPr>
              <a:t>diez.md</a:t>
            </a:r>
            <a:endParaRPr lang="en-US" sz="1500" dirty="0"/>
          </a:p>
          <a:p>
            <a:pPr marL="342900" indent="-342900">
              <a:spcAft>
                <a:spcPts val="800"/>
              </a:spcAft>
              <a:buSzPct val="100000"/>
              <a:buChar char="•"/>
            </a:pPr>
            <a:r>
              <a:rPr lang="en-US" sz="1500" b="1" dirty="0">
                <a:solidFill>
                  <a:schemeClr val="tx2"/>
                </a:solidFill>
                <a:latin typeface="Calibri" pitchFamily="34" charset="0"/>
                <a:ea typeface="Calibri" pitchFamily="34" charset="-122"/>
                <a:cs typeface="Calibri" pitchFamily="34" charset="-120"/>
              </a:rPr>
              <a:t>NewsMaker, MPass changes, 28 Oct 2026  </a:t>
            </a:r>
            <a:pPr indent="0" marL="0">
              <a:spcAft>
                <a:spcPts val="800"/>
              </a:spcAft>
              <a:buNone/>
            </a:pPr>
            <a:r>
              <a:rPr lang="en-US" sz="1500" dirty="0">
                <a:solidFill>
                  <a:schemeClr val="accent5"/>
                </a:solidFill>
                <a:latin typeface="Calibri" pitchFamily="34" charset="0"/>
                <a:ea typeface="Calibri" pitchFamily="34" charset="-122"/>
                <a:cs typeface="Calibri" pitchFamily="34" charset="-120"/>
              </a:rPr>
              <a:t>newsmaker.md</a:t>
            </a:r>
            <a:endParaRPr lang="en-US" sz="1500" dirty="0"/>
          </a:p>
          <a:p>
            <a:pPr marL="342900" indent="-342900">
              <a:spcAft>
                <a:spcPts val="800"/>
              </a:spcAft>
              <a:buSzPct val="100000"/>
              <a:buChar char="•"/>
            </a:pPr>
            <a:r>
              <a:rPr lang="en-US" sz="1500" b="1" dirty="0">
                <a:solidFill>
                  <a:schemeClr val="tx2"/>
                </a:solidFill>
                <a:latin typeface="Calibri" pitchFamily="34" charset="0"/>
                <a:ea typeface="Calibri" pitchFamily="34" charset="-122"/>
                <a:cs typeface="Calibri" pitchFamily="34" charset="-120"/>
              </a:rPr>
              <a:t>Pro TV Chișinău, AGE leadership change, 28 Oct 2026  </a:t>
            </a:r>
            <a:pPr indent="0" marL="0">
              <a:spcAft>
                <a:spcPts val="800"/>
              </a:spcAft>
              <a:buNone/>
            </a:pPr>
            <a:r>
              <a:rPr lang="en-US" sz="1500" dirty="0">
                <a:solidFill>
                  <a:schemeClr val="accent5"/>
                </a:solidFill>
                <a:latin typeface="Calibri" pitchFamily="34" charset="0"/>
                <a:ea typeface="Calibri" pitchFamily="34" charset="-122"/>
                <a:cs typeface="Calibri" pitchFamily="34" charset="-120"/>
              </a:rPr>
              <a:t>protv.md</a:t>
            </a:r>
            <a:endParaRPr lang="en-US" sz="1500" dirty="0"/>
          </a:p>
          <a:p>
            <a:pPr marL="342900" indent="-342900">
              <a:spcAft>
                <a:spcPts val="800"/>
              </a:spcAft>
              <a:buSzPct val="100000"/>
              <a:buChar char="•"/>
            </a:pPr>
            <a:r>
              <a:rPr lang="en-US" sz="1500" b="1" dirty="0">
                <a:solidFill>
                  <a:schemeClr val="tx2"/>
                </a:solidFill>
                <a:latin typeface="Calibri" pitchFamily="34" charset="0"/>
                <a:ea typeface="Calibri" pitchFamily="34" charset="-122"/>
                <a:cs typeface="Calibri" pitchFamily="34" charset="-120"/>
              </a:rPr>
              <a:t>ENISA Threat Landscape, 22 Sep 2026 (via Moldpres)  </a:t>
            </a:r>
            <a:pPr indent="0" marL="0">
              <a:spcAft>
                <a:spcPts val="800"/>
              </a:spcAft>
              <a:buNone/>
            </a:pPr>
            <a:r>
              <a:rPr lang="en-US" sz="1500" dirty="0">
                <a:solidFill>
                  <a:schemeClr val="accent5"/>
                </a:solidFill>
                <a:latin typeface="Calibri" pitchFamily="34" charset="0"/>
                <a:ea typeface="Calibri" pitchFamily="34" charset="-122"/>
                <a:cs typeface="Calibri" pitchFamily="34" charset="-120"/>
              </a:rPr>
              <a:t>enisa.europa.eu</a:t>
            </a:r>
            <a:endParaRPr lang="en-US" sz="1500" dirty="0"/>
          </a:p>
        </p:txBody>
      </p:sp>
      <p:sp>
        <p:nvSpPr>
          <p:cNvPr id="4" name="Text 2"/>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300" i="1" dirty="0">
                <a:solidFill>
                  <a:schemeClr val="accent5"/>
                </a:solidFill>
                <a:latin typeface="Calibri" pitchFamily="34" charset="0"/>
                <a:ea typeface="Calibri" pitchFamily="34" charset="-122"/>
                <a:cs typeface="Calibri" pitchFamily="34" charset="-120"/>
              </a:rPr>
              <a:t>Information as of 28 October 2026. The investigation is ongoing and figures are preliminary.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64592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Check your EVO access history today</a:t>
            </a:r>
            <a:endParaRPr lang="en-US" sz="4800" dirty="0"/>
          </a:p>
        </p:txBody>
      </p:sp>
      <p:sp>
        <p:nvSpPr>
          <p:cNvPr id="3" name="Text 0"/>
          <p:cNvSpPr/>
          <p:nvPr>
            <p:ph idx="101" type="body" hasCustomPrompt="1"/>
          </p:nvPr>
        </p:nvSpPr>
        <p:spPr>
          <a:xfrm>
            <a:off x="731520" y="393192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latin typeface="Calibri" pitchFamily="34" charset="0"/>
                <a:ea typeface="Calibri" pitchFamily="34" charset="-122"/>
                <a:cs typeface="Calibri" pitchFamily="34" charset="-120"/>
              </a:rPr>
              <a:t>Then help one older relative do the same  ·  Questions?</a:t>
            </a:r>
            <a:endParaRPr lang="en-US" sz="2200" dirty="0"/>
          </a:p>
        </p:txBody>
      </p:sp>
      <p:pic>
        <p:nvPicPr>
          <p:cNvPr id="4" name="Phone icon" descr="Phone">    </p:cNvPr>
          <p:cNvPicPr>
            <a:picLocks noChangeAspect="1"/>
          </p:cNvPicPr>
          <p:nvPr/>
        </p:nvPicPr>
        <p:blipFill>
          <a:blip r:embed="rId1"/>
          <a:stretch>
            <a:fillRect/>
          </a:stretch>
        </p:blipFill>
        <p:spPr>
          <a:xfrm>
            <a:off x="731520" y="914400"/>
            <a:ext cx="822960" cy="822960"/>
          </a:xfrm>
          <a:prstGeom prst="rect">
            <a:avLst/>
          </a:prstGeom>
        </p:spPr>
      </p:pic>
    </p:spTree>
  </p:cSld>
  <p:clrMapOvr>
    <a:masterClrMapping/>
  </p:clrMapOvr>
</p:sld>
</file>

<file path=ppt/theme/theme1.xml><?xml version="1.0" encoding="utf-8"?>
<a:theme xmlns:a="http://schemas.openxmlformats.org/drawingml/2006/main" name="Security Course">
  <a:themeElements>
    <a:clrScheme name="Security Course">
      <a:dk1>
        <a:srgbClr val="1B2430"/>
      </a:dk1>
      <a:lt1>
        <a:srgbClr val="FFFFFF"/>
      </a:lt1>
      <a:dk2>
        <a:srgbClr val="0F1B2D"/>
      </a:dk2>
      <a:lt2>
        <a:srgbClr val="EEF2F6"/>
      </a:lt2>
      <a:accent1>
        <a:srgbClr val="F2A541"/>
      </a:accent1>
      <a:accent2>
        <a:srgbClr val="1B998B"/>
      </a:accent2>
      <a:accent3>
        <a:srgbClr val="D64550"/>
      </a:accent3>
      <a:accent4>
        <a:srgbClr val="3D5A80"/>
      </a:accent4>
      <a:accent5>
        <a:srgbClr val="6B7A8C"/>
      </a:accent5>
      <a:accent6>
        <a:srgbClr val="8E6C8A"/>
      </a:accent6>
      <a:hlink>
        <a:srgbClr val="1B998B"/>
      </a:hlink>
      <a:folHlink>
        <a:srgbClr val="8E6C8A"/>
      </a:folHlink>
    </a:clrScheme>
    <a:fontScheme name="Security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 Moldova e-Government breach, October 2026</dc:title>
  <dc:subject>PptxGenJS Presentation</dc:subject>
  <dc:creator>Web Security Course</dc:creator>
  <cp:lastModifiedBy>Web Security Course</cp:lastModifiedBy>
  <cp:revision>1</cp:revision>
  <dcterms:created xsi:type="dcterms:W3CDTF">2026-10-28T18:45:48Z</dcterms:created>
  <dcterms:modified xsi:type="dcterms:W3CDTF">2026-10-28T18:45:48Z</dcterms:modified>
</cp:coreProperties>
</file>