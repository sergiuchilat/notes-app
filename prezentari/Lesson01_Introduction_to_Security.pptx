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0027a73-73f7-489d-e503-a9c4506543a0}">
          <p14:sldIdLst>
            <p14:sldId id="256"/>
            <p14:sldId id="257"/>
            <p14:sldId id="258"/>
          </p14:sldIdLst>
        </p14:section>
        <p14:section name="Core concepts" id="{e1d5783e-24af-ed16-e7d4-669d56a1ca7c}">
          <p14:sldIdLst>
            <p14:sldId id="259"/>
            <p14:sldId id="260"/>
            <p14:sldId id="261"/>
            <p14:sldId id="262"/>
            <p14:sldId id="263"/>
            <p14:sldId id="264"/>
          </p14:sldIdLst>
        </p14:section>
        <p14:section name="Security principles" id="{777ed183-47b1-e3a5-beef-52f307c16f80}">
          <p14:sldIdLst>
            <p14:sldId id="265"/>
            <p14:sldId id="266"/>
          </p14:sldIdLst>
        </p14:section>
        <p14:section name="Classifying vulnerabilities" id="{f997c96c-1b29-884d-3bfa-5c3537f2a621}">
          <p14:sldIdLst>
            <p14:sldId id="267"/>
            <p14:sldId id="268"/>
          </p14:sldIdLst>
        </p14:section>
        <p14:section name="How this course works" id="{0f436865-d40c-d554-0647-c09afc4356c2}">
          <p14:sldIdLst>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course has two halves: infrastructure security (servers, networks, containers) and application security (the web app itself). Today is the conceptual foundation for all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minutes. Ask students early: has anyone had an account hacked? It makes the topic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from public annual reports (IBM/Ponemon, Verizon DBIR, NIST NVD). Update them each year. The point: it is not 'if' but 'when', and most incidents involve people (phishing, weak passwords, misconfiguration), not movie-style hacking.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security problem in this course breaks at least one of these three. Exercise: ask students which letter is broken by (a) a leaked password list, (b) changing a grade in the database, (c) a DDoS on the exam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AAA is the backbone of Lab 3. Broken access control is #1 in the OWASP Top 10, and it is almost always the authorization step that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SSH example because Lab 4 implements exactly this control (Fail2ban), on a real public server. Ask students for another example from a web app: a login form with no rate limit (vulnerability), credential-stuffing bots (threat), account takeover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imagine a targeted hacker. In reality, a small site will mostly see bots: automated, untargeted and constant. That is why basic hygiene (updates, strong auth, firewall) stops most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HTTP request from the browser to the database. Every hop is a place where something can go wrong, and every hop belongs to one of the two parts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Castle analogy: moat, walls, guards, vault. Input validation is not a substitute for parameterized queries; it is an extra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principles come back in every lab. Lab 4 (securing the Linux server) is basically: least privilege + minimize attack surface +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OWASP is a non-profit foundation. The Top 10 is an awareness document built from real data from many organizations. Broken access control has been #1 since 2021. Check owasp.org/Top10 for the current edition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nvd.nist.gov and search CVE-2021-44228 live. Log4Shell scored 10.0: remote, no authentication, full compromise. Explain that a high CVSS score does not always mean high risk for us: it depends on whether the vulnerable component is actually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thread of the whole course. Students do not have to build the app: they receive it ready, with vulnerabilities hidden on purpose. Labs 1 to 3 secure the app, labs 4 and 5 secure the server and the web server. At the end each student has the app live on their own DigitalOcean server, deployed automatically by GitHub Actions. Vulnerable versions run only on the laptop, never on the public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 1 to 3 secure the application code (APP). Labs 4 and 5 secure the Linux server and the web server, and deploy the app with GitHub Actions (SERVER). Each lab is one or two sessions, depending on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defensive goal of the course. Students who only run tools without explaining or fixing anything get a low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sign the lab code-of-conduct agreement today. Explain the difference between a penetration tester and a criminal: written authorization and scope. The tools are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the percentages and deadlines to the university regulations.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starts by running the app in Docker, so Docker must already work: docker run hello-world should succeed. Offer a short help session for students who get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idea that security is continuous: patching, monitoring and improving, which is exactly what the labs will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64592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r>
              <a:rPr lang="en-US" sz="4800" b="1" dirty="0">
                <a:solidFill>
                  <a:schemeClr val="bg1"/>
                </a:solidFill>
                <a:latin typeface="Cambria" pitchFamily="34" charset="0"/>
                <a:ea typeface="Cambria" pitchFamily="34" charset="-122"/>
                <a:cs typeface="Cambria" pitchFamily="34" charset="-120"/>
              </a:rPr>
              <a:t>Title</a:t>
            </a:r>
            <a:endParaRPr lang="en-US" sz="4800" dirty="0"/>
          </a:p>
        </p:txBody>
      </p:sp>
      <p:sp>
        <p:nvSpPr>
          <p:cNvPr id="3" name="Text 0"/>
          <p:cNvSpPr/>
          <p:nvPr>
            <p:ph idx="101" type="body" hasCustomPrompt="1"/>
          </p:nvPr>
        </p:nvSpPr>
        <p:spPr>
          <a:xfrm>
            <a:off x="731520" y="3931920"/>
            <a:ext cx="10698480" cy="1097280"/>
          </a:xfrm>
          <a:prstGeom prst="rect">
            <a:avLst/>
          </a:prstGeom>
          <a:noFill/>
          <a:ln/>
        </p:spPr>
        <p:txBody>
          <a:bodyPr wrap="square" rtlCol="0"/>
          <a:lstStyle>
            <a:lvl1pPr indent="0" marL="0">
              <a:buNone/>
              <a:defRPr lang="en-US" sz="2200" dirty="0">
                <a:solidFill>
                  <a:schemeClr val="accent1"/>
                </a:solidFill>
                <a:latin typeface="Calibri" pitchFamily="34" charset="0"/>
                <a:ea typeface="Calibri" pitchFamily="34" charset="-122"/>
                <a:cs typeface="Calibri" pitchFamily="34" charset="-120"/>
              </a:defRPr>
            </a:lvl1pPr>
          </a:lstStyle>
          <a:p>
            <a:pPr indent="0" marL="0">
              <a:buNone/>
            </a:pPr>
            <a:r>
              <a:rPr lang="en-US" sz="2200" dirty="0">
                <a:solidFill>
                  <a:schemeClr val="accent1"/>
                </a:solidFill>
                <a:latin typeface="Calibri" pitchFamily="34" charset="0"/>
                <a:ea typeface="Calibri" pitchFamily="34" charset="-122"/>
                <a:cs typeface="Calibri" pitchFamily="34" charset="-120"/>
              </a:rPr>
              <a:t>Subtitle</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474720" y="2651760"/>
            <a:ext cx="5943600" cy="9144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Section</a:t>
            </a:r>
            <a:endParaRPr lang="en-US" sz="4400" dirty="0"/>
          </a:p>
        </p:txBody>
      </p:sp>
      <p:sp>
        <p:nvSpPr>
          <p:cNvPr id="3" name="Text 0"/>
          <p:cNvSpPr/>
          <p:nvPr>
            <p:ph idx="101" type="body" hasCustomPrompt="1"/>
          </p:nvPr>
        </p:nvSpPr>
        <p:spPr>
          <a:xfrm>
            <a:off x="3474720" y="3611880"/>
            <a:ext cx="5943600" cy="731520"/>
          </a:xfrm>
          <a:prstGeom prst="rect">
            <a:avLst/>
          </a:prstGeom>
          <a:noFill/>
          <a:ln/>
        </p:spPr>
        <p:txBody>
          <a:bodyPr wrap="square" rtlCol="0"/>
          <a:lstStyle>
            <a:lvl1pPr algn="l" indent="0" marL="0">
              <a:buNone/>
              <a:defRPr lang="en-US" sz="2000" dirty="0">
                <a:solidFill>
                  <a:schemeClr val="accent1"/>
                </a:solidFill>
                <a:latin typeface="Calibri" pitchFamily="34" charset="0"/>
                <a:ea typeface="Calibri" pitchFamily="34" charset="-122"/>
                <a:cs typeface="Calibri" pitchFamily="34" charset="-120"/>
              </a:defRPr>
            </a:lvl1pPr>
          </a:lstStyle>
          <a:p>
            <a:pPr algn="l" indent="0" marL="0">
              <a:buNone/>
            </a:pPr>
            <a:r>
              <a:rPr lang="en-US" sz="2000" dirty="0">
                <a:solidFill>
                  <a:schemeClr val="accent1"/>
                </a:solidFill>
                <a:latin typeface="Calibri" pitchFamily="34" charset="0"/>
                <a:ea typeface="Calibri" pitchFamily="34" charset="-122"/>
                <a:cs typeface="Calibri" pitchFamily="34" charset="-120"/>
              </a:rPr>
              <a:t>Subtitle</a:t>
            </a: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Web Application &amp; Infrastructure Security  ·  Lesson 1</a:t>
            </a:r>
            <a:endParaRPr lang="en-US" sz="10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r>
              <a:rPr lang="en-US" sz="3600" b="1" dirty="0">
                <a:solidFill>
                  <a:schemeClr val="tx2"/>
                </a:solidFill>
                <a:latin typeface="Cambria" pitchFamily="34" charset="0"/>
                <a:ea typeface="Cambria" pitchFamily="34" charset="-122"/>
                <a:cs typeface="Cambria" pitchFamily="34" charset="-120"/>
              </a:rPr>
              <a:t>Title</a:t>
            </a: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64592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Introduction to Web &amp; Infrastructure Security</a:t>
            </a:r>
            <a:endParaRPr lang="en-US" sz="4800" dirty="0"/>
          </a:p>
        </p:txBody>
      </p:sp>
      <p:sp>
        <p:nvSpPr>
          <p:cNvPr id="3" name="Text 0"/>
          <p:cNvSpPr/>
          <p:nvPr>
            <p:ph idx="101" type="body" hasCustomPrompt="1"/>
          </p:nvPr>
        </p:nvSpPr>
        <p:spPr>
          <a:xfrm>
            <a:off x="731520" y="393192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latin typeface="Calibri" pitchFamily="34" charset="0"/>
                <a:ea typeface="Calibri" pitchFamily="34" charset="-122"/>
                <a:cs typeface="Calibri" pitchFamily="34" charset="-120"/>
              </a:rPr>
              <a:t>Lesson 1  ·  Core concepts, threats, principles and how this course works</a:t>
            </a:r>
            <a:endParaRPr lang="en-US" sz="2200" dirty="0"/>
          </a:p>
        </p:txBody>
      </p:sp>
      <p:pic>
        <p:nvPicPr>
          <p:cNvPr id="4" name="Shield icon" descr="Shield">    </p:cNvPr>
          <p:cNvPicPr>
            <a:picLocks noChangeAspect="1"/>
          </p:cNvPicPr>
          <p:nvPr/>
        </p:nvPicPr>
        <p:blipFill>
          <a:blip r:embed="rId1"/>
          <a:stretch>
            <a:fillRect/>
          </a:stretch>
        </p:blipFill>
        <p:spPr>
          <a:xfrm>
            <a:off x="731520" y="91440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Today's agenda</a:t>
            </a:r>
            <a:endParaRPr lang="en-US" sz="3600" dirty="0"/>
          </a:p>
        </p:txBody>
      </p:sp>
      <p:sp>
        <p:nvSpPr>
          <p:cNvPr id="3" name="Agenda card 1"/>
          <p:cNvSpPr/>
          <p:nvPr/>
        </p:nvSpPr>
        <p:spPr>
          <a:xfrm>
            <a:off x="548640" y="1508760"/>
            <a:ext cx="5349240" cy="1325880"/>
          </a:xfrm>
          <a:prstGeom prst="roundRect">
            <a:avLst>
              <a:gd name="adj" fmla="val 8276"/>
            </a:avLst>
          </a:prstGeom>
          <a:solidFill>
            <a:schemeClr val="bg2"/>
          </a:solidFill>
          <a:ln/>
        </p:spPr>
      </p:sp>
      <p:sp>
        <p:nvSpPr>
          <p:cNvPr id="4" name="Agenda 1 circle"/>
          <p:cNvSpPr/>
          <p:nvPr/>
        </p:nvSpPr>
        <p:spPr>
          <a:xfrm>
            <a:off x="822960" y="1783080"/>
            <a:ext cx="777240" cy="777240"/>
          </a:xfrm>
          <a:prstGeom prst="ellipse">
            <a:avLst/>
          </a:prstGeom>
          <a:solidFill>
            <a:schemeClr val="tx2"/>
          </a:solidFill>
          <a:ln/>
        </p:spPr>
      </p:sp>
      <p:pic>
        <p:nvPicPr>
          <p:cNvPr id="5" name="Agenda 1 icon" descr="Agenda 1">    </p:cNvPr>
          <p:cNvPicPr>
            <a:picLocks noChangeAspect="1"/>
          </p:cNvPicPr>
          <p:nvPr/>
        </p:nvPicPr>
        <p:blipFill>
          <a:blip r:embed="rId1"/>
          <a:stretch>
            <a:fillRect/>
          </a:stretch>
        </p:blipFill>
        <p:spPr>
          <a:xfrm>
            <a:off x="1017270" y="1977390"/>
            <a:ext cx="388620" cy="388620"/>
          </a:xfrm>
          <a:prstGeom prst="rect">
            <a:avLst/>
          </a:prstGeom>
        </p:spPr>
      </p:pic>
      <p:sp>
        <p:nvSpPr>
          <p:cNvPr id="6" name="Text 3"/>
          <p:cNvSpPr txBox="1"/>
          <p:nvPr/>
        </p:nvSpPr>
        <p:spPr>
          <a:xfrm>
            <a:off x="1828800" y="178308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01  Why security matters</a:t>
            </a:r>
            <a:endParaRPr lang="en-US" sz="2000" dirty="0"/>
          </a:p>
        </p:txBody>
      </p:sp>
      <p:sp>
        <p:nvSpPr>
          <p:cNvPr id="7" name="Text 4"/>
          <p:cNvSpPr txBox="1"/>
          <p:nvPr/>
        </p:nvSpPr>
        <p:spPr>
          <a:xfrm>
            <a:off x="1828800" y="2240280"/>
            <a:ext cx="3840480" cy="36576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Real costs and real numbers</a:t>
            </a:r>
            <a:endParaRPr lang="en-US" sz="1500" dirty="0"/>
          </a:p>
        </p:txBody>
      </p:sp>
      <p:sp>
        <p:nvSpPr>
          <p:cNvPr id="8" name="Agenda card 2"/>
          <p:cNvSpPr/>
          <p:nvPr/>
        </p:nvSpPr>
        <p:spPr>
          <a:xfrm>
            <a:off x="548640" y="3108960"/>
            <a:ext cx="5349240" cy="1325880"/>
          </a:xfrm>
          <a:prstGeom prst="roundRect">
            <a:avLst>
              <a:gd name="adj" fmla="val 8276"/>
            </a:avLst>
          </a:prstGeom>
          <a:solidFill>
            <a:schemeClr val="bg2"/>
          </a:solidFill>
          <a:ln/>
        </p:spPr>
      </p:sp>
      <p:sp>
        <p:nvSpPr>
          <p:cNvPr id="9" name="Agenda 2 circle"/>
          <p:cNvSpPr/>
          <p:nvPr/>
        </p:nvSpPr>
        <p:spPr>
          <a:xfrm>
            <a:off x="822960" y="3383280"/>
            <a:ext cx="777240" cy="777240"/>
          </a:xfrm>
          <a:prstGeom prst="ellipse">
            <a:avLst/>
          </a:prstGeom>
          <a:solidFill>
            <a:schemeClr val="tx2"/>
          </a:solidFill>
          <a:ln/>
        </p:spPr>
      </p:sp>
      <p:pic>
        <p:nvPicPr>
          <p:cNvPr id="10" name="Agenda 2 icon" descr="Agenda 2">    </p:cNvPr>
          <p:cNvPicPr>
            <a:picLocks noChangeAspect="1"/>
          </p:cNvPicPr>
          <p:nvPr/>
        </p:nvPicPr>
        <p:blipFill>
          <a:blip r:embed="rId2"/>
          <a:stretch>
            <a:fillRect/>
          </a:stretch>
        </p:blipFill>
        <p:spPr>
          <a:xfrm>
            <a:off x="1017270" y="3577590"/>
            <a:ext cx="388620" cy="388620"/>
          </a:xfrm>
          <a:prstGeom prst="rect">
            <a:avLst/>
          </a:prstGeom>
        </p:spPr>
      </p:pic>
      <p:sp>
        <p:nvSpPr>
          <p:cNvPr id="11" name="Text 7"/>
          <p:cNvSpPr txBox="1"/>
          <p:nvPr/>
        </p:nvSpPr>
        <p:spPr>
          <a:xfrm>
            <a:off x="1828800" y="338328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02  Core concepts</a:t>
            </a:r>
            <a:endParaRPr lang="en-US" sz="2000" dirty="0"/>
          </a:p>
        </p:txBody>
      </p:sp>
      <p:sp>
        <p:nvSpPr>
          <p:cNvPr id="12" name="Text 8"/>
          <p:cNvSpPr txBox="1"/>
          <p:nvPr/>
        </p:nvSpPr>
        <p:spPr>
          <a:xfrm>
            <a:off x="1828800" y="3840480"/>
            <a:ext cx="3840480" cy="36576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CIA triad, AAA, threat · vulnerability · risk</a:t>
            </a:r>
            <a:endParaRPr lang="en-US" sz="1500" dirty="0"/>
          </a:p>
        </p:txBody>
      </p:sp>
      <p:sp>
        <p:nvSpPr>
          <p:cNvPr id="13" name="Agenda card 3"/>
          <p:cNvSpPr/>
          <p:nvPr/>
        </p:nvSpPr>
        <p:spPr>
          <a:xfrm>
            <a:off x="548640" y="4709160"/>
            <a:ext cx="5349240" cy="1325880"/>
          </a:xfrm>
          <a:prstGeom prst="roundRect">
            <a:avLst>
              <a:gd name="adj" fmla="val 8276"/>
            </a:avLst>
          </a:prstGeom>
          <a:solidFill>
            <a:schemeClr val="bg2"/>
          </a:solidFill>
          <a:ln/>
        </p:spPr>
      </p:sp>
      <p:sp>
        <p:nvSpPr>
          <p:cNvPr id="14" name="Agenda 3 circle"/>
          <p:cNvSpPr/>
          <p:nvPr/>
        </p:nvSpPr>
        <p:spPr>
          <a:xfrm>
            <a:off x="822960" y="4983480"/>
            <a:ext cx="777240" cy="777240"/>
          </a:xfrm>
          <a:prstGeom prst="ellipse">
            <a:avLst/>
          </a:prstGeom>
          <a:solidFill>
            <a:schemeClr val="tx2"/>
          </a:solidFill>
          <a:ln/>
        </p:spPr>
      </p:sp>
      <p:pic>
        <p:nvPicPr>
          <p:cNvPr id="15" name="Agenda 3 icon" descr="Agenda 3">    </p:cNvPr>
          <p:cNvPicPr>
            <a:picLocks noChangeAspect="1"/>
          </p:cNvPicPr>
          <p:nvPr/>
        </p:nvPicPr>
        <p:blipFill>
          <a:blip r:embed="rId3"/>
          <a:stretch>
            <a:fillRect/>
          </a:stretch>
        </p:blipFill>
        <p:spPr>
          <a:xfrm>
            <a:off x="1017270" y="5177790"/>
            <a:ext cx="388620" cy="388620"/>
          </a:xfrm>
          <a:prstGeom prst="rect">
            <a:avLst/>
          </a:prstGeom>
        </p:spPr>
      </p:pic>
      <p:sp>
        <p:nvSpPr>
          <p:cNvPr id="16" name="Text 11"/>
          <p:cNvSpPr txBox="1"/>
          <p:nvPr/>
        </p:nvSpPr>
        <p:spPr>
          <a:xfrm>
            <a:off x="1828800" y="498348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03  Attackers and attack surface</a:t>
            </a:r>
            <a:endParaRPr lang="en-US" sz="2000" dirty="0"/>
          </a:p>
        </p:txBody>
      </p:sp>
      <p:sp>
        <p:nvSpPr>
          <p:cNvPr id="17" name="Text 12"/>
          <p:cNvSpPr txBox="1"/>
          <p:nvPr/>
        </p:nvSpPr>
        <p:spPr>
          <a:xfrm>
            <a:off x="1828800" y="5440680"/>
            <a:ext cx="3840480" cy="36576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Who attacks, and where a web system is exposed</a:t>
            </a:r>
            <a:endParaRPr lang="en-US" sz="1500" dirty="0"/>
          </a:p>
        </p:txBody>
      </p:sp>
      <p:sp>
        <p:nvSpPr>
          <p:cNvPr id="18" name="Agenda card 4"/>
          <p:cNvSpPr/>
          <p:nvPr/>
        </p:nvSpPr>
        <p:spPr>
          <a:xfrm>
            <a:off x="6263640" y="1508760"/>
            <a:ext cx="5349240" cy="1325880"/>
          </a:xfrm>
          <a:prstGeom prst="roundRect">
            <a:avLst>
              <a:gd name="adj" fmla="val 8276"/>
            </a:avLst>
          </a:prstGeom>
          <a:solidFill>
            <a:schemeClr val="bg2"/>
          </a:solidFill>
          <a:ln/>
        </p:spPr>
      </p:sp>
      <p:sp>
        <p:nvSpPr>
          <p:cNvPr id="19" name="Agenda 4 circle"/>
          <p:cNvSpPr/>
          <p:nvPr/>
        </p:nvSpPr>
        <p:spPr>
          <a:xfrm>
            <a:off x="6537960" y="1783080"/>
            <a:ext cx="777240" cy="777240"/>
          </a:xfrm>
          <a:prstGeom prst="ellipse">
            <a:avLst/>
          </a:prstGeom>
          <a:solidFill>
            <a:schemeClr val="tx2"/>
          </a:solidFill>
          <a:ln/>
        </p:spPr>
      </p:sp>
      <p:pic>
        <p:nvPicPr>
          <p:cNvPr id="20" name="Agenda 4 icon" descr="Agenda 4">    </p:cNvPr>
          <p:cNvPicPr>
            <a:picLocks noChangeAspect="1"/>
          </p:cNvPicPr>
          <p:nvPr/>
        </p:nvPicPr>
        <p:blipFill>
          <a:blip r:embed="rId4"/>
          <a:stretch>
            <a:fillRect/>
          </a:stretch>
        </p:blipFill>
        <p:spPr>
          <a:xfrm>
            <a:off x="6732270" y="1977390"/>
            <a:ext cx="388620" cy="388620"/>
          </a:xfrm>
          <a:prstGeom prst="rect">
            <a:avLst/>
          </a:prstGeom>
        </p:spPr>
      </p:pic>
      <p:sp>
        <p:nvSpPr>
          <p:cNvPr id="21" name="Text 15"/>
          <p:cNvSpPr txBox="1"/>
          <p:nvPr/>
        </p:nvSpPr>
        <p:spPr>
          <a:xfrm>
            <a:off x="7543800" y="178308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04  Security principles</a:t>
            </a:r>
            <a:endParaRPr lang="en-US" sz="2000" dirty="0"/>
          </a:p>
        </p:txBody>
      </p:sp>
      <p:sp>
        <p:nvSpPr>
          <p:cNvPr id="22" name="Text 16"/>
          <p:cNvSpPr txBox="1"/>
          <p:nvPr/>
        </p:nvSpPr>
        <p:spPr>
          <a:xfrm>
            <a:off x="7543800" y="2240280"/>
            <a:ext cx="3840480" cy="36576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Defense in depth, least privilege, and more</a:t>
            </a:r>
            <a:endParaRPr lang="en-US" sz="1500" dirty="0"/>
          </a:p>
        </p:txBody>
      </p:sp>
      <p:sp>
        <p:nvSpPr>
          <p:cNvPr id="23" name="Agenda card 5"/>
          <p:cNvSpPr/>
          <p:nvPr/>
        </p:nvSpPr>
        <p:spPr>
          <a:xfrm>
            <a:off x="6263640" y="3108960"/>
            <a:ext cx="5349240" cy="1325880"/>
          </a:xfrm>
          <a:prstGeom prst="roundRect">
            <a:avLst>
              <a:gd name="adj" fmla="val 8276"/>
            </a:avLst>
          </a:prstGeom>
          <a:solidFill>
            <a:schemeClr val="bg2"/>
          </a:solidFill>
          <a:ln/>
        </p:spPr>
      </p:sp>
      <p:sp>
        <p:nvSpPr>
          <p:cNvPr id="24" name="Agenda 5 circle"/>
          <p:cNvSpPr/>
          <p:nvPr/>
        </p:nvSpPr>
        <p:spPr>
          <a:xfrm>
            <a:off x="6537960" y="3383280"/>
            <a:ext cx="777240" cy="777240"/>
          </a:xfrm>
          <a:prstGeom prst="ellipse">
            <a:avLst/>
          </a:prstGeom>
          <a:solidFill>
            <a:schemeClr val="tx2"/>
          </a:solidFill>
          <a:ln/>
        </p:spPr>
      </p:sp>
      <p:pic>
        <p:nvPicPr>
          <p:cNvPr id="25" name="Agenda 5 icon" descr="Agenda 5">    </p:cNvPr>
          <p:cNvPicPr>
            <a:picLocks noChangeAspect="1"/>
          </p:cNvPicPr>
          <p:nvPr/>
        </p:nvPicPr>
        <p:blipFill>
          <a:blip r:embed="rId5"/>
          <a:stretch>
            <a:fillRect/>
          </a:stretch>
        </p:blipFill>
        <p:spPr>
          <a:xfrm>
            <a:off x="6732270" y="3577590"/>
            <a:ext cx="388620" cy="388620"/>
          </a:xfrm>
          <a:prstGeom prst="rect">
            <a:avLst/>
          </a:prstGeom>
        </p:spPr>
      </p:pic>
      <p:sp>
        <p:nvSpPr>
          <p:cNvPr id="26" name="Text 19"/>
          <p:cNvSpPr txBox="1"/>
          <p:nvPr/>
        </p:nvSpPr>
        <p:spPr>
          <a:xfrm>
            <a:off x="7543800" y="338328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05  OWASP Top 10 and CVE/CVSS</a:t>
            </a:r>
            <a:endParaRPr lang="en-US" sz="2000" dirty="0"/>
          </a:p>
        </p:txBody>
      </p:sp>
      <p:sp>
        <p:nvSpPr>
          <p:cNvPr id="27" name="Text 20"/>
          <p:cNvSpPr txBox="1"/>
          <p:nvPr/>
        </p:nvSpPr>
        <p:spPr>
          <a:xfrm>
            <a:off x="7543800" y="3840480"/>
            <a:ext cx="3840480" cy="36576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How vulnerabilities are classified and scored</a:t>
            </a:r>
            <a:endParaRPr lang="en-US" sz="1500" dirty="0"/>
          </a:p>
        </p:txBody>
      </p:sp>
      <p:sp>
        <p:nvSpPr>
          <p:cNvPr id="28" name="Agenda card 6"/>
          <p:cNvSpPr/>
          <p:nvPr/>
        </p:nvSpPr>
        <p:spPr>
          <a:xfrm>
            <a:off x="6263640" y="4709160"/>
            <a:ext cx="5349240" cy="1325880"/>
          </a:xfrm>
          <a:prstGeom prst="roundRect">
            <a:avLst>
              <a:gd name="adj" fmla="val 8276"/>
            </a:avLst>
          </a:prstGeom>
          <a:solidFill>
            <a:schemeClr val="bg2"/>
          </a:solidFill>
          <a:ln/>
        </p:spPr>
      </p:sp>
      <p:sp>
        <p:nvSpPr>
          <p:cNvPr id="29" name="Agenda 6 circle"/>
          <p:cNvSpPr/>
          <p:nvPr/>
        </p:nvSpPr>
        <p:spPr>
          <a:xfrm>
            <a:off x="6537960" y="4983480"/>
            <a:ext cx="777240" cy="777240"/>
          </a:xfrm>
          <a:prstGeom prst="ellipse">
            <a:avLst/>
          </a:prstGeom>
          <a:solidFill>
            <a:schemeClr val="tx2"/>
          </a:solidFill>
          <a:ln/>
        </p:spPr>
      </p:sp>
      <p:pic>
        <p:nvPicPr>
          <p:cNvPr id="30" name="Agenda 6 icon" descr="Agenda 6">    </p:cNvPr>
          <p:cNvPicPr>
            <a:picLocks noChangeAspect="1"/>
          </p:cNvPicPr>
          <p:nvPr/>
        </p:nvPicPr>
        <p:blipFill>
          <a:blip r:embed="rId6"/>
          <a:stretch>
            <a:fillRect/>
          </a:stretch>
        </p:blipFill>
        <p:spPr>
          <a:xfrm>
            <a:off x="6732270" y="5177790"/>
            <a:ext cx="388620" cy="388620"/>
          </a:xfrm>
          <a:prstGeom prst="rect">
            <a:avLst/>
          </a:prstGeom>
        </p:spPr>
      </p:pic>
      <p:sp>
        <p:nvSpPr>
          <p:cNvPr id="31" name="Text 23"/>
          <p:cNvSpPr txBox="1"/>
          <p:nvPr/>
        </p:nvSpPr>
        <p:spPr>
          <a:xfrm>
            <a:off x="7543800" y="4983480"/>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06  Ethics and course rules</a:t>
            </a:r>
            <a:endParaRPr lang="en-US" sz="2000" dirty="0"/>
          </a:p>
        </p:txBody>
      </p:sp>
      <p:sp>
        <p:nvSpPr>
          <p:cNvPr id="32" name="Text 24"/>
          <p:cNvSpPr txBox="1"/>
          <p:nvPr/>
        </p:nvSpPr>
        <p:spPr>
          <a:xfrm>
            <a:off x="7543800" y="5440680"/>
            <a:ext cx="3840480" cy="365760"/>
          </a:xfrm>
          <a:prstGeom prst="rect">
            <a:avLst/>
          </a:prstGeom>
          <a:noFill/>
          <a:ln/>
        </p:spPr>
        <p:txBody>
          <a:bodyPr wrap="square" lIns="0" tIns="0" rIns="0" bIns="0" rtlCol="0" anchor="t"/>
          <a:lstStyle/>
          <a:p>
            <a:pPr indent="0" marL="0">
              <a:buNone/>
            </a:pPr>
            <a:r>
              <a:rPr lang="en-US" sz="1500" dirty="0">
                <a:solidFill>
                  <a:schemeClr val="accent5"/>
                </a:solidFill>
                <a:latin typeface="Calibri" pitchFamily="34" charset="0"/>
                <a:ea typeface="Calibri" pitchFamily="34" charset="-122"/>
                <a:cs typeface="Calibri" pitchFamily="34" charset="-120"/>
              </a:rPr>
              <a:t>What is allowed, labs, grading, homework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Why security matters</a:t>
            </a:r>
            <a:endParaRPr lang="en-US" sz="3600" dirty="0"/>
          </a:p>
        </p:txBody>
      </p:sp>
      <p:sp>
        <p:nvSpPr>
          <p:cNvPr id="3" name="Stat card 1"/>
          <p:cNvSpPr/>
          <p:nvPr/>
        </p:nvSpPr>
        <p:spPr>
          <a:xfrm>
            <a:off x="548640" y="1554480"/>
            <a:ext cx="3474720" cy="3017520"/>
          </a:xfrm>
          <a:prstGeom prst="roundRect">
            <a:avLst>
              <a:gd name="adj" fmla="val 3636"/>
            </a:avLst>
          </a:prstGeom>
          <a:solidFill>
            <a:schemeClr val="bg2"/>
          </a:solidFill>
          <a:ln/>
        </p:spPr>
      </p:sp>
      <p:sp>
        <p:nvSpPr>
          <p:cNvPr id="4" name="Text 2"/>
          <p:cNvSpPr txBox="1"/>
          <p:nvPr/>
        </p:nvSpPr>
        <p:spPr>
          <a:xfrm>
            <a:off x="868680" y="1828800"/>
            <a:ext cx="2834640" cy="1097280"/>
          </a:xfrm>
          <a:prstGeom prst="rect">
            <a:avLst/>
          </a:prstGeom>
          <a:noFill/>
          <a:ln/>
        </p:spPr>
        <p:txBody>
          <a:bodyPr wrap="square" lIns="0" tIns="0" rIns="0" bIns="0" rtlCol="0" anchor="ctr"/>
          <a:lstStyle/>
          <a:p>
            <a:pPr indent="0" marL="0">
              <a:buNone/>
            </a:pPr>
            <a:r>
              <a:rPr lang="en-US" sz="5200" b="1" dirty="0">
                <a:solidFill>
                  <a:schemeClr val="accent3"/>
                </a:solidFill>
                <a:latin typeface="Cambria" pitchFamily="34" charset="0"/>
                <a:ea typeface="Cambria" pitchFamily="34" charset="-122"/>
                <a:cs typeface="Cambria" pitchFamily="34" charset="-120"/>
              </a:rPr>
              <a:t>$4.88M</a:t>
            </a:r>
            <a:endParaRPr lang="en-US" sz="5200" dirty="0"/>
          </a:p>
        </p:txBody>
      </p:sp>
      <p:sp>
        <p:nvSpPr>
          <p:cNvPr id="5" name="Text 3"/>
          <p:cNvSpPr txBox="1"/>
          <p:nvPr/>
        </p:nvSpPr>
        <p:spPr>
          <a:xfrm>
            <a:off x="868680" y="3017520"/>
            <a:ext cx="2834640" cy="8229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average cost of a data breach</a:t>
            </a:r>
            <a:endParaRPr lang="en-US" sz="1800" dirty="0"/>
          </a:p>
        </p:txBody>
      </p:sp>
      <p:sp>
        <p:nvSpPr>
          <p:cNvPr id="6" name="Text 4"/>
          <p:cNvSpPr txBox="1"/>
          <p:nvPr/>
        </p:nvSpPr>
        <p:spPr>
          <a:xfrm>
            <a:off x="868680" y="4023360"/>
            <a:ext cx="2834640" cy="32004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IBM Cost of a Data Breach, 2024</a:t>
            </a:r>
            <a:endParaRPr lang="en-US" sz="1100" dirty="0"/>
          </a:p>
        </p:txBody>
      </p:sp>
      <p:sp>
        <p:nvSpPr>
          <p:cNvPr id="7" name="Stat card 2"/>
          <p:cNvSpPr/>
          <p:nvPr/>
        </p:nvSpPr>
        <p:spPr>
          <a:xfrm>
            <a:off x="4343400" y="1554480"/>
            <a:ext cx="3474720" cy="3017520"/>
          </a:xfrm>
          <a:prstGeom prst="roundRect">
            <a:avLst>
              <a:gd name="adj" fmla="val 3636"/>
            </a:avLst>
          </a:prstGeom>
          <a:solidFill>
            <a:schemeClr val="bg2"/>
          </a:solidFill>
          <a:ln/>
        </p:spPr>
      </p:sp>
      <p:sp>
        <p:nvSpPr>
          <p:cNvPr id="8" name="Text 6"/>
          <p:cNvSpPr txBox="1"/>
          <p:nvPr/>
        </p:nvSpPr>
        <p:spPr>
          <a:xfrm>
            <a:off x="4663440" y="1828800"/>
            <a:ext cx="2834640" cy="1097280"/>
          </a:xfrm>
          <a:prstGeom prst="rect">
            <a:avLst/>
          </a:prstGeom>
          <a:noFill/>
          <a:ln/>
        </p:spPr>
        <p:txBody>
          <a:bodyPr wrap="square" lIns="0" tIns="0" rIns="0" bIns="0" rtlCol="0" anchor="ctr"/>
          <a:lstStyle/>
          <a:p>
            <a:pPr indent="0" marL="0">
              <a:buNone/>
            </a:pPr>
            <a:r>
              <a:rPr lang="en-US" sz="5200" b="1" dirty="0">
                <a:solidFill>
                  <a:schemeClr val="accent1"/>
                </a:solidFill>
                <a:latin typeface="Cambria" pitchFamily="34" charset="0"/>
                <a:ea typeface="Cambria" pitchFamily="34" charset="-122"/>
                <a:cs typeface="Cambria" pitchFamily="34" charset="-120"/>
              </a:rPr>
              <a:t>68%</a:t>
            </a:r>
            <a:endParaRPr lang="en-US" sz="5200" dirty="0"/>
          </a:p>
        </p:txBody>
      </p:sp>
      <p:sp>
        <p:nvSpPr>
          <p:cNvPr id="9" name="Text 7"/>
          <p:cNvSpPr txBox="1"/>
          <p:nvPr/>
        </p:nvSpPr>
        <p:spPr>
          <a:xfrm>
            <a:off x="4663440" y="3017520"/>
            <a:ext cx="2834640" cy="8229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of breaches involve a human element</a:t>
            </a:r>
            <a:endParaRPr lang="en-US" sz="1800" dirty="0"/>
          </a:p>
        </p:txBody>
      </p:sp>
      <p:sp>
        <p:nvSpPr>
          <p:cNvPr id="10" name="Text 8"/>
          <p:cNvSpPr txBox="1"/>
          <p:nvPr/>
        </p:nvSpPr>
        <p:spPr>
          <a:xfrm>
            <a:off x="4663440" y="4023360"/>
            <a:ext cx="2834640" cy="32004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Verizon DBIR, 2024</a:t>
            </a:r>
            <a:endParaRPr lang="en-US" sz="1100" dirty="0"/>
          </a:p>
        </p:txBody>
      </p:sp>
      <p:sp>
        <p:nvSpPr>
          <p:cNvPr id="11" name="Stat card 3"/>
          <p:cNvSpPr/>
          <p:nvPr/>
        </p:nvSpPr>
        <p:spPr>
          <a:xfrm>
            <a:off x="8138160" y="1554480"/>
            <a:ext cx="3474720" cy="3017520"/>
          </a:xfrm>
          <a:prstGeom prst="roundRect">
            <a:avLst>
              <a:gd name="adj" fmla="val 3636"/>
            </a:avLst>
          </a:prstGeom>
          <a:solidFill>
            <a:schemeClr val="bg2"/>
          </a:solidFill>
          <a:ln/>
        </p:spPr>
      </p:sp>
      <p:sp>
        <p:nvSpPr>
          <p:cNvPr id="12" name="Text 10"/>
          <p:cNvSpPr txBox="1"/>
          <p:nvPr/>
        </p:nvSpPr>
        <p:spPr>
          <a:xfrm>
            <a:off x="8458200" y="1828800"/>
            <a:ext cx="2834640" cy="1097280"/>
          </a:xfrm>
          <a:prstGeom prst="rect">
            <a:avLst/>
          </a:prstGeom>
          <a:noFill/>
          <a:ln/>
        </p:spPr>
        <p:txBody>
          <a:bodyPr wrap="square" lIns="0" tIns="0" rIns="0" bIns="0" rtlCol="0" anchor="ctr"/>
          <a:lstStyle/>
          <a:p>
            <a:pPr indent="0" marL="0">
              <a:buNone/>
            </a:pPr>
            <a:r>
              <a:rPr lang="en-US" sz="5200" b="1" dirty="0">
                <a:solidFill>
                  <a:schemeClr val="accent2"/>
                </a:solidFill>
                <a:latin typeface="Cambria" pitchFamily="34" charset="0"/>
                <a:ea typeface="Cambria" pitchFamily="34" charset="-122"/>
                <a:cs typeface="Cambria" pitchFamily="34" charset="-120"/>
              </a:rPr>
              <a:t>40,000+</a:t>
            </a:r>
            <a:endParaRPr lang="en-US" sz="5200" dirty="0"/>
          </a:p>
        </p:txBody>
      </p:sp>
      <p:sp>
        <p:nvSpPr>
          <p:cNvPr id="13" name="Text 11"/>
          <p:cNvSpPr txBox="1"/>
          <p:nvPr/>
        </p:nvSpPr>
        <p:spPr>
          <a:xfrm>
            <a:off x="8458200" y="3017520"/>
            <a:ext cx="2834640" cy="8229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new CVEs published in one year</a:t>
            </a:r>
            <a:endParaRPr lang="en-US" sz="1800" dirty="0"/>
          </a:p>
        </p:txBody>
      </p:sp>
      <p:sp>
        <p:nvSpPr>
          <p:cNvPr id="14" name="Text 12"/>
          <p:cNvSpPr txBox="1"/>
          <p:nvPr/>
        </p:nvSpPr>
        <p:spPr>
          <a:xfrm>
            <a:off x="8458200" y="4023360"/>
            <a:ext cx="2834640" cy="32004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NVD, 2024</a:t>
            </a:r>
            <a:endParaRPr lang="en-US" sz="1100" dirty="0"/>
          </a:p>
        </p:txBody>
      </p:sp>
      <p:sp>
        <p:nvSpPr>
          <p:cNvPr id="15" name="Text 13"/>
          <p:cNvSpPr txBox="1"/>
          <p:nvPr/>
        </p:nvSpPr>
        <p:spPr>
          <a:xfrm>
            <a:off x="548640" y="4983480"/>
            <a:ext cx="11064240" cy="91440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Every web app is exposed. </a:t>
            </a:r>
            <a:pPr indent="0" marL="0">
              <a:buNone/>
            </a:pPr>
            <a:r>
              <a:rPr lang="en-US" sz="1800" dirty="0">
                <a:solidFill>
                  <a:schemeClr val="tx1"/>
                </a:solidFill>
                <a:latin typeface="Calibri" pitchFamily="34" charset="0"/>
                <a:ea typeface="Calibri" pitchFamily="34" charset="-122"/>
                <a:cs typeface="Calibri" pitchFamily="34" charset="-120"/>
              </a:rPr>
              <a:t>Automated bots scan the whole internet continuously. A new server with SSH open usually gets its first login attempts within minutes, not days.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2148840"/>
            <a:ext cx="2468880" cy="201168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02</a:t>
            </a:r>
            <a:endParaRPr lang="en-US" sz="13000" dirty="0"/>
          </a:p>
        </p:txBody>
      </p:sp>
      <p:sp>
        <p:nvSpPr>
          <p:cNvPr id="3" name="Text 1"/>
          <p:cNvSpPr txBox="1"/>
          <p:nvPr/>
        </p:nvSpPr>
        <p:spPr>
          <a:xfrm>
            <a:off x="3474720" y="2240280"/>
            <a:ext cx="5943600" cy="365760"/>
          </a:xfrm>
          <a:prstGeom prst="rect">
            <a:avLst/>
          </a:prstGeom>
          <a:noFill/>
          <a:ln/>
        </p:spPr>
        <p:txBody>
          <a:bodyPr wrap="square" lIns="0" tIns="0" rIns="0" bIns="0" rtlCol="0" anchor="t"/>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PART 02 OF 06</a:t>
            </a:r>
            <a:endParaRPr lang="en-US" sz="1400" dirty="0"/>
          </a:p>
        </p:txBody>
      </p:sp>
      <p:sp>
        <p:nvSpPr>
          <p:cNvPr id="4" name="Text 0"/>
          <p:cNvSpPr/>
          <p:nvPr>
            <p:ph idx="100" type="title" hasCustomPrompt="1"/>
          </p:nvPr>
        </p:nvSpPr>
        <p:spPr>
          <a:xfrm>
            <a:off x="3474720" y="2651760"/>
            <a:ext cx="5943600"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Core concepts</a:t>
            </a:r>
            <a:endParaRPr lang="en-US" sz="4400" dirty="0"/>
          </a:p>
        </p:txBody>
      </p:sp>
      <p:sp>
        <p:nvSpPr>
          <p:cNvPr id="5" name="Text 0"/>
          <p:cNvSpPr/>
          <p:nvPr>
            <p:ph idx="101" type="body" hasCustomPrompt="1"/>
          </p:nvPr>
        </p:nvSpPr>
        <p:spPr>
          <a:xfrm>
            <a:off x="3474720" y="3611880"/>
            <a:ext cx="5943600" cy="731520"/>
          </a:xfrm>
          <a:prstGeom prst="rect">
            <a:avLst/>
          </a:prstGeom>
          <a:noFill/>
          <a:ln/>
        </p:spPr>
        <p:txBody>
          <a:bodyPr wrap="square" lIns="0" tIns="0" rIns="0" bIns="0" rtlCol="0" anchor="t"/>
          <a:lstStyle/>
          <a:p>
            <a:pPr algn="l" indent="0" marL="0">
              <a:buNone/>
            </a:pPr>
            <a:r>
              <a:rPr lang="en-US" sz="2000" dirty="0">
                <a:solidFill>
                  <a:schemeClr val="accent1"/>
                </a:solidFill>
                <a:latin typeface="Calibri" pitchFamily="34" charset="0"/>
                <a:ea typeface="Calibri" pitchFamily="34" charset="-122"/>
                <a:cs typeface="Calibri" pitchFamily="34" charset="-120"/>
              </a:rPr>
              <a:t>The vocabulary we will use in every lab</a:t>
            </a:r>
            <a:endParaRPr lang="en-US" sz="2000" dirty="0"/>
          </a:p>
        </p:txBody>
      </p:sp>
      <p:sp>
        <p:nvSpPr>
          <p:cNvPr id="6" name="Lock circle"/>
          <p:cNvSpPr/>
          <p:nvPr/>
        </p:nvSpPr>
        <p:spPr>
          <a:xfrm>
            <a:off x="9784080" y="2423160"/>
            <a:ext cx="1645920" cy="1645920"/>
          </a:xfrm>
          <a:prstGeom prst="ellipse">
            <a:avLst/>
          </a:prstGeom>
          <a:solidFill>
            <a:schemeClr val="accent4"/>
          </a:solidFill>
          <a:ln/>
        </p:spPr>
      </p:sp>
      <p:pic>
        <p:nvPicPr>
          <p:cNvPr id="7" name="Lock icon" descr="Lock">    </p:cNvPr>
          <p:cNvPicPr>
            <a:picLocks noChangeAspect="1"/>
          </p:cNvPicPr>
          <p:nvPr/>
        </p:nvPicPr>
        <p:blipFill>
          <a:blip r:embed="rId1"/>
          <a:stretch>
            <a:fillRect/>
          </a:stretch>
        </p:blipFill>
        <p:spPr>
          <a:xfrm>
            <a:off x="10195560" y="2834640"/>
            <a:ext cx="822960" cy="822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CIA triad</a:t>
            </a:r>
            <a:endParaRPr lang="en-US" sz="3600" dirty="0"/>
          </a:p>
        </p:txBody>
      </p:sp>
      <p:sp>
        <p:nvSpPr>
          <p:cNvPr id="3" name="Confidentiality card"/>
          <p:cNvSpPr/>
          <p:nvPr/>
        </p:nvSpPr>
        <p:spPr>
          <a:xfrm>
            <a:off x="548640" y="1463040"/>
            <a:ext cx="3474720" cy="4480560"/>
          </a:xfrm>
          <a:prstGeom prst="roundRect">
            <a:avLst>
              <a:gd name="adj" fmla="val 3158"/>
            </a:avLst>
          </a:prstGeom>
          <a:solidFill>
            <a:schemeClr val="bg2"/>
          </a:solidFill>
          <a:ln/>
        </p:spPr>
      </p:sp>
      <p:sp>
        <p:nvSpPr>
          <p:cNvPr id="4" name="Confidentiality circle"/>
          <p:cNvSpPr/>
          <p:nvPr/>
        </p:nvSpPr>
        <p:spPr>
          <a:xfrm>
            <a:off x="868680" y="1737360"/>
            <a:ext cx="868680" cy="868680"/>
          </a:xfrm>
          <a:prstGeom prst="ellipse">
            <a:avLst/>
          </a:prstGeom>
          <a:solidFill>
            <a:schemeClr val="accent4"/>
          </a:solidFill>
          <a:ln/>
        </p:spPr>
      </p:sp>
      <p:pic>
        <p:nvPicPr>
          <p:cNvPr id="5" name="Confidentiality icon" descr="Confidentiality">    </p:cNvPr>
          <p:cNvPicPr>
            <a:picLocks noChangeAspect="1"/>
          </p:cNvPicPr>
          <p:nvPr/>
        </p:nvPicPr>
        <p:blipFill>
          <a:blip r:embed="rId1"/>
          <a:stretch>
            <a:fillRect/>
          </a:stretch>
        </p:blipFill>
        <p:spPr>
          <a:xfrm>
            <a:off x="1085850" y="1954530"/>
            <a:ext cx="434340" cy="434340"/>
          </a:xfrm>
          <a:prstGeom prst="rect">
            <a:avLst/>
          </a:prstGeom>
        </p:spPr>
      </p:pic>
      <p:sp>
        <p:nvSpPr>
          <p:cNvPr id="6" name="Text 3"/>
          <p:cNvSpPr txBox="1"/>
          <p:nvPr/>
        </p:nvSpPr>
        <p:spPr>
          <a:xfrm>
            <a:off x="868680" y="2743200"/>
            <a:ext cx="283464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Confidentiality</a:t>
            </a:r>
            <a:endParaRPr lang="en-US" sz="2400" dirty="0"/>
          </a:p>
        </p:txBody>
      </p:sp>
      <p:sp>
        <p:nvSpPr>
          <p:cNvPr id="7" name="Text 4"/>
          <p:cNvSpPr txBox="1"/>
          <p:nvPr/>
        </p:nvSpPr>
        <p:spPr>
          <a:xfrm>
            <a:off x="868680" y="3246120"/>
            <a:ext cx="283464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Only authorized people can read the data.</a:t>
            </a:r>
            <a:endParaRPr lang="en-US" sz="1600" dirty="0"/>
          </a:p>
        </p:txBody>
      </p:sp>
      <p:sp>
        <p:nvSpPr>
          <p:cNvPr id="8" name="Text 5"/>
          <p:cNvSpPr txBox="1"/>
          <p:nvPr/>
        </p:nvSpPr>
        <p:spPr>
          <a:xfrm>
            <a:off x="868680" y="4114800"/>
            <a:ext cx="29260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accent5"/>
                </a:solidFill>
                <a:latin typeface="Calibri" pitchFamily="34" charset="0"/>
                <a:ea typeface="Calibri" pitchFamily="34" charset="-122"/>
                <a:cs typeface="Calibri" pitchFamily="34" charset="-120"/>
              </a:rPr>
              <a:t>Attack: stolen database, sniffed password</a:t>
            </a:r>
            <a:endParaRPr lang="en-US" sz="1500" dirty="0"/>
          </a:p>
          <a:p>
            <a:pPr marL="342900" indent="-342900">
              <a:buSzPct val="100000"/>
              <a:buChar char="•"/>
            </a:pPr>
            <a:r>
              <a:rPr lang="en-US" sz="1500" dirty="0">
                <a:solidFill>
                  <a:schemeClr val="accent5"/>
                </a:solidFill>
                <a:latin typeface="Calibri" pitchFamily="34" charset="0"/>
                <a:ea typeface="Calibri" pitchFamily="34" charset="-122"/>
                <a:cs typeface="Calibri" pitchFamily="34" charset="-120"/>
              </a:rPr>
              <a:t>Defense: encryption (TLS), access control</a:t>
            </a:r>
            <a:endParaRPr lang="en-US" sz="1500" dirty="0"/>
          </a:p>
        </p:txBody>
      </p:sp>
      <p:sp>
        <p:nvSpPr>
          <p:cNvPr id="9" name="Integrity card"/>
          <p:cNvSpPr/>
          <p:nvPr/>
        </p:nvSpPr>
        <p:spPr>
          <a:xfrm>
            <a:off x="4343400" y="1463040"/>
            <a:ext cx="3474720" cy="4480560"/>
          </a:xfrm>
          <a:prstGeom prst="roundRect">
            <a:avLst>
              <a:gd name="adj" fmla="val 3158"/>
            </a:avLst>
          </a:prstGeom>
          <a:solidFill>
            <a:schemeClr val="bg2"/>
          </a:solidFill>
          <a:ln/>
        </p:spPr>
      </p:sp>
      <p:sp>
        <p:nvSpPr>
          <p:cNvPr id="10" name="Integrity circle"/>
          <p:cNvSpPr/>
          <p:nvPr/>
        </p:nvSpPr>
        <p:spPr>
          <a:xfrm>
            <a:off x="4663440" y="1737360"/>
            <a:ext cx="868680" cy="868680"/>
          </a:xfrm>
          <a:prstGeom prst="ellipse">
            <a:avLst/>
          </a:prstGeom>
          <a:solidFill>
            <a:schemeClr val="accent2"/>
          </a:solidFill>
          <a:ln/>
        </p:spPr>
      </p:sp>
      <p:pic>
        <p:nvPicPr>
          <p:cNvPr id="11" name="Integrity icon" descr="Integrity">    </p:cNvPr>
          <p:cNvPicPr>
            <a:picLocks noChangeAspect="1"/>
          </p:cNvPicPr>
          <p:nvPr/>
        </p:nvPicPr>
        <p:blipFill>
          <a:blip r:embed="rId2"/>
          <a:stretch>
            <a:fillRect/>
          </a:stretch>
        </p:blipFill>
        <p:spPr>
          <a:xfrm>
            <a:off x="4880610" y="1954530"/>
            <a:ext cx="434340" cy="434340"/>
          </a:xfrm>
          <a:prstGeom prst="rect">
            <a:avLst/>
          </a:prstGeom>
        </p:spPr>
      </p:pic>
      <p:sp>
        <p:nvSpPr>
          <p:cNvPr id="12" name="Text 8"/>
          <p:cNvSpPr txBox="1"/>
          <p:nvPr/>
        </p:nvSpPr>
        <p:spPr>
          <a:xfrm>
            <a:off x="4663440" y="2743200"/>
            <a:ext cx="283464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Integrity</a:t>
            </a:r>
            <a:endParaRPr lang="en-US" sz="2400" dirty="0"/>
          </a:p>
        </p:txBody>
      </p:sp>
      <p:sp>
        <p:nvSpPr>
          <p:cNvPr id="13" name="Text 9"/>
          <p:cNvSpPr txBox="1"/>
          <p:nvPr/>
        </p:nvSpPr>
        <p:spPr>
          <a:xfrm>
            <a:off x="4663440" y="3246120"/>
            <a:ext cx="283464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Data is not changed without authorization.</a:t>
            </a:r>
            <a:endParaRPr lang="en-US" sz="1600" dirty="0"/>
          </a:p>
        </p:txBody>
      </p:sp>
      <p:sp>
        <p:nvSpPr>
          <p:cNvPr id="14" name="Text 10"/>
          <p:cNvSpPr txBox="1"/>
          <p:nvPr/>
        </p:nvSpPr>
        <p:spPr>
          <a:xfrm>
            <a:off x="4663440" y="4114800"/>
            <a:ext cx="29260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accent5"/>
                </a:solidFill>
                <a:latin typeface="Calibri" pitchFamily="34" charset="0"/>
                <a:ea typeface="Calibri" pitchFamily="34" charset="-122"/>
                <a:cs typeface="Calibri" pitchFamily="34" charset="-120"/>
              </a:rPr>
              <a:t>Attack: modified price in a request, defaced site</a:t>
            </a:r>
            <a:endParaRPr lang="en-US" sz="1500" dirty="0"/>
          </a:p>
          <a:p>
            <a:pPr marL="342900" indent="-342900">
              <a:buSzPct val="100000"/>
              <a:buChar char="•"/>
            </a:pPr>
            <a:r>
              <a:rPr lang="en-US" sz="1500" dirty="0">
                <a:solidFill>
                  <a:schemeClr val="accent5"/>
                </a:solidFill>
                <a:latin typeface="Calibri" pitchFamily="34" charset="0"/>
                <a:ea typeface="Calibri" pitchFamily="34" charset="-122"/>
                <a:cs typeface="Calibri" pitchFamily="34" charset="-120"/>
              </a:rPr>
              <a:t>Defense: validation, hashes, signatures</a:t>
            </a:r>
            <a:endParaRPr lang="en-US" sz="1500" dirty="0"/>
          </a:p>
        </p:txBody>
      </p:sp>
      <p:sp>
        <p:nvSpPr>
          <p:cNvPr id="15" name="Availability card"/>
          <p:cNvSpPr/>
          <p:nvPr/>
        </p:nvSpPr>
        <p:spPr>
          <a:xfrm>
            <a:off x="8138160" y="1463040"/>
            <a:ext cx="3474720" cy="4480560"/>
          </a:xfrm>
          <a:prstGeom prst="roundRect">
            <a:avLst>
              <a:gd name="adj" fmla="val 3158"/>
            </a:avLst>
          </a:prstGeom>
          <a:solidFill>
            <a:schemeClr val="bg2"/>
          </a:solidFill>
          <a:ln/>
        </p:spPr>
      </p:sp>
      <p:sp>
        <p:nvSpPr>
          <p:cNvPr id="16" name="Availability circle"/>
          <p:cNvSpPr/>
          <p:nvPr/>
        </p:nvSpPr>
        <p:spPr>
          <a:xfrm>
            <a:off x="8458200" y="1737360"/>
            <a:ext cx="868680" cy="868680"/>
          </a:xfrm>
          <a:prstGeom prst="ellipse">
            <a:avLst/>
          </a:prstGeom>
          <a:solidFill>
            <a:schemeClr val="accent1"/>
          </a:solidFill>
          <a:ln/>
        </p:spPr>
      </p:sp>
      <p:pic>
        <p:nvPicPr>
          <p:cNvPr id="17" name="Availability icon" descr="Availability">    </p:cNvPr>
          <p:cNvPicPr>
            <a:picLocks noChangeAspect="1"/>
          </p:cNvPicPr>
          <p:nvPr/>
        </p:nvPicPr>
        <p:blipFill>
          <a:blip r:embed="rId3"/>
          <a:stretch>
            <a:fillRect/>
          </a:stretch>
        </p:blipFill>
        <p:spPr>
          <a:xfrm>
            <a:off x="8675370" y="1954530"/>
            <a:ext cx="434340" cy="434340"/>
          </a:xfrm>
          <a:prstGeom prst="rect">
            <a:avLst/>
          </a:prstGeom>
        </p:spPr>
      </p:pic>
      <p:sp>
        <p:nvSpPr>
          <p:cNvPr id="18" name="Text 13"/>
          <p:cNvSpPr txBox="1"/>
          <p:nvPr/>
        </p:nvSpPr>
        <p:spPr>
          <a:xfrm>
            <a:off x="8458200" y="2743200"/>
            <a:ext cx="283464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Availability</a:t>
            </a:r>
            <a:endParaRPr lang="en-US" sz="2400" dirty="0"/>
          </a:p>
        </p:txBody>
      </p:sp>
      <p:sp>
        <p:nvSpPr>
          <p:cNvPr id="19" name="Text 14"/>
          <p:cNvSpPr txBox="1"/>
          <p:nvPr/>
        </p:nvSpPr>
        <p:spPr>
          <a:xfrm>
            <a:off x="8458200" y="3246120"/>
            <a:ext cx="283464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The system works when users need it.</a:t>
            </a:r>
            <a:endParaRPr lang="en-US" sz="1600" dirty="0"/>
          </a:p>
        </p:txBody>
      </p:sp>
      <p:sp>
        <p:nvSpPr>
          <p:cNvPr id="20" name="Text 15"/>
          <p:cNvSpPr txBox="1"/>
          <p:nvPr/>
        </p:nvSpPr>
        <p:spPr>
          <a:xfrm>
            <a:off x="8458200" y="4114800"/>
            <a:ext cx="292608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accent5"/>
                </a:solidFill>
                <a:latin typeface="Calibri" pitchFamily="34" charset="0"/>
                <a:ea typeface="Calibri" pitchFamily="34" charset="-122"/>
                <a:cs typeface="Calibri" pitchFamily="34" charset="-120"/>
              </a:rPr>
              <a:t>Attack: DoS/DDoS, ransomware</a:t>
            </a:r>
            <a:endParaRPr lang="en-US" sz="1500" dirty="0"/>
          </a:p>
          <a:p>
            <a:pPr marL="342900" indent="-342900">
              <a:buSzPct val="100000"/>
              <a:buChar char="•"/>
            </a:pPr>
            <a:r>
              <a:rPr lang="en-US" sz="1500" dirty="0">
                <a:solidFill>
                  <a:schemeClr val="accent5"/>
                </a:solidFill>
                <a:latin typeface="Calibri" pitchFamily="34" charset="0"/>
                <a:ea typeface="Calibri" pitchFamily="34" charset="-122"/>
                <a:cs typeface="Calibri" pitchFamily="34" charset="-120"/>
              </a:rPr>
              <a:t>Defense: rate limiting, backups, redundancy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Beyond CIA: who are you, and what may you do?</a:t>
            </a:r>
            <a:endParaRPr lang="en-US" sz="3600" dirty="0"/>
          </a:p>
        </p:txBody>
      </p:sp>
      <p:sp>
        <p:nvSpPr>
          <p:cNvPr id="3" name="Authentication circle"/>
          <p:cNvSpPr/>
          <p:nvPr/>
        </p:nvSpPr>
        <p:spPr>
          <a:xfrm>
            <a:off x="548640" y="1554480"/>
            <a:ext cx="914400" cy="914400"/>
          </a:xfrm>
          <a:prstGeom prst="ellipse">
            <a:avLst/>
          </a:prstGeom>
          <a:solidFill>
            <a:schemeClr val="tx2"/>
          </a:solidFill>
          <a:ln/>
        </p:spPr>
      </p:sp>
      <p:pic>
        <p:nvPicPr>
          <p:cNvPr id="4" name="Authentication icon" descr="Authentication">    </p:cNvPr>
          <p:cNvPicPr>
            <a:picLocks noChangeAspect="1"/>
          </p:cNvPicPr>
          <p:nvPr/>
        </p:nvPicPr>
        <p:blipFill>
          <a:blip r:embed="rId1"/>
          <a:stretch>
            <a:fillRect/>
          </a:stretch>
        </p:blipFill>
        <p:spPr>
          <a:xfrm>
            <a:off x="777240" y="1783080"/>
            <a:ext cx="457200" cy="457200"/>
          </a:xfrm>
          <a:prstGeom prst="rect">
            <a:avLst/>
          </a:prstGeom>
        </p:spPr>
      </p:pic>
      <p:sp>
        <p:nvSpPr>
          <p:cNvPr id="5" name="Text 2"/>
          <p:cNvSpPr txBox="1"/>
          <p:nvPr/>
        </p:nvSpPr>
        <p:spPr>
          <a:xfrm>
            <a:off x="1737360" y="1508760"/>
            <a:ext cx="420624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Authentication</a:t>
            </a:r>
            <a:endParaRPr lang="en-US" sz="2200" dirty="0"/>
          </a:p>
        </p:txBody>
      </p:sp>
      <p:sp>
        <p:nvSpPr>
          <p:cNvPr id="6" name="Text 3"/>
          <p:cNvSpPr txBox="1"/>
          <p:nvPr/>
        </p:nvSpPr>
        <p:spPr>
          <a:xfrm>
            <a:off x="1737360" y="2011680"/>
            <a:ext cx="4206240" cy="4572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Proving who you are</a:t>
            </a:r>
            <a:endParaRPr lang="en-US" sz="1600" dirty="0"/>
          </a:p>
        </p:txBody>
      </p:sp>
      <p:sp>
        <p:nvSpPr>
          <p:cNvPr id="7" name="Text 4"/>
          <p:cNvSpPr txBox="1"/>
          <p:nvPr/>
        </p:nvSpPr>
        <p:spPr>
          <a:xfrm>
            <a:off x="6126480" y="1737360"/>
            <a:ext cx="5486400" cy="548640"/>
          </a:xfrm>
          <a:prstGeom prst="rect">
            <a:avLst/>
          </a:prstGeom>
          <a:noFill/>
          <a:ln/>
        </p:spPr>
        <p:txBody>
          <a:bodyPr wrap="square" lIns="0" tIns="0" rIns="0" bIns="0" rtlCol="0" anchor="ctr"/>
          <a:lstStyle/>
          <a:p>
            <a:pPr indent="0" marL="0">
              <a:buNone/>
            </a:pPr>
            <a:r>
              <a:rPr lang="en-US" sz="1600" i="1" dirty="0">
                <a:solidFill>
                  <a:schemeClr val="accent5"/>
                </a:solidFill>
                <a:latin typeface="Calibri" pitchFamily="34" charset="0"/>
                <a:ea typeface="Calibri" pitchFamily="34" charset="-122"/>
                <a:cs typeface="Calibri" pitchFamily="34" charset="-120"/>
              </a:rPr>
              <a:t>Passwords, keys, MFA, certificates</a:t>
            </a:r>
            <a:endParaRPr lang="en-US" sz="1600" dirty="0"/>
          </a:p>
        </p:txBody>
      </p:sp>
      <p:sp>
        <p:nvSpPr>
          <p:cNvPr id="8" name="Authorization circle"/>
          <p:cNvSpPr/>
          <p:nvPr/>
        </p:nvSpPr>
        <p:spPr>
          <a:xfrm>
            <a:off x="548640" y="2971800"/>
            <a:ext cx="914400" cy="914400"/>
          </a:xfrm>
          <a:prstGeom prst="ellipse">
            <a:avLst/>
          </a:prstGeom>
          <a:solidFill>
            <a:schemeClr val="tx2"/>
          </a:solidFill>
          <a:ln/>
        </p:spPr>
      </p:sp>
      <p:pic>
        <p:nvPicPr>
          <p:cNvPr id="9" name="Authorization icon" descr="Authorization">    </p:cNvPr>
          <p:cNvPicPr>
            <a:picLocks noChangeAspect="1"/>
          </p:cNvPicPr>
          <p:nvPr/>
        </p:nvPicPr>
        <p:blipFill>
          <a:blip r:embed="rId2"/>
          <a:stretch>
            <a:fillRect/>
          </a:stretch>
        </p:blipFill>
        <p:spPr>
          <a:xfrm>
            <a:off x="777240" y="3200400"/>
            <a:ext cx="457200" cy="457200"/>
          </a:xfrm>
          <a:prstGeom prst="rect">
            <a:avLst/>
          </a:prstGeom>
        </p:spPr>
      </p:pic>
      <p:sp>
        <p:nvSpPr>
          <p:cNvPr id="10" name="Text 6"/>
          <p:cNvSpPr txBox="1"/>
          <p:nvPr/>
        </p:nvSpPr>
        <p:spPr>
          <a:xfrm>
            <a:off x="1737360" y="2926080"/>
            <a:ext cx="420624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Authorization</a:t>
            </a:r>
            <a:endParaRPr lang="en-US" sz="2200" dirty="0"/>
          </a:p>
        </p:txBody>
      </p:sp>
      <p:sp>
        <p:nvSpPr>
          <p:cNvPr id="11" name="Text 7"/>
          <p:cNvSpPr txBox="1"/>
          <p:nvPr/>
        </p:nvSpPr>
        <p:spPr>
          <a:xfrm>
            <a:off x="1737360" y="3429000"/>
            <a:ext cx="4206240" cy="4572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Deciding what you are allowed to do</a:t>
            </a:r>
            <a:endParaRPr lang="en-US" sz="1600" dirty="0"/>
          </a:p>
        </p:txBody>
      </p:sp>
      <p:sp>
        <p:nvSpPr>
          <p:cNvPr id="12" name="Text 8"/>
          <p:cNvSpPr txBox="1"/>
          <p:nvPr/>
        </p:nvSpPr>
        <p:spPr>
          <a:xfrm>
            <a:off x="6126480" y="3154680"/>
            <a:ext cx="5486400" cy="548640"/>
          </a:xfrm>
          <a:prstGeom prst="rect">
            <a:avLst/>
          </a:prstGeom>
          <a:noFill/>
          <a:ln/>
        </p:spPr>
        <p:txBody>
          <a:bodyPr wrap="square" lIns="0" tIns="0" rIns="0" bIns="0" rtlCol="0" anchor="ctr"/>
          <a:lstStyle/>
          <a:p>
            <a:pPr indent="0" marL="0">
              <a:buNone/>
            </a:pPr>
            <a:r>
              <a:rPr lang="en-US" sz="1600" i="1" dirty="0">
                <a:solidFill>
                  <a:schemeClr val="accent5"/>
                </a:solidFill>
                <a:latin typeface="Calibri" pitchFamily="34" charset="0"/>
                <a:ea typeface="Calibri" pitchFamily="34" charset="-122"/>
                <a:cs typeface="Calibri" pitchFamily="34" charset="-120"/>
              </a:rPr>
              <a:t>Roles, permissions, ownership checks</a:t>
            </a:r>
            <a:endParaRPr lang="en-US" sz="1600" dirty="0"/>
          </a:p>
        </p:txBody>
      </p:sp>
      <p:sp>
        <p:nvSpPr>
          <p:cNvPr id="13" name="Accounting / Auditing circle"/>
          <p:cNvSpPr/>
          <p:nvPr/>
        </p:nvSpPr>
        <p:spPr>
          <a:xfrm>
            <a:off x="548640" y="4389120"/>
            <a:ext cx="914400" cy="914400"/>
          </a:xfrm>
          <a:prstGeom prst="ellipse">
            <a:avLst/>
          </a:prstGeom>
          <a:solidFill>
            <a:schemeClr val="tx2"/>
          </a:solidFill>
          <a:ln/>
        </p:spPr>
      </p:sp>
      <p:pic>
        <p:nvPicPr>
          <p:cNvPr id="14" name="Accounting / Auditing icon" descr="Accounting / Auditing">    </p:cNvPr>
          <p:cNvPicPr>
            <a:picLocks noChangeAspect="1"/>
          </p:cNvPicPr>
          <p:nvPr/>
        </p:nvPicPr>
        <p:blipFill>
          <a:blip r:embed="rId3"/>
          <a:stretch>
            <a:fillRect/>
          </a:stretch>
        </p:blipFill>
        <p:spPr>
          <a:xfrm>
            <a:off x="777240" y="4617720"/>
            <a:ext cx="457200" cy="457200"/>
          </a:xfrm>
          <a:prstGeom prst="rect">
            <a:avLst/>
          </a:prstGeom>
        </p:spPr>
      </p:pic>
      <p:sp>
        <p:nvSpPr>
          <p:cNvPr id="15" name="Text 10"/>
          <p:cNvSpPr txBox="1"/>
          <p:nvPr/>
        </p:nvSpPr>
        <p:spPr>
          <a:xfrm>
            <a:off x="1737360" y="4343400"/>
            <a:ext cx="420624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Accounting / Auditing</a:t>
            </a:r>
            <a:endParaRPr lang="en-US" sz="2200" dirty="0"/>
          </a:p>
        </p:txBody>
      </p:sp>
      <p:sp>
        <p:nvSpPr>
          <p:cNvPr id="16" name="Text 11"/>
          <p:cNvSpPr txBox="1"/>
          <p:nvPr/>
        </p:nvSpPr>
        <p:spPr>
          <a:xfrm>
            <a:off x="1737360" y="4846320"/>
            <a:ext cx="4206240" cy="4572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Recording who did what, and when</a:t>
            </a:r>
            <a:endParaRPr lang="en-US" sz="1600" dirty="0"/>
          </a:p>
        </p:txBody>
      </p:sp>
      <p:sp>
        <p:nvSpPr>
          <p:cNvPr id="17" name="Text 12"/>
          <p:cNvSpPr txBox="1"/>
          <p:nvPr/>
        </p:nvSpPr>
        <p:spPr>
          <a:xfrm>
            <a:off x="6126480" y="4572000"/>
            <a:ext cx="5486400" cy="548640"/>
          </a:xfrm>
          <a:prstGeom prst="rect">
            <a:avLst/>
          </a:prstGeom>
          <a:noFill/>
          <a:ln/>
        </p:spPr>
        <p:txBody>
          <a:bodyPr wrap="square" lIns="0" tIns="0" rIns="0" bIns="0" rtlCol="0" anchor="ctr"/>
          <a:lstStyle/>
          <a:p>
            <a:pPr indent="0" marL="0">
              <a:buNone/>
            </a:pPr>
            <a:r>
              <a:rPr lang="en-US" sz="1600" i="1" dirty="0">
                <a:solidFill>
                  <a:schemeClr val="accent5"/>
                </a:solidFill>
                <a:latin typeface="Calibri" pitchFamily="34" charset="0"/>
                <a:ea typeface="Calibri" pitchFamily="34" charset="-122"/>
                <a:cs typeface="Calibri" pitchFamily="34" charset="-120"/>
              </a:rPr>
              <a:t>Logs, audit trails, monitoring</a:t>
            </a:r>
            <a:endParaRPr lang="en-US" sz="1600" dirty="0"/>
          </a:p>
        </p:txBody>
      </p:sp>
      <p:sp>
        <p:nvSpPr>
          <p:cNvPr id="18" name="Key point card"/>
          <p:cNvSpPr/>
          <p:nvPr/>
        </p:nvSpPr>
        <p:spPr>
          <a:xfrm>
            <a:off x="548640" y="5623560"/>
            <a:ext cx="11064240" cy="640080"/>
          </a:xfrm>
          <a:prstGeom prst="roundRect">
            <a:avLst>
              <a:gd name="adj" fmla="val 17143"/>
            </a:avLst>
          </a:prstGeom>
          <a:solidFill>
            <a:schemeClr val="bg2"/>
          </a:solidFill>
          <a:ln/>
        </p:spPr>
      </p:sp>
      <p:sp>
        <p:nvSpPr>
          <p:cNvPr id="19" name="Text 14"/>
          <p:cNvSpPr txBox="1"/>
          <p:nvPr/>
        </p:nvSpPr>
        <p:spPr>
          <a:xfrm>
            <a:off x="822960" y="5623560"/>
            <a:ext cx="10607040" cy="64008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Common mistake: </a:t>
            </a:r>
            <a:pPr indent="0" marL="0">
              <a:buNone/>
            </a:pPr>
            <a:r>
              <a:rPr lang="en-US" sz="1600" dirty="0">
                <a:solidFill>
                  <a:schemeClr val="tx1"/>
                </a:solidFill>
                <a:latin typeface="Calibri" pitchFamily="34" charset="0"/>
                <a:ea typeface="Calibri" pitchFamily="34" charset="-122"/>
                <a:cs typeface="Calibri" pitchFamily="34" charset="-120"/>
              </a:rPr>
              <a:t>checking that a user is logged in (authentication) but not that the record belongs to them (authorization).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Threat, vulnerability, risk</a:t>
            </a:r>
            <a:endParaRPr lang="en-US" sz="3600" dirty="0"/>
          </a:p>
        </p:txBody>
      </p:sp>
      <p:sp>
        <p:nvSpPr>
          <p:cNvPr id="3" name="Asset header"/>
          <p:cNvSpPr/>
          <p:nvPr/>
        </p:nvSpPr>
        <p:spPr>
          <a:xfrm>
            <a:off x="548640" y="1463040"/>
            <a:ext cx="2560320" cy="685800"/>
          </a:xfrm>
          <a:prstGeom prst="roundRect">
            <a:avLst>
              <a:gd name="adj" fmla="val 16000"/>
            </a:avLst>
          </a:prstGeom>
          <a:solidFill>
            <a:schemeClr val="accent4"/>
          </a:solidFill>
          <a:ln/>
        </p:spPr>
      </p:sp>
      <p:sp>
        <p:nvSpPr>
          <p:cNvPr id="4" name="Text 2"/>
          <p:cNvSpPr txBox="1"/>
          <p:nvPr/>
        </p:nvSpPr>
        <p:spPr>
          <a:xfrm>
            <a:off x="548640" y="1463040"/>
            <a:ext cx="2560320" cy="68580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Asset</a:t>
            </a:r>
            <a:endParaRPr lang="en-US" sz="2200" dirty="0"/>
          </a:p>
        </p:txBody>
      </p:sp>
      <p:sp>
        <p:nvSpPr>
          <p:cNvPr id="5" name="Asset card"/>
          <p:cNvSpPr/>
          <p:nvPr/>
        </p:nvSpPr>
        <p:spPr>
          <a:xfrm>
            <a:off x="548640" y="2286000"/>
            <a:ext cx="2560320" cy="2011680"/>
          </a:xfrm>
          <a:prstGeom prst="roundRect">
            <a:avLst>
              <a:gd name="adj" fmla="val 5455"/>
            </a:avLst>
          </a:prstGeom>
          <a:solidFill>
            <a:schemeClr val="bg2"/>
          </a:solidFill>
          <a:ln/>
        </p:spPr>
      </p:sp>
      <p:sp>
        <p:nvSpPr>
          <p:cNvPr id="6" name="Text 4"/>
          <p:cNvSpPr txBox="1"/>
          <p:nvPr/>
        </p:nvSpPr>
        <p:spPr>
          <a:xfrm>
            <a:off x="777240" y="2468880"/>
            <a:ext cx="210312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What we protect</a:t>
            </a:r>
            <a:endParaRPr lang="en-US" sz="1700" dirty="0"/>
          </a:p>
        </p:txBody>
      </p:sp>
      <p:sp>
        <p:nvSpPr>
          <p:cNvPr id="7" name="Text 5"/>
          <p:cNvSpPr txBox="1"/>
          <p:nvPr/>
        </p:nvSpPr>
        <p:spPr>
          <a:xfrm>
            <a:off x="777240" y="3154680"/>
            <a:ext cx="2103120" cy="1005840"/>
          </a:xfrm>
          <a:prstGeom prst="rect">
            <a:avLst/>
          </a:prstGeom>
          <a:noFill/>
          <a:ln/>
        </p:spPr>
        <p:txBody>
          <a:bodyPr wrap="square" lIns="0" tIns="0" rIns="0" bIns="0" rtlCol="0" anchor="t"/>
          <a:lstStyle/>
          <a:p>
            <a:pPr indent="0" marL="0">
              <a:buNone/>
            </a:pPr>
            <a:r>
              <a:rPr lang="en-US" sz="1500" i="1" dirty="0">
                <a:solidFill>
                  <a:schemeClr val="accent5"/>
                </a:solidFill>
                <a:latin typeface="Calibri" pitchFamily="34" charset="0"/>
                <a:ea typeface="Calibri" pitchFamily="34" charset="-122"/>
                <a:cs typeface="Calibri" pitchFamily="34" charset="-120"/>
              </a:rPr>
              <a:t>e.g. User database, server, reputation</a:t>
            </a:r>
            <a:endParaRPr lang="en-US" sz="1500" dirty="0"/>
          </a:p>
        </p:txBody>
      </p:sp>
      <p:sp>
        <p:nvSpPr>
          <p:cNvPr id="8" name="Vulnerability header"/>
          <p:cNvSpPr/>
          <p:nvPr/>
        </p:nvSpPr>
        <p:spPr>
          <a:xfrm>
            <a:off x="3383280" y="1463040"/>
            <a:ext cx="2560320" cy="685800"/>
          </a:xfrm>
          <a:prstGeom prst="roundRect">
            <a:avLst>
              <a:gd name="adj" fmla="val 16000"/>
            </a:avLst>
          </a:prstGeom>
          <a:solidFill>
            <a:schemeClr val="accent1"/>
          </a:solidFill>
          <a:ln/>
        </p:spPr>
      </p:sp>
      <p:sp>
        <p:nvSpPr>
          <p:cNvPr id="9" name="Text 7"/>
          <p:cNvSpPr txBox="1"/>
          <p:nvPr/>
        </p:nvSpPr>
        <p:spPr>
          <a:xfrm>
            <a:off x="3383280" y="1463040"/>
            <a:ext cx="2560320" cy="68580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Vulnerability</a:t>
            </a:r>
            <a:endParaRPr lang="en-US" sz="2200" dirty="0"/>
          </a:p>
        </p:txBody>
      </p:sp>
      <p:sp>
        <p:nvSpPr>
          <p:cNvPr id="10" name="Vulnerability card"/>
          <p:cNvSpPr/>
          <p:nvPr/>
        </p:nvSpPr>
        <p:spPr>
          <a:xfrm>
            <a:off x="3383280" y="2286000"/>
            <a:ext cx="2560320" cy="2011680"/>
          </a:xfrm>
          <a:prstGeom prst="roundRect">
            <a:avLst>
              <a:gd name="adj" fmla="val 5455"/>
            </a:avLst>
          </a:prstGeom>
          <a:solidFill>
            <a:schemeClr val="bg2"/>
          </a:solidFill>
          <a:ln/>
        </p:spPr>
      </p:sp>
      <p:sp>
        <p:nvSpPr>
          <p:cNvPr id="11" name="Text 9"/>
          <p:cNvSpPr txBox="1"/>
          <p:nvPr/>
        </p:nvSpPr>
        <p:spPr>
          <a:xfrm>
            <a:off x="3611880" y="2468880"/>
            <a:ext cx="210312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A weakness</a:t>
            </a:r>
            <a:endParaRPr lang="en-US" sz="1700" dirty="0"/>
          </a:p>
        </p:txBody>
      </p:sp>
      <p:sp>
        <p:nvSpPr>
          <p:cNvPr id="12" name="Text 10"/>
          <p:cNvSpPr txBox="1"/>
          <p:nvPr/>
        </p:nvSpPr>
        <p:spPr>
          <a:xfrm>
            <a:off x="3611880" y="3154680"/>
            <a:ext cx="2103120" cy="1005840"/>
          </a:xfrm>
          <a:prstGeom prst="rect">
            <a:avLst/>
          </a:prstGeom>
          <a:noFill/>
          <a:ln/>
        </p:spPr>
        <p:txBody>
          <a:bodyPr wrap="square" lIns="0" tIns="0" rIns="0" bIns="0" rtlCol="0" anchor="t"/>
          <a:lstStyle/>
          <a:p>
            <a:pPr indent="0" marL="0">
              <a:buNone/>
            </a:pPr>
            <a:r>
              <a:rPr lang="en-US" sz="1500" i="1" dirty="0">
                <a:solidFill>
                  <a:schemeClr val="accent5"/>
                </a:solidFill>
                <a:latin typeface="Calibri" pitchFamily="34" charset="0"/>
                <a:ea typeface="Calibri" pitchFamily="34" charset="-122"/>
                <a:cs typeface="Calibri" pitchFamily="34" charset="-120"/>
              </a:rPr>
              <a:t>e.g. SSH open with password login allowed</a:t>
            </a:r>
            <a:endParaRPr lang="en-US" sz="1500" dirty="0"/>
          </a:p>
        </p:txBody>
      </p:sp>
      <p:sp>
        <p:nvSpPr>
          <p:cNvPr id="13" name="Threat header"/>
          <p:cNvSpPr/>
          <p:nvPr/>
        </p:nvSpPr>
        <p:spPr>
          <a:xfrm>
            <a:off x="6217920" y="1463040"/>
            <a:ext cx="2560320" cy="685800"/>
          </a:xfrm>
          <a:prstGeom prst="roundRect">
            <a:avLst>
              <a:gd name="adj" fmla="val 16000"/>
            </a:avLst>
          </a:prstGeom>
          <a:solidFill>
            <a:schemeClr val="accent3"/>
          </a:solidFill>
          <a:ln/>
        </p:spPr>
      </p:sp>
      <p:sp>
        <p:nvSpPr>
          <p:cNvPr id="14" name="Text 12"/>
          <p:cNvSpPr txBox="1"/>
          <p:nvPr/>
        </p:nvSpPr>
        <p:spPr>
          <a:xfrm>
            <a:off x="6217920" y="1463040"/>
            <a:ext cx="2560320" cy="68580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Threat</a:t>
            </a:r>
            <a:endParaRPr lang="en-US" sz="2200" dirty="0"/>
          </a:p>
        </p:txBody>
      </p:sp>
      <p:sp>
        <p:nvSpPr>
          <p:cNvPr id="15" name="Threat card"/>
          <p:cNvSpPr/>
          <p:nvPr/>
        </p:nvSpPr>
        <p:spPr>
          <a:xfrm>
            <a:off x="6217920" y="2286000"/>
            <a:ext cx="2560320" cy="2011680"/>
          </a:xfrm>
          <a:prstGeom prst="roundRect">
            <a:avLst>
              <a:gd name="adj" fmla="val 5455"/>
            </a:avLst>
          </a:prstGeom>
          <a:solidFill>
            <a:schemeClr val="bg2"/>
          </a:solidFill>
          <a:ln/>
        </p:spPr>
      </p:sp>
      <p:sp>
        <p:nvSpPr>
          <p:cNvPr id="16" name="Text 14"/>
          <p:cNvSpPr txBox="1"/>
          <p:nvPr/>
        </p:nvSpPr>
        <p:spPr>
          <a:xfrm>
            <a:off x="6446520" y="2468880"/>
            <a:ext cx="210312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Who or what can exploit it</a:t>
            </a:r>
            <a:endParaRPr lang="en-US" sz="1700" dirty="0"/>
          </a:p>
        </p:txBody>
      </p:sp>
      <p:sp>
        <p:nvSpPr>
          <p:cNvPr id="17" name="Text 15"/>
          <p:cNvSpPr txBox="1"/>
          <p:nvPr/>
        </p:nvSpPr>
        <p:spPr>
          <a:xfrm>
            <a:off x="6446520" y="3154680"/>
            <a:ext cx="2103120" cy="1005840"/>
          </a:xfrm>
          <a:prstGeom prst="rect">
            <a:avLst/>
          </a:prstGeom>
          <a:noFill/>
          <a:ln/>
        </p:spPr>
        <p:txBody>
          <a:bodyPr wrap="square" lIns="0" tIns="0" rIns="0" bIns="0" rtlCol="0" anchor="t"/>
          <a:lstStyle/>
          <a:p>
            <a:pPr indent="0" marL="0">
              <a:buNone/>
            </a:pPr>
            <a:r>
              <a:rPr lang="en-US" sz="1500" i="1" dirty="0">
                <a:solidFill>
                  <a:schemeClr val="accent5"/>
                </a:solidFill>
                <a:latin typeface="Calibri" pitchFamily="34" charset="0"/>
                <a:ea typeface="Calibri" pitchFamily="34" charset="-122"/>
                <a:cs typeface="Calibri" pitchFamily="34" charset="-120"/>
              </a:rPr>
              <a:t>e.g. Bots trying common passwords</a:t>
            </a:r>
            <a:endParaRPr lang="en-US" sz="1500" dirty="0"/>
          </a:p>
        </p:txBody>
      </p:sp>
      <p:sp>
        <p:nvSpPr>
          <p:cNvPr id="18" name="Risk header"/>
          <p:cNvSpPr/>
          <p:nvPr/>
        </p:nvSpPr>
        <p:spPr>
          <a:xfrm>
            <a:off x="9052560" y="1463040"/>
            <a:ext cx="2560320" cy="685800"/>
          </a:xfrm>
          <a:prstGeom prst="roundRect">
            <a:avLst>
              <a:gd name="adj" fmla="val 16000"/>
            </a:avLst>
          </a:prstGeom>
          <a:solidFill>
            <a:schemeClr val="accent2"/>
          </a:solidFill>
          <a:ln/>
        </p:spPr>
      </p:sp>
      <p:sp>
        <p:nvSpPr>
          <p:cNvPr id="19" name="Text 17"/>
          <p:cNvSpPr txBox="1"/>
          <p:nvPr/>
        </p:nvSpPr>
        <p:spPr>
          <a:xfrm>
            <a:off x="9052560" y="1463040"/>
            <a:ext cx="2560320" cy="68580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Risk</a:t>
            </a:r>
            <a:endParaRPr lang="en-US" sz="2200" dirty="0"/>
          </a:p>
        </p:txBody>
      </p:sp>
      <p:sp>
        <p:nvSpPr>
          <p:cNvPr id="20" name="Risk card"/>
          <p:cNvSpPr/>
          <p:nvPr/>
        </p:nvSpPr>
        <p:spPr>
          <a:xfrm>
            <a:off x="9052560" y="2286000"/>
            <a:ext cx="2560320" cy="2011680"/>
          </a:xfrm>
          <a:prstGeom prst="roundRect">
            <a:avLst>
              <a:gd name="adj" fmla="val 5455"/>
            </a:avLst>
          </a:prstGeom>
          <a:solidFill>
            <a:schemeClr val="bg2"/>
          </a:solidFill>
          <a:ln/>
        </p:spPr>
      </p:sp>
      <p:sp>
        <p:nvSpPr>
          <p:cNvPr id="21" name="Text 19"/>
          <p:cNvSpPr txBox="1"/>
          <p:nvPr/>
        </p:nvSpPr>
        <p:spPr>
          <a:xfrm>
            <a:off x="9281160" y="2468880"/>
            <a:ext cx="2103120" cy="64008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Chance × damage</a:t>
            </a:r>
            <a:endParaRPr lang="en-US" sz="1700" dirty="0"/>
          </a:p>
        </p:txBody>
      </p:sp>
      <p:sp>
        <p:nvSpPr>
          <p:cNvPr id="22" name="Text 20"/>
          <p:cNvSpPr txBox="1"/>
          <p:nvPr/>
        </p:nvSpPr>
        <p:spPr>
          <a:xfrm>
            <a:off x="9281160" y="3154680"/>
            <a:ext cx="2103120" cy="1005840"/>
          </a:xfrm>
          <a:prstGeom prst="rect">
            <a:avLst/>
          </a:prstGeom>
          <a:noFill/>
          <a:ln/>
        </p:spPr>
        <p:txBody>
          <a:bodyPr wrap="square" lIns="0" tIns="0" rIns="0" bIns="0" rtlCol="0" anchor="t"/>
          <a:lstStyle/>
          <a:p>
            <a:pPr indent="0" marL="0">
              <a:buNone/>
            </a:pPr>
            <a:r>
              <a:rPr lang="en-US" sz="1500" i="1" dirty="0">
                <a:solidFill>
                  <a:schemeClr val="accent5"/>
                </a:solidFill>
                <a:latin typeface="Calibri" pitchFamily="34" charset="0"/>
                <a:ea typeface="Calibri" pitchFamily="34" charset="-122"/>
                <a:cs typeface="Calibri" pitchFamily="34" charset="-120"/>
              </a:rPr>
              <a:t>e.g. Server takeover, data leak</a:t>
            </a:r>
            <a:endParaRPr lang="en-US" sz="1500" dirty="0"/>
          </a:p>
        </p:txBody>
      </p:sp>
      <p:sp>
        <p:nvSpPr>
          <p:cNvPr id="23" name="Formula box"/>
          <p:cNvSpPr/>
          <p:nvPr/>
        </p:nvSpPr>
        <p:spPr>
          <a:xfrm>
            <a:off x="548640" y="4663440"/>
            <a:ext cx="4937760" cy="1188720"/>
          </a:xfrm>
          <a:prstGeom prst="roundRect">
            <a:avLst>
              <a:gd name="adj" fmla="val 11538"/>
            </a:avLst>
          </a:prstGeom>
          <a:solidFill>
            <a:schemeClr val="tx2"/>
          </a:solidFill>
          <a:ln/>
        </p:spPr>
      </p:sp>
      <p:sp>
        <p:nvSpPr>
          <p:cNvPr id="24" name="Text 22"/>
          <p:cNvSpPr txBox="1"/>
          <p:nvPr/>
        </p:nvSpPr>
        <p:spPr>
          <a:xfrm>
            <a:off x="548640" y="4663440"/>
            <a:ext cx="4937760" cy="118872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Risk = Likelihood × Impact</a:t>
            </a:r>
            <a:endParaRPr lang="en-US" sz="2600" dirty="0"/>
          </a:p>
        </p:txBody>
      </p:sp>
      <p:sp>
        <p:nvSpPr>
          <p:cNvPr id="25" name="Text 23"/>
          <p:cNvSpPr txBox="1"/>
          <p:nvPr/>
        </p:nvSpPr>
        <p:spPr>
          <a:xfrm>
            <a:off x="5852160" y="4663440"/>
            <a:ext cx="5760720" cy="118872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Control (fix): </a:t>
            </a:r>
            <a:pPr indent="0" marL="0">
              <a:buNone/>
            </a:pPr>
            <a:r>
              <a:rPr lang="en-US" sz="1600" dirty="0">
                <a:solidFill>
                  <a:schemeClr val="tx1"/>
                </a:solidFill>
                <a:latin typeface="Calibri" pitchFamily="34" charset="0"/>
                <a:ea typeface="Calibri" pitchFamily="34" charset="-122"/>
                <a:cs typeface="Calibri" pitchFamily="34" charset="-120"/>
              </a:rPr>
              <a:t>SSH keys only, Fail2ban, firewall. </a:t>
            </a:r>
            <a:endParaRPr lang="en-US" sz="1600" dirty="0"/>
          </a:p>
          <a:p>
            <a:pPr indent="0" marL="0">
              <a:buNone/>
            </a:pPr>
            <a:r>
              <a:rPr lang="en-US" sz="1600" dirty="0">
                <a:solidFill>
                  <a:schemeClr val="accent5"/>
                </a:solidFill>
                <a:latin typeface="Calibri" pitchFamily="34" charset="0"/>
                <a:ea typeface="Calibri" pitchFamily="34" charset="-122"/>
                <a:cs typeface="Calibri" pitchFamily="34" charset="-120"/>
              </a:rPr>
              <a:t>We rarely remove a threat. We reduce the vulnerability or the impact, and that lowers the risk.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Who attacks, and why</a:t>
            </a:r>
            <a:endParaRPr lang="en-US" sz="3600" dirty="0"/>
          </a:p>
        </p:txBody>
      </p:sp>
      <p:sp>
        <p:nvSpPr>
          <p:cNvPr id="3" name="Text 1"/>
          <p:cNvSpPr txBox="1"/>
          <p:nvPr/>
        </p:nvSpPr>
        <p:spPr>
          <a:xfrm>
            <a:off x="1463040" y="1371600"/>
            <a:ext cx="3108960" cy="36576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Attacker</a:t>
            </a:r>
            <a:endParaRPr lang="en-US" sz="1400" dirty="0"/>
          </a:p>
        </p:txBody>
      </p:sp>
      <p:sp>
        <p:nvSpPr>
          <p:cNvPr id="4" name="Text 2"/>
          <p:cNvSpPr txBox="1"/>
          <p:nvPr/>
        </p:nvSpPr>
        <p:spPr>
          <a:xfrm>
            <a:off x="4663440" y="1371600"/>
            <a:ext cx="4572000" cy="36576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Motivation and methods</a:t>
            </a:r>
            <a:endParaRPr lang="en-US" sz="1400" dirty="0"/>
          </a:p>
        </p:txBody>
      </p:sp>
      <p:sp>
        <p:nvSpPr>
          <p:cNvPr id="5" name="Text 3"/>
          <p:cNvSpPr txBox="1"/>
          <p:nvPr/>
        </p:nvSpPr>
        <p:spPr>
          <a:xfrm>
            <a:off x="9326880" y="1371600"/>
            <a:ext cx="2286000" cy="36576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How often you meet them</a:t>
            </a:r>
            <a:endParaRPr lang="en-US" sz="1400" dirty="0"/>
          </a:p>
        </p:txBody>
      </p:sp>
      <p:sp>
        <p:nvSpPr>
          <p:cNvPr id="6" name="Automated bots row"/>
          <p:cNvSpPr/>
          <p:nvPr/>
        </p:nvSpPr>
        <p:spPr>
          <a:xfrm>
            <a:off x="548640" y="1828800"/>
            <a:ext cx="11064240" cy="731520"/>
          </a:xfrm>
          <a:prstGeom prst="roundRect">
            <a:avLst>
              <a:gd name="adj" fmla="val 15000"/>
            </a:avLst>
          </a:prstGeom>
          <a:solidFill>
            <a:schemeClr val="bg2"/>
          </a:solidFill>
          <a:ln/>
        </p:spPr>
      </p:sp>
      <p:sp>
        <p:nvSpPr>
          <p:cNvPr id="7" name="Automated bots circle"/>
          <p:cNvSpPr/>
          <p:nvPr/>
        </p:nvSpPr>
        <p:spPr>
          <a:xfrm>
            <a:off x="685800" y="1920240"/>
            <a:ext cx="548640" cy="548640"/>
          </a:xfrm>
          <a:prstGeom prst="ellipse">
            <a:avLst/>
          </a:prstGeom>
          <a:solidFill>
            <a:schemeClr val="tx2"/>
          </a:solidFill>
          <a:ln/>
        </p:spPr>
      </p:sp>
      <p:pic>
        <p:nvPicPr>
          <p:cNvPr id="8" name="Automated bots icon" descr="Automated bots">    </p:cNvPr>
          <p:cNvPicPr>
            <a:picLocks noChangeAspect="1"/>
          </p:cNvPicPr>
          <p:nvPr/>
        </p:nvPicPr>
        <p:blipFill>
          <a:blip r:embed="rId1"/>
          <a:stretch>
            <a:fillRect/>
          </a:stretch>
        </p:blipFill>
        <p:spPr>
          <a:xfrm>
            <a:off x="822960" y="2057400"/>
            <a:ext cx="274320" cy="274320"/>
          </a:xfrm>
          <a:prstGeom prst="rect">
            <a:avLst/>
          </a:prstGeom>
        </p:spPr>
      </p:pic>
      <p:sp>
        <p:nvSpPr>
          <p:cNvPr id="9" name="Text 6"/>
          <p:cNvSpPr txBox="1"/>
          <p:nvPr/>
        </p:nvSpPr>
        <p:spPr>
          <a:xfrm>
            <a:off x="1463040" y="1828800"/>
            <a:ext cx="3108960" cy="7315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Automated bots</a:t>
            </a:r>
            <a:endParaRPr lang="en-US" sz="1800" dirty="0"/>
          </a:p>
        </p:txBody>
      </p:sp>
      <p:sp>
        <p:nvSpPr>
          <p:cNvPr id="10" name="Text 7"/>
          <p:cNvSpPr txBox="1"/>
          <p:nvPr/>
        </p:nvSpPr>
        <p:spPr>
          <a:xfrm>
            <a:off x="4663440" y="1828800"/>
            <a:ext cx="457200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Scan everything, try default passwords and known CVEs</a:t>
            </a:r>
            <a:endParaRPr lang="en-US" sz="1500" dirty="0"/>
          </a:p>
        </p:txBody>
      </p:sp>
      <p:sp>
        <p:nvSpPr>
          <p:cNvPr id="11" name="Text 8"/>
          <p:cNvSpPr txBox="1"/>
          <p:nvPr/>
        </p:nvSpPr>
        <p:spPr>
          <a:xfrm>
            <a:off x="9326880" y="1828800"/>
            <a:ext cx="2194560" cy="731520"/>
          </a:xfrm>
          <a:prstGeom prst="rect">
            <a:avLst/>
          </a:prstGeom>
          <a:noFill/>
          <a:ln/>
        </p:spPr>
        <p:txBody>
          <a:bodyPr wrap="square" lIns="0" tIns="0" rIns="0" bIns="0" rtlCol="0" anchor="ctr"/>
          <a:lstStyle/>
          <a:p>
            <a:pPr indent="0" marL="0">
              <a:buNone/>
            </a:pPr>
            <a:r>
              <a:rPr lang="en-US" sz="1500" b="1" dirty="0">
                <a:solidFill>
                  <a:schemeClr val="accent3"/>
                </a:solidFill>
                <a:latin typeface="Calibri" pitchFamily="34" charset="0"/>
                <a:ea typeface="Calibri" pitchFamily="34" charset="-122"/>
                <a:cs typeface="Calibri" pitchFamily="34" charset="-120"/>
              </a:rPr>
              <a:t>Very high</a:t>
            </a:r>
            <a:endParaRPr lang="en-US" sz="1500" dirty="0"/>
          </a:p>
        </p:txBody>
      </p:sp>
      <p:sp>
        <p:nvSpPr>
          <p:cNvPr id="12" name="Cybercriminals row"/>
          <p:cNvSpPr/>
          <p:nvPr/>
        </p:nvSpPr>
        <p:spPr>
          <a:xfrm>
            <a:off x="548640" y="2697480"/>
            <a:ext cx="11064240" cy="731520"/>
          </a:xfrm>
          <a:prstGeom prst="roundRect">
            <a:avLst>
              <a:gd name="adj" fmla="val 15000"/>
            </a:avLst>
          </a:prstGeom>
          <a:solidFill>
            <a:schemeClr val="bg2"/>
          </a:solidFill>
          <a:ln/>
        </p:spPr>
      </p:sp>
      <p:sp>
        <p:nvSpPr>
          <p:cNvPr id="13" name="Cybercriminals circle"/>
          <p:cNvSpPr/>
          <p:nvPr/>
        </p:nvSpPr>
        <p:spPr>
          <a:xfrm>
            <a:off x="685800" y="2788920"/>
            <a:ext cx="548640" cy="548640"/>
          </a:xfrm>
          <a:prstGeom prst="ellipse">
            <a:avLst/>
          </a:prstGeom>
          <a:solidFill>
            <a:schemeClr val="tx2"/>
          </a:solidFill>
          <a:ln/>
        </p:spPr>
      </p:sp>
      <p:pic>
        <p:nvPicPr>
          <p:cNvPr id="14" name="Cybercriminals icon" descr="Cybercriminals">    </p:cNvPr>
          <p:cNvPicPr>
            <a:picLocks noChangeAspect="1"/>
          </p:cNvPicPr>
          <p:nvPr/>
        </p:nvPicPr>
        <p:blipFill>
          <a:blip r:embed="rId2"/>
          <a:stretch>
            <a:fillRect/>
          </a:stretch>
        </p:blipFill>
        <p:spPr>
          <a:xfrm>
            <a:off x="822960" y="2926080"/>
            <a:ext cx="274320" cy="274320"/>
          </a:xfrm>
          <a:prstGeom prst="rect">
            <a:avLst/>
          </a:prstGeom>
        </p:spPr>
      </p:pic>
      <p:sp>
        <p:nvSpPr>
          <p:cNvPr id="15" name="Text 11"/>
          <p:cNvSpPr txBox="1"/>
          <p:nvPr/>
        </p:nvSpPr>
        <p:spPr>
          <a:xfrm>
            <a:off x="1463040" y="2697480"/>
            <a:ext cx="3108960" cy="7315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Cybercriminals</a:t>
            </a:r>
            <a:endParaRPr lang="en-US" sz="1800" dirty="0"/>
          </a:p>
        </p:txBody>
      </p:sp>
      <p:sp>
        <p:nvSpPr>
          <p:cNvPr id="16" name="Text 12"/>
          <p:cNvSpPr txBox="1"/>
          <p:nvPr/>
        </p:nvSpPr>
        <p:spPr>
          <a:xfrm>
            <a:off x="4663440" y="2697480"/>
            <a:ext cx="457200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Money: ransomware, stolen data, fraud</a:t>
            </a:r>
            <a:endParaRPr lang="en-US" sz="1500" dirty="0"/>
          </a:p>
        </p:txBody>
      </p:sp>
      <p:sp>
        <p:nvSpPr>
          <p:cNvPr id="17" name="Text 13"/>
          <p:cNvSpPr txBox="1"/>
          <p:nvPr/>
        </p:nvSpPr>
        <p:spPr>
          <a:xfrm>
            <a:off x="9326880" y="2697480"/>
            <a:ext cx="2194560" cy="731520"/>
          </a:xfrm>
          <a:prstGeom prst="rect">
            <a:avLst/>
          </a:prstGeom>
          <a:noFill/>
          <a:ln/>
        </p:spPr>
        <p:txBody>
          <a:bodyPr wrap="square" lIns="0" tIns="0" rIns="0" bIns="0" rtlCol="0" anchor="ctr"/>
          <a:lstStyle/>
          <a:p>
            <a:pPr indent="0" marL="0">
              <a:buNone/>
            </a:pPr>
            <a:r>
              <a:rPr lang="en-US" sz="1500" b="1" dirty="0">
                <a:solidFill>
                  <a:schemeClr val="accent5"/>
                </a:solidFill>
                <a:latin typeface="Calibri" pitchFamily="34" charset="0"/>
                <a:ea typeface="Calibri" pitchFamily="34" charset="-122"/>
                <a:cs typeface="Calibri" pitchFamily="34" charset="-120"/>
              </a:rPr>
              <a:t>High</a:t>
            </a:r>
            <a:endParaRPr lang="en-US" sz="1500" dirty="0"/>
          </a:p>
        </p:txBody>
      </p:sp>
      <p:sp>
        <p:nvSpPr>
          <p:cNvPr id="18" name="Insiders row"/>
          <p:cNvSpPr/>
          <p:nvPr/>
        </p:nvSpPr>
        <p:spPr>
          <a:xfrm>
            <a:off x="548640" y="3566160"/>
            <a:ext cx="11064240" cy="731520"/>
          </a:xfrm>
          <a:prstGeom prst="roundRect">
            <a:avLst>
              <a:gd name="adj" fmla="val 15000"/>
            </a:avLst>
          </a:prstGeom>
          <a:solidFill>
            <a:schemeClr val="bg2"/>
          </a:solidFill>
          <a:ln/>
        </p:spPr>
      </p:sp>
      <p:sp>
        <p:nvSpPr>
          <p:cNvPr id="19" name="Insiders circle"/>
          <p:cNvSpPr/>
          <p:nvPr/>
        </p:nvSpPr>
        <p:spPr>
          <a:xfrm>
            <a:off x="685800" y="3657600"/>
            <a:ext cx="548640" cy="548640"/>
          </a:xfrm>
          <a:prstGeom prst="ellipse">
            <a:avLst/>
          </a:prstGeom>
          <a:solidFill>
            <a:schemeClr val="tx2"/>
          </a:solidFill>
          <a:ln/>
        </p:spPr>
      </p:sp>
      <p:pic>
        <p:nvPicPr>
          <p:cNvPr id="20" name="Insiders icon" descr="Insiders">    </p:cNvPr>
          <p:cNvPicPr>
            <a:picLocks noChangeAspect="1"/>
          </p:cNvPicPr>
          <p:nvPr/>
        </p:nvPicPr>
        <p:blipFill>
          <a:blip r:embed="rId3"/>
          <a:stretch>
            <a:fillRect/>
          </a:stretch>
        </p:blipFill>
        <p:spPr>
          <a:xfrm>
            <a:off x="822960" y="3794760"/>
            <a:ext cx="274320" cy="274320"/>
          </a:xfrm>
          <a:prstGeom prst="rect">
            <a:avLst/>
          </a:prstGeom>
        </p:spPr>
      </p:pic>
      <p:sp>
        <p:nvSpPr>
          <p:cNvPr id="21" name="Text 16"/>
          <p:cNvSpPr txBox="1"/>
          <p:nvPr/>
        </p:nvSpPr>
        <p:spPr>
          <a:xfrm>
            <a:off x="1463040" y="3566160"/>
            <a:ext cx="3108960" cy="7315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Insiders</a:t>
            </a:r>
            <a:endParaRPr lang="en-US" sz="1800" dirty="0"/>
          </a:p>
        </p:txBody>
      </p:sp>
      <p:sp>
        <p:nvSpPr>
          <p:cNvPr id="22" name="Text 17"/>
          <p:cNvSpPr txBox="1"/>
          <p:nvPr/>
        </p:nvSpPr>
        <p:spPr>
          <a:xfrm>
            <a:off x="4663440" y="3566160"/>
            <a:ext cx="457200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Employees or ex-employees, by mistake or on purpose</a:t>
            </a:r>
            <a:endParaRPr lang="en-US" sz="1500" dirty="0"/>
          </a:p>
        </p:txBody>
      </p:sp>
      <p:sp>
        <p:nvSpPr>
          <p:cNvPr id="23" name="Text 18"/>
          <p:cNvSpPr txBox="1"/>
          <p:nvPr/>
        </p:nvSpPr>
        <p:spPr>
          <a:xfrm>
            <a:off x="9326880" y="3566160"/>
            <a:ext cx="2194560" cy="731520"/>
          </a:xfrm>
          <a:prstGeom prst="rect">
            <a:avLst/>
          </a:prstGeom>
          <a:noFill/>
          <a:ln/>
        </p:spPr>
        <p:txBody>
          <a:bodyPr wrap="square" lIns="0" tIns="0" rIns="0" bIns="0" rtlCol="0" anchor="ctr"/>
          <a:lstStyle/>
          <a:p>
            <a:pPr indent="0" marL="0">
              <a:buNone/>
            </a:pPr>
            <a:r>
              <a:rPr lang="en-US" sz="1500" b="1" dirty="0">
                <a:solidFill>
                  <a:schemeClr val="accent5"/>
                </a:solidFill>
                <a:latin typeface="Calibri" pitchFamily="34" charset="0"/>
                <a:ea typeface="Calibri" pitchFamily="34" charset="-122"/>
                <a:cs typeface="Calibri" pitchFamily="34" charset="-120"/>
              </a:rPr>
              <a:t>Medium</a:t>
            </a:r>
            <a:endParaRPr lang="en-US" sz="1500" dirty="0"/>
          </a:p>
        </p:txBody>
      </p:sp>
      <p:sp>
        <p:nvSpPr>
          <p:cNvPr id="24" name="Hacktivists row"/>
          <p:cNvSpPr/>
          <p:nvPr/>
        </p:nvSpPr>
        <p:spPr>
          <a:xfrm>
            <a:off x="548640" y="4434840"/>
            <a:ext cx="11064240" cy="731520"/>
          </a:xfrm>
          <a:prstGeom prst="roundRect">
            <a:avLst>
              <a:gd name="adj" fmla="val 15000"/>
            </a:avLst>
          </a:prstGeom>
          <a:solidFill>
            <a:schemeClr val="bg2"/>
          </a:solidFill>
          <a:ln/>
        </p:spPr>
      </p:sp>
      <p:sp>
        <p:nvSpPr>
          <p:cNvPr id="25" name="Hacktivists circle"/>
          <p:cNvSpPr/>
          <p:nvPr/>
        </p:nvSpPr>
        <p:spPr>
          <a:xfrm>
            <a:off x="685800" y="4526280"/>
            <a:ext cx="548640" cy="548640"/>
          </a:xfrm>
          <a:prstGeom prst="ellipse">
            <a:avLst/>
          </a:prstGeom>
          <a:solidFill>
            <a:schemeClr val="tx2"/>
          </a:solidFill>
          <a:ln/>
        </p:spPr>
      </p:sp>
      <p:pic>
        <p:nvPicPr>
          <p:cNvPr id="26" name="Hacktivists icon" descr="Hacktivists">    </p:cNvPr>
          <p:cNvPicPr>
            <a:picLocks noChangeAspect="1"/>
          </p:cNvPicPr>
          <p:nvPr/>
        </p:nvPicPr>
        <p:blipFill>
          <a:blip r:embed="rId4"/>
          <a:stretch>
            <a:fillRect/>
          </a:stretch>
        </p:blipFill>
        <p:spPr>
          <a:xfrm>
            <a:off x="822960" y="4663440"/>
            <a:ext cx="274320" cy="274320"/>
          </a:xfrm>
          <a:prstGeom prst="rect">
            <a:avLst/>
          </a:prstGeom>
        </p:spPr>
      </p:pic>
      <p:sp>
        <p:nvSpPr>
          <p:cNvPr id="27" name="Text 21"/>
          <p:cNvSpPr txBox="1"/>
          <p:nvPr/>
        </p:nvSpPr>
        <p:spPr>
          <a:xfrm>
            <a:off x="1463040" y="4434840"/>
            <a:ext cx="3108960" cy="7315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Hacktivists</a:t>
            </a:r>
            <a:endParaRPr lang="en-US" sz="1800" dirty="0"/>
          </a:p>
        </p:txBody>
      </p:sp>
      <p:sp>
        <p:nvSpPr>
          <p:cNvPr id="28" name="Text 22"/>
          <p:cNvSpPr txBox="1"/>
          <p:nvPr/>
        </p:nvSpPr>
        <p:spPr>
          <a:xfrm>
            <a:off x="4663440" y="4434840"/>
            <a:ext cx="457200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Political or social message, defacement, DDoS</a:t>
            </a:r>
            <a:endParaRPr lang="en-US" sz="1500" dirty="0"/>
          </a:p>
        </p:txBody>
      </p:sp>
      <p:sp>
        <p:nvSpPr>
          <p:cNvPr id="29" name="Text 23"/>
          <p:cNvSpPr txBox="1"/>
          <p:nvPr/>
        </p:nvSpPr>
        <p:spPr>
          <a:xfrm>
            <a:off x="9326880" y="4434840"/>
            <a:ext cx="2194560" cy="731520"/>
          </a:xfrm>
          <a:prstGeom prst="rect">
            <a:avLst/>
          </a:prstGeom>
          <a:noFill/>
          <a:ln/>
        </p:spPr>
        <p:txBody>
          <a:bodyPr wrap="square" lIns="0" tIns="0" rIns="0" bIns="0" rtlCol="0" anchor="ctr"/>
          <a:lstStyle/>
          <a:p>
            <a:pPr indent="0" marL="0">
              <a:buNone/>
            </a:pPr>
            <a:r>
              <a:rPr lang="en-US" sz="1500" b="1" dirty="0">
                <a:solidFill>
                  <a:schemeClr val="accent5"/>
                </a:solidFill>
                <a:latin typeface="Calibri" pitchFamily="34" charset="0"/>
                <a:ea typeface="Calibri" pitchFamily="34" charset="-122"/>
                <a:cs typeface="Calibri" pitchFamily="34" charset="-120"/>
              </a:rPr>
              <a:t>Medium</a:t>
            </a:r>
            <a:endParaRPr lang="en-US" sz="1500" dirty="0"/>
          </a:p>
        </p:txBody>
      </p:sp>
      <p:sp>
        <p:nvSpPr>
          <p:cNvPr id="30" name="State-sponsored groups row"/>
          <p:cNvSpPr/>
          <p:nvPr/>
        </p:nvSpPr>
        <p:spPr>
          <a:xfrm>
            <a:off x="548640" y="5303520"/>
            <a:ext cx="11064240" cy="731520"/>
          </a:xfrm>
          <a:prstGeom prst="roundRect">
            <a:avLst>
              <a:gd name="adj" fmla="val 15000"/>
            </a:avLst>
          </a:prstGeom>
          <a:solidFill>
            <a:schemeClr val="bg2"/>
          </a:solidFill>
          <a:ln/>
        </p:spPr>
      </p:sp>
      <p:sp>
        <p:nvSpPr>
          <p:cNvPr id="31" name="State-sponsored groups circle"/>
          <p:cNvSpPr/>
          <p:nvPr/>
        </p:nvSpPr>
        <p:spPr>
          <a:xfrm>
            <a:off x="685800" y="5394960"/>
            <a:ext cx="548640" cy="548640"/>
          </a:xfrm>
          <a:prstGeom prst="ellipse">
            <a:avLst/>
          </a:prstGeom>
          <a:solidFill>
            <a:schemeClr val="tx2"/>
          </a:solidFill>
          <a:ln/>
        </p:spPr>
      </p:sp>
      <p:pic>
        <p:nvPicPr>
          <p:cNvPr id="32" name="State-sponsored groups icon" descr="State-sponsored groups">    </p:cNvPr>
          <p:cNvPicPr>
            <a:picLocks noChangeAspect="1"/>
          </p:cNvPicPr>
          <p:nvPr/>
        </p:nvPicPr>
        <p:blipFill>
          <a:blip r:embed="rId5"/>
          <a:stretch>
            <a:fillRect/>
          </a:stretch>
        </p:blipFill>
        <p:spPr>
          <a:xfrm>
            <a:off x="822960" y="5532120"/>
            <a:ext cx="274320" cy="274320"/>
          </a:xfrm>
          <a:prstGeom prst="rect">
            <a:avLst/>
          </a:prstGeom>
        </p:spPr>
      </p:pic>
      <p:sp>
        <p:nvSpPr>
          <p:cNvPr id="33" name="Text 26"/>
          <p:cNvSpPr txBox="1"/>
          <p:nvPr/>
        </p:nvSpPr>
        <p:spPr>
          <a:xfrm>
            <a:off x="1463040" y="5303520"/>
            <a:ext cx="3108960" cy="73152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State-sponsored groups</a:t>
            </a:r>
            <a:endParaRPr lang="en-US" sz="1800" dirty="0"/>
          </a:p>
        </p:txBody>
      </p:sp>
      <p:sp>
        <p:nvSpPr>
          <p:cNvPr id="34" name="Text 27"/>
          <p:cNvSpPr txBox="1"/>
          <p:nvPr/>
        </p:nvSpPr>
        <p:spPr>
          <a:xfrm>
            <a:off x="4663440" y="5303520"/>
            <a:ext cx="4572000" cy="7315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Espionage, sabotage, long-term access</a:t>
            </a:r>
            <a:endParaRPr lang="en-US" sz="1500" dirty="0"/>
          </a:p>
        </p:txBody>
      </p:sp>
      <p:sp>
        <p:nvSpPr>
          <p:cNvPr id="35" name="Text 28"/>
          <p:cNvSpPr txBox="1"/>
          <p:nvPr/>
        </p:nvSpPr>
        <p:spPr>
          <a:xfrm>
            <a:off x="9326880" y="5303520"/>
            <a:ext cx="2194560" cy="731520"/>
          </a:xfrm>
          <a:prstGeom prst="rect">
            <a:avLst/>
          </a:prstGeom>
          <a:noFill/>
          <a:ln/>
        </p:spPr>
        <p:txBody>
          <a:bodyPr wrap="square" lIns="0" tIns="0" rIns="0" bIns="0" rtlCol="0" anchor="ctr"/>
          <a:lstStyle/>
          <a:p>
            <a:pPr indent="0" marL="0">
              <a:buNone/>
            </a:pPr>
            <a:r>
              <a:rPr lang="en-US" sz="1500" b="1" dirty="0">
                <a:solidFill>
                  <a:schemeClr val="accent5"/>
                </a:solidFill>
                <a:latin typeface="Calibri" pitchFamily="34" charset="0"/>
                <a:ea typeface="Calibri" pitchFamily="34" charset="-122"/>
                <a:cs typeface="Calibri" pitchFamily="34" charset="-120"/>
              </a:rPr>
              <a:t>Low, high impact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Attack surface of a web system</a:t>
            </a:r>
            <a:endParaRPr lang="en-US" sz="3600" dirty="0"/>
          </a:p>
        </p:txBody>
      </p:sp>
      <p:sp>
        <p:nvSpPr>
          <p:cNvPr id="3" name="Browser node"/>
          <p:cNvSpPr/>
          <p:nvPr/>
        </p:nvSpPr>
        <p:spPr>
          <a:xfrm>
            <a:off x="548640" y="1554480"/>
            <a:ext cx="1600200" cy="3566160"/>
          </a:xfrm>
          <a:prstGeom prst="roundRect">
            <a:avLst>
              <a:gd name="adj" fmla="val 6857"/>
            </a:avLst>
          </a:prstGeom>
          <a:solidFill>
            <a:schemeClr val="bg2"/>
          </a:solidFill>
          <a:ln/>
        </p:spPr>
      </p:sp>
      <p:sp>
        <p:nvSpPr>
          <p:cNvPr id="4" name="Browser circle"/>
          <p:cNvSpPr/>
          <p:nvPr/>
        </p:nvSpPr>
        <p:spPr>
          <a:xfrm>
            <a:off x="937260" y="1783080"/>
            <a:ext cx="822960" cy="822960"/>
          </a:xfrm>
          <a:prstGeom prst="ellipse">
            <a:avLst/>
          </a:prstGeom>
          <a:solidFill>
            <a:schemeClr val="tx2"/>
          </a:solidFill>
          <a:ln/>
        </p:spPr>
      </p:sp>
      <p:pic>
        <p:nvPicPr>
          <p:cNvPr id="5" name="Browser icon" descr="Browser">    </p:cNvPr>
          <p:cNvPicPr>
            <a:picLocks noChangeAspect="1"/>
          </p:cNvPicPr>
          <p:nvPr/>
        </p:nvPicPr>
        <p:blipFill>
          <a:blip r:embed="rId1"/>
          <a:stretch>
            <a:fillRect/>
          </a:stretch>
        </p:blipFill>
        <p:spPr>
          <a:xfrm>
            <a:off x="1143000" y="1988820"/>
            <a:ext cx="411480" cy="411480"/>
          </a:xfrm>
          <a:prstGeom prst="rect">
            <a:avLst/>
          </a:prstGeom>
        </p:spPr>
      </p:pic>
      <p:sp>
        <p:nvSpPr>
          <p:cNvPr id="6" name="Text 3"/>
          <p:cNvSpPr txBox="1"/>
          <p:nvPr/>
        </p:nvSpPr>
        <p:spPr>
          <a:xfrm>
            <a:off x="640080" y="2743200"/>
            <a:ext cx="1417320" cy="50292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Browser</a:t>
            </a:r>
            <a:endParaRPr lang="en-US" sz="1600" dirty="0"/>
          </a:p>
        </p:txBody>
      </p:sp>
      <p:sp>
        <p:nvSpPr>
          <p:cNvPr id="7" name="Text 4"/>
          <p:cNvSpPr txBox="1"/>
          <p:nvPr/>
        </p:nvSpPr>
        <p:spPr>
          <a:xfrm>
            <a:off x="685800" y="3291840"/>
            <a:ext cx="132588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XSS, phishing, stolen cookies</a:t>
            </a:r>
            <a:endParaRPr lang="en-US" sz="1400" dirty="0"/>
          </a:p>
        </p:txBody>
      </p:sp>
      <p:sp>
        <p:nvSpPr>
          <p:cNvPr id="8" name="Browser tag"/>
          <p:cNvSpPr/>
          <p:nvPr/>
        </p:nvSpPr>
        <p:spPr>
          <a:xfrm>
            <a:off x="822960" y="4526280"/>
            <a:ext cx="1051560" cy="365760"/>
          </a:xfrm>
          <a:prstGeom prst="roundRect">
            <a:avLst>
              <a:gd name="adj" fmla="val 50000"/>
            </a:avLst>
          </a:prstGeom>
          <a:solidFill>
            <a:schemeClr val="accent2"/>
          </a:solidFill>
          <a:ln/>
        </p:spPr>
      </p:sp>
      <p:sp>
        <p:nvSpPr>
          <p:cNvPr id="9" name="Text 6"/>
          <p:cNvSpPr txBox="1"/>
          <p:nvPr/>
        </p:nvSpPr>
        <p:spPr>
          <a:xfrm>
            <a:off x="822960" y="4526280"/>
            <a:ext cx="10515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APP</a:t>
            </a:r>
            <a:endParaRPr lang="en-US" sz="1200" dirty="0"/>
          </a:p>
        </p:txBody>
      </p:sp>
      <p:sp>
        <p:nvSpPr>
          <p:cNvPr id="10" name="Arrow 1"/>
          <p:cNvSpPr/>
          <p:nvPr/>
        </p:nvSpPr>
        <p:spPr>
          <a:xfrm>
            <a:off x="2185416" y="2194560"/>
            <a:ext cx="219456" cy="0"/>
          </a:xfrm>
          <a:prstGeom prst="line">
            <a:avLst/>
          </a:prstGeom>
          <a:noFill/>
          <a:ln w="25400">
            <a:solidFill>
              <a:srgbClr val="6B7A8C"/>
            </a:solidFill>
            <a:prstDash val="solid"/>
            <a:tailEnd type="triangle"/>
          </a:ln>
        </p:spPr>
      </p:sp>
      <p:sp>
        <p:nvSpPr>
          <p:cNvPr id="11" name="Network node"/>
          <p:cNvSpPr/>
          <p:nvPr/>
        </p:nvSpPr>
        <p:spPr>
          <a:xfrm>
            <a:off x="2441448" y="1554480"/>
            <a:ext cx="1600200" cy="3566160"/>
          </a:xfrm>
          <a:prstGeom prst="roundRect">
            <a:avLst>
              <a:gd name="adj" fmla="val 6857"/>
            </a:avLst>
          </a:prstGeom>
          <a:solidFill>
            <a:schemeClr val="bg2"/>
          </a:solidFill>
          <a:ln/>
        </p:spPr>
      </p:sp>
      <p:sp>
        <p:nvSpPr>
          <p:cNvPr id="12" name="Network circle"/>
          <p:cNvSpPr/>
          <p:nvPr/>
        </p:nvSpPr>
        <p:spPr>
          <a:xfrm>
            <a:off x="2830068" y="1783080"/>
            <a:ext cx="822960" cy="822960"/>
          </a:xfrm>
          <a:prstGeom prst="ellipse">
            <a:avLst/>
          </a:prstGeom>
          <a:solidFill>
            <a:schemeClr val="tx2"/>
          </a:solidFill>
          <a:ln/>
        </p:spPr>
      </p:sp>
      <p:pic>
        <p:nvPicPr>
          <p:cNvPr id="13" name="Network icon" descr="Network">    </p:cNvPr>
          <p:cNvPicPr>
            <a:picLocks noChangeAspect="1"/>
          </p:cNvPicPr>
          <p:nvPr/>
        </p:nvPicPr>
        <p:blipFill>
          <a:blip r:embed="rId2"/>
          <a:stretch>
            <a:fillRect/>
          </a:stretch>
        </p:blipFill>
        <p:spPr>
          <a:xfrm>
            <a:off x="3035808" y="1988820"/>
            <a:ext cx="411480" cy="411480"/>
          </a:xfrm>
          <a:prstGeom prst="rect">
            <a:avLst/>
          </a:prstGeom>
        </p:spPr>
      </p:pic>
      <p:sp>
        <p:nvSpPr>
          <p:cNvPr id="14" name="Text 10"/>
          <p:cNvSpPr txBox="1"/>
          <p:nvPr/>
        </p:nvSpPr>
        <p:spPr>
          <a:xfrm>
            <a:off x="2532888" y="2743200"/>
            <a:ext cx="1417320" cy="50292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Network</a:t>
            </a:r>
            <a:endParaRPr lang="en-US" sz="1600" dirty="0"/>
          </a:p>
        </p:txBody>
      </p:sp>
      <p:sp>
        <p:nvSpPr>
          <p:cNvPr id="15" name="Text 11"/>
          <p:cNvSpPr txBox="1"/>
          <p:nvPr/>
        </p:nvSpPr>
        <p:spPr>
          <a:xfrm>
            <a:off x="2578608" y="3291840"/>
            <a:ext cx="132588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Sniffing, MitM, DNS attacks</a:t>
            </a:r>
            <a:endParaRPr lang="en-US" sz="1400" dirty="0"/>
          </a:p>
        </p:txBody>
      </p:sp>
      <p:sp>
        <p:nvSpPr>
          <p:cNvPr id="16" name="Network tag"/>
          <p:cNvSpPr/>
          <p:nvPr/>
        </p:nvSpPr>
        <p:spPr>
          <a:xfrm>
            <a:off x="2715768" y="4526280"/>
            <a:ext cx="1051560" cy="365760"/>
          </a:xfrm>
          <a:prstGeom prst="roundRect">
            <a:avLst>
              <a:gd name="adj" fmla="val 50000"/>
            </a:avLst>
          </a:prstGeom>
          <a:solidFill>
            <a:schemeClr val="accent4"/>
          </a:solidFill>
          <a:ln/>
        </p:spPr>
      </p:sp>
      <p:sp>
        <p:nvSpPr>
          <p:cNvPr id="17" name="Text 13"/>
          <p:cNvSpPr txBox="1"/>
          <p:nvPr/>
        </p:nvSpPr>
        <p:spPr>
          <a:xfrm>
            <a:off x="2715768" y="4526280"/>
            <a:ext cx="10515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SERVER</a:t>
            </a:r>
            <a:endParaRPr lang="en-US" sz="1200" dirty="0"/>
          </a:p>
        </p:txBody>
      </p:sp>
      <p:sp>
        <p:nvSpPr>
          <p:cNvPr id="18" name="Arrow 2"/>
          <p:cNvSpPr/>
          <p:nvPr/>
        </p:nvSpPr>
        <p:spPr>
          <a:xfrm>
            <a:off x="4078224" y="2194560"/>
            <a:ext cx="219456" cy="0"/>
          </a:xfrm>
          <a:prstGeom prst="line">
            <a:avLst/>
          </a:prstGeom>
          <a:noFill/>
          <a:ln w="25400">
            <a:solidFill>
              <a:srgbClr val="6B7A8C"/>
            </a:solidFill>
            <a:prstDash val="solid"/>
            <a:tailEnd type="triangle"/>
          </a:ln>
        </p:spPr>
      </p:sp>
      <p:sp>
        <p:nvSpPr>
          <p:cNvPr id="19" name="Firewall node"/>
          <p:cNvSpPr/>
          <p:nvPr/>
        </p:nvSpPr>
        <p:spPr>
          <a:xfrm>
            <a:off x="4334256" y="1554480"/>
            <a:ext cx="1600200" cy="3566160"/>
          </a:xfrm>
          <a:prstGeom prst="roundRect">
            <a:avLst>
              <a:gd name="adj" fmla="val 6857"/>
            </a:avLst>
          </a:prstGeom>
          <a:solidFill>
            <a:schemeClr val="bg2"/>
          </a:solidFill>
          <a:ln/>
        </p:spPr>
      </p:sp>
      <p:sp>
        <p:nvSpPr>
          <p:cNvPr id="20" name="Firewall circle"/>
          <p:cNvSpPr/>
          <p:nvPr/>
        </p:nvSpPr>
        <p:spPr>
          <a:xfrm>
            <a:off x="4722876" y="1783080"/>
            <a:ext cx="822960" cy="822960"/>
          </a:xfrm>
          <a:prstGeom prst="ellipse">
            <a:avLst/>
          </a:prstGeom>
          <a:solidFill>
            <a:schemeClr val="tx2"/>
          </a:solidFill>
          <a:ln/>
        </p:spPr>
      </p:sp>
      <p:pic>
        <p:nvPicPr>
          <p:cNvPr id="21" name="Firewall icon" descr="Firewall">    </p:cNvPr>
          <p:cNvPicPr>
            <a:picLocks noChangeAspect="1"/>
          </p:cNvPicPr>
          <p:nvPr/>
        </p:nvPicPr>
        <p:blipFill>
          <a:blip r:embed="rId3"/>
          <a:stretch>
            <a:fillRect/>
          </a:stretch>
        </p:blipFill>
        <p:spPr>
          <a:xfrm>
            <a:off x="4928616" y="1988820"/>
            <a:ext cx="411480" cy="411480"/>
          </a:xfrm>
          <a:prstGeom prst="rect">
            <a:avLst/>
          </a:prstGeom>
        </p:spPr>
      </p:pic>
      <p:sp>
        <p:nvSpPr>
          <p:cNvPr id="22" name="Text 17"/>
          <p:cNvSpPr txBox="1"/>
          <p:nvPr/>
        </p:nvSpPr>
        <p:spPr>
          <a:xfrm>
            <a:off x="4425696" y="2743200"/>
            <a:ext cx="1417320" cy="50292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Firewall</a:t>
            </a:r>
            <a:endParaRPr lang="en-US" sz="1600" dirty="0"/>
          </a:p>
        </p:txBody>
      </p:sp>
      <p:sp>
        <p:nvSpPr>
          <p:cNvPr id="23" name="Text 18"/>
          <p:cNvSpPr txBox="1"/>
          <p:nvPr/>
        </p:nvSpPr>
        <p:spPr>
          <a:xfrm>
            <a:off x="4471416" y="3291840"/>
            <a:ext cx="132588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Open ports, weak rules</a:t>
            </a:r>
            <a:endParaRPr lang="en-US" sz="1400" dirty="0"/>
          </a:p>
        </p:txBody>
      </p:sp>
      <p:sp>
        <p:nvSpPr>
          <p:cNvPr id="24" name="Firewall tag"/>
          <p:cNvSpPr/>
          <p:nvPr/>
        </p:nvSpPr>
        <p:spPr>
          <a:xfrm>
            <a:off x="4608576" y="4526280"/>
            <a:ext cx="1051560" cy="365760"/>
          </a:xfrm>
          <a:prstGeom prst="roundRect">
            <a:avLst>
              <a:gd name="adj" fmla="val 50000"/>
            </a:avLst>
          </a:prstGeom>
          <a:solidFill>
            <a:schemeClr val="accent4"/>
          </a:solidFill>
          <a:ln/>
        </p:spPr>
      </p:sp>
      <p:sp>
        <p:nvSpPr>
          <p:cNvPr id="25" name="Text 20"/>
          <p:cNvSpPr txBox="1"/>
          <p:nvPr/>
        </p:nvSpPr>
        <p:spPr>
          <a:xfrm>
            <a:off x="4608576" y="4526280"/>
            <a:ext cx="10515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SERVER</a:t>
            </a:r>
            <a:endParaRPr lang="en-US" sz="1200" dirty="0"/>
          </a:p>
        </p:txBody>
      </p:sp>
      <p:sp>
        <p:nvSpPr>
          <p:cNvPr id="26" name="Arrow 3"/>
          <p:cNvSpPr/>
          <p:nvPr/>
        </p:nvSpPr>
        <p:spPr>
          <a:xfrm>
            <a:off x="5971032" y="2194560"/>
            <a:ext cx="219456" cy="0"/>
          </a:xfrm>
          <a:prstGeom prst="line">
            <a:avLst/>
          </a:prstGeom>
          <a:noFill/>
          <a:ln w="25400">
            <a:solidFill>
              <a:srgbClr val="6B7A8C"/>
            </a:solidFill>
            <a:prstDash val="solid"/>
            <a:tailEnd type="triangle"/>
          </a:ln>
        </p:spPr>
      </p:sp>
      <p:sp>
        <p:nvSpPr>
          <p:cNvPr id="27" name="Web server node"/>
          <p:cNvSpPr/>
          <p:nvPr/>
        </p:nvSpPr>
        <p:spPr>
          <a:xfrm>
            <a:off x="6227064" y="1554480"/>
            <a:ext cx="1600200" cy="3566160"/>
          </a:xfrm>
          <a:prstGeom prst="roundRect">
            <a:avLst>
              <a:gd name="adj" fmla="val 6857"/>
            </a:avLst>
          </a:prstGeom>
          <a:solidFill>
            <a:schemeClr val="bg2"/>
          </a:solidFill>
          <a:ln/>
        </p:spPr>
      </p:sp>
      <p:sp>
        <p:nvSpPr>
          <p:cNvPr id="28" name="Web server circle"/>
          <p:cNvSpPr/>
          <p:nvPr/>
        </p:nvSpPr>
        <p:spPr>
          <a:xfrm>
            <a:off x="6615684" y="1783080"/>
            <a:ext cx="822960" cy="822960"/>
          </a:xfrm>
          <a:prstGeom prst="ellipse">
            <a:avLst/>
          </a:prstGeom>
          <a:solidFill>
            <a:schemeClr val="tx2"/>
          </a:solidFill>
          <a:ln/>
        </p:spPr>
      </p:sp>
      <p:pic>
        <p:nvPicPr>
          <p:cNvPr id="29" name="Web server icon" descr="Web server">    </p:cNvPr>
          <p:cNvPicPr>
            <a:picLocks noChangeAspect="1"/>
          </p:cNvPicPr>
          <p:nvPr/>
        </p:nvPicPr>
        <p:blipFill>
          <a:blip r:embed="rId4"/>
          <a:stretch>
            <a:fillRect/>
          </a:stretch>
        </p:blipFill>
        <p:spPr>
          <a:xfrm>
            <a:off x="6821424" y="1988820"/>
            <a:ext cx="411480" cy="411480"/>
          </a:xfrm>
          <a:prstGeom prst="rect">
            <a:avLst/>
          </a:prstGeom>
        </p:spPr>
      </p:pic>
      <p:sp>
        <p:nvSpPr>
          <p:cNvPr id="30" name="Text 24"/>
          <p:cNvSpPr txBox="1"/>
          <p:nvPr/>
        </p:nvSpPr>
        <p:spPr>
          <a:xfrm>
            <a:off x="6318504" y="2743200"/>
            <a:ext cx="1417320" cy="50292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Web server</a:t>
            </a:r>
            <a:endParaRPr lang="en-US" sz="1600" dirty="0"/>
          </a:p>
        </p:txBody>
      </p:sp>
      <p:sp>
        <p:nvSpPr>
          <p:cNvPr id="31" name="Text 25"/>
          <p:cNvSpPr txBox="1"/>
          <p:nvPr/>
        </p:nvSpPr>
        <p:spPr>
          <a:xfrm>
            <a:off x="6364224" y="3291840"/>
            <a:ext cx="132588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Old versions, DoS, misconfig</a:t>
            </a:r>
            <a:endParaRPr lang="en-US" sz="1400" dirty="0"/>
          </a:p>
        </p:txBody>
      </p:sp>
      <p:sp>
        <p:nvSpPr>
          <p:cNvPr id="32" name="Web server tag"/>
          <p:cNvSpPr/>
          <p:nvPr/>
        </p:nvSpPr>
        <p:spPr>
          <a:xfrm>
            <a:off x="6501384" y="4526280"/>
            <a:ext cx="1051560" cy="365760"/>
          </a:xfrm>
          <a:prstGeom prst="roundRect">
            <a:avLst>
              <a:gd name="adj" fmla="val 50000"/>
            </a:avLst>
          </a:prstGeom>
          <a:solidFill>
            <a:schemeClr val="accent4"/>
          </a:solidFill>
          <a:ln/>
        </p:spPr>
      </p:sp>
      <p:sp>
        <p:nvSpPr>
          <p:cNvPr id="33" name="Text 27"/>
          <p:cNvSpPr txBox="1"/>
          <p:nvPr/>
        </p:nvSpPr>
        <p:spPr>
          <a:xfrm>
            <a:off x="6501384" y="4526280"/>
            <a:ext cx="10515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SERVER</a:t>
            </a:r>
            <a:endParaRPr lang="en-US" sz="1200" dirty="0"/>
          </a:p>
        </p:txBody>
      </p:sp>
      <p:sp>
        <p:nvSpPr>
          <p:cNvPr id="34" name="Arrow 4"/>
          <p:cNvSpPr/>
          <p:nvPr/>
        </p:nvSpPr>
        <p:spPr>
          <a:xfrm>
            <a:off x="7863840" y="2194560"/>
            <a:ext cx="219456" cy="0"/>
          </a:xfrm>
          <a:prstGeom prst="line">
            <a:avLst/>
          </a:prstGeom>
          <a:noFill/>
          <a:ln w="25400">
            <a:solidFill>
              <a:srgbClr val="6B7A8C"/>
            </a:solidFill>
            <a:prstDash val="solid"/>
            <a:tailEnd type="triangle"/>
          </a:ln>
        </p:spPr>
      </p:sp>
      <p:sp>
        <p:nvSpPr>
          <p:cNvPr id="35" name="Application node"/>
          <p:cNvSpPr/>
          <p:nvPr/>
        </p:nvSpPr>
        <p:spPr>
          <a:xfrm>
            <a:off x="8119872" y="1554480"/>
            <a:ext cx="1600200" cy="3566160"/>
          </a:xfrm>
          <a:prstGeom prst="roundRect">
            <a:avLst>
              <a:gd name="adj" fmla="val 6857"/>
            </a:avLst>
          </a:prstGeom>
          <a:solidFill>
            <a:schemeClr val="bg2"/>
          </a:solidFill>
          <a:ln/>
        </p:spPr>
      </p:sp>
      <p:sp>
        <p:nvSpPr>
          <p:cNvPr id="36" name="Application circle"/>
          <p:cNvSpPr/>
          <p:nvPr/>
        </p:nvSpPr>
        <p:spPr>
          <a:xfrm>
            <a:off x="8508492" y="1783080"/>
            <a:ext cx="822960" cy="822960"/>
          </a:xfrm>
          <a:prstGeom prst="ellipse">
            <a:avLst/>
          </a:prstGeom>
          <a:solidFill>
            <a:schemeClr val="tx2"/>
          </a:solidFill>
          <a:ln/>
        </p:spPr>
      </p:sp>
      <p:pic>
        <p:nvPicPr>
          <p:cNvPr id="37" name="Application icon" descr="Application">    </p:cNvPr>
          <p:cNvPicPr>
            <a:picLocks noChangeAspect="1"/>
          </p:cNvPicPr>
          <p:nvPr/>
        </p:nvPicPr>
        <p:blipFill>
          <a:blip r:embed="rId5"/>
          <a:stretch>
            <a:fillRect/>
          </a:stretch>
        </p:blipFill>
        <p:spPr>
          <a:xfrm>
            <a:off x="8714232" y="1988820"/>
            <a:ext cx="411480" cy="411480"/>
          </a:xfrm>
          <a:prstGeom prst="rect">
            <a:avLst/>
          </a:prstGeom>
        </p:spPr>
      </p:pic>
      <p:sp>
        <p:nvSpPr>
          <p:cNvPr id="38" name="Text 31"/>
          <p:cNvSpPr txBox="1"/>
          <p:nvPr/>
        </p:nvSpPr>
        <p:spPr>
          <a:xfrm>
            <a:off x="8211312" y="2743200"/>
            <a:ext cx="1417320" cy="50292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Application</a:t>
            </a:r>
            <a:endParaRPr lang="en-US" sz="1600" dirty="0"/>
          </a:p>
        </p:txBody>
      </p:sp>
      <p:sp>
        <p:nvSpPr>
          <p:cNvPr id="39" name="Text 32"/>
          <p:cNvSpPr txBox="1"/>
          <p:nvPr/>
        </p:nvSpPr>
        <p:spPr>
          <a:xfrm>
            <a:off x="8257032" y="3291840"/>
            <a:ext cx="132588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Injection, broken auth, IDOR</a:t>
            </a:r>
            <a:endParaRPr lang="en-US" sz="1400" dirty="0"/>
          </a:p>
        </p:txBody>
      </p:sp>
      <p:sp>
        <p:nvSpPr>
          <p:cNvPr id="40" name="Application tag"/>
          <p:cNvSpPr/>
          <p:nvPr/>
        </p:nvSpPr>
        <p:spPr>
          <a:xfrm>
            <a:off x="8394192" y="4526280"/>
            <a:ext cx="1051560" cy="365760"/>
          </a:xfrm>
          <a:prstGeom prst="roundRect">
            <a:avLst>
              <a:gd name="adj" fmla="val 50000"/>
            </a:avLst>
          </a:prstGeom>
          <a:solidFill>
            <a:schemeClr val="accent2"/>
          </a:solidFill>
          <a:ln/>
        </p:spPr>
      </p:sp>
      <p:sp>
        <p:nvSpPr>
          <p:cNvPr id="41" name="Text 34"/>
          <p:cNvSpPr txBox="1"/>
          <p:nvPr/>
        </p:nvSpPr>
        <p:spPr>
          <a:xfrm>
            <a:off x="8394192" y="4526280"/>
            <a:ext cx="10515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APP</a:t>
            </a:r>
            <a:endParaRPr lang="en-US" sz="1200" dirty="0"/>
          </a:p>
        </p:txBody>
      </p:sp>
      <p:sp>
        <p:nvSpPr>
          <p:cNvPr id="42" name="Arrow 5"/>
          <p:cNvSpPr/>
          <p:nvPr/>
        </p:nvSpPr>
        <p:spPr>
          <a:xfrm>
            <a:off x="9756648" y="2194560"/>
            <a:ext cx="219456" cy="0"/>
          </a:xfrm>
          <a:prstGeom prst="line">
            <a:avLst/>
          </a:prstGeom>
          <a:noFill/>
          <a:ln w="25400">
            <a:solidFill>
              <a:srgbClr val="6B7A8C"/>
            </a:solidFill>
            <a:prstDash val="solid"/>
            <a:tailEnd type="triangle"/>
          </a:ln>
        </p:spPr>
      </p:sp>
      <p:sp>
        <p:nvSpPr>
          <p:cNvPr id="43" name="Database node"/>
          <p:cNvSpPr/>
          <p:nvPr/>
        </p:nvSpPr>
        <p:spPr>
          <a:xfrm>
            <a:off x="10012680" y="1554480"/>
            <a:ext cx="1600200" cy="3566160"/>
          </a:xfrm>
          <a:prstGeom prst="roundRect">
            <a:avLst>
              <a:gd name="adj" fmla="val 6857"/>
            </a:avLst>
          </a:prstGeom>
          <a:solidFill>
            <a:schemeClr val="bg2"/>
          </a:solidFill>
          <a:ln/>
        </p:spPr>
      </p:sp>
      <p:sp>
        <p:nvSpPr>
          <p:cNvPr id="44" name="Database circle"/>
          <p:cNvSpPr/>
          <p:nvPr/>
        </p:nvSpPr>
        <p:spPr>
          <a:xfrm>
            <a:off x="10401300" y="1783080"/>
            <a:ext cx="822960" cy="822960"/>
          </a:xfrm>
          <a:prstGeom prst="ellipse">
            <a:avLst/>
          </a:prstGeom>
          <a:solidFill>
            <a:schemeClr val="tx2"/>
          </a:solidFill>
          <a:ln/>
        </p:spPr>
      </p:sp>
      <p:pic>
        <p:nvPicPr>
          <p:cNvPr id="45" name="Database icon" descr="Database">    </p:cNvPr>
          <p:cNvPicPr>
            <a:picLocks noChangeAspect="1"/>
          </p:cNvPicPr>
          <p:nvPr/>
        </p:nvPicPr>
        <p:blipFill>
          <a:blip r:embed="rId6"/>
          <a:stretch>
            <a:fillRect/>
          </a:stretch>
        </p:blipFill>
        <p:spPr>
          <a:xfrm>
            <a:off x="10607040" y="1988820"/>
            <a:ext cx="411480" cy="411480"/>
          </a:xfrm>
          <a:prstGeom prst="rect">
            <a:avLst/>
          </a:prstGeom>
        </p:spPr>
      </p:pic>
      <p:sp>
        <p:nvSpPr>
          <p:cNvPr id="46" name="Text 38"/>
          <p:cNvSpPr txBox="1"/>
          <p:nvPr/>
        </p:nvSpPr>
        <p:spPr>
          <a:xfrm>
            <a:off x="10104120" y="2743200"/>
            <a:ext cx="1417320" cy="50292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Database</a:t>
            </a:r>
            <a:endParaRPr lang="en-US" sz="1600" dirty="0"/>
          </a:p>
        </p:txBody>
      </p:sp>
      <p:sp>
        <p:nvSpPr>
          <p:cNvPr id="47" name="Text 39"/>
          <p:cNvSpPr txBox="1"/>
          <p:nvPr/>
        </p:nvSpPr>
        <p:spPr>
          <a:xfrm>
            <a:off x="10149840" y="3291840"/>
            <a:ext cx="132588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Data leaks, weak credentials</a:t>
            </a:r>
            <a:endParaRPr lang="en-US" sz="1400" dirty="0"/>
          </a:p>
        </p:txBody>
      </p:sp>
      <p:sp>
        <p:nvSpPr>
          <p:cNvPr id="48" name="Database tag"/>
          <p:cNvSpPr/>
          <p:nvPr/>
        </p:nvSpPr>
        <p:spPr>
          <a:xfrm>
            <a:off x="10287000" y="4526280"/>
            <a:ext cx="1051560" cy="365760"/>
          </a:xfrm>
          <a:prstGeom prst="roundRect">
            <a:avLst>
              <a:gd name="adj" fmla="val 50000"/>
            </a:avLst>
          </a:prstGeom>
          <a:solidFill>
            <a:schemeClr val="accent1"/>
          </a:solidFill>
          <a:ln/>
        </p:spPr>
      </p:sp>
      <p:sp>
        <p:nvSpPr>
          <p:cNvPr id="49" name="Text 41"/>
          <p:cNvSpPr txBox="1"/>
          <p:nvPr/>
        </p:nvSpPr>
        <p:spPr>
          <a:xfrm>
            <a:off x="10287000" y="4526280"/>
            <a:ext cx="1051560"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BOTH</a:t>
            </a:r>
            <a:endParaRPr lang="en-US" sz="1200" dirty="0"/>
          </a:p>
        </p:txBody>
      </p:sp>
      <p:sp>
        <p:nvSpPr>
          <p:cNvPr id="50" name="Text 42"/>
          <p:cNvSpPr txBox="1"/>
          <p:nvPr/>
        </p:nvSpPr>
        <p:spPr>
          <a:xfrm>
            <a:off x="548640" y="5440680"/>
            <a:ext cx="11064240" cy="7772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Attack surface </a:t>
            </a:r>
            <a:pPr indent="0" marL="0">
              <a:buNone/>
            </a:pPr>
            <a:r>
              <a:rPr lang="en-US" sz="1600" dirty="0">
                <a:solidFill>
                  <a:schemeClr val="tx1"/>
                </a:solidFill>
                <a:latin typeface="Calibri" pitchFamily="34" charset="0"/>
                <a:ea typeface="Calibri" pitchFamily="34" charset="-122"/>
                <a:cs typeface="Calibri" pitchFamily="34" charset="-120"/>
              </a:rPr>
              <a:t>= every point where an attacker can send input or reach the system. Our job: make it </a:t>
            </a:r>
            <a:pPr indent="0" marL="0">
              <a:buNone/>
            </a:pPr>
            <a:r>
              <a:rPr lang="en-US" sz="1600" b="1" dirty="0">
                <a:solidFill>
                  <a:schemeClr val="accent3"/>
                </a:solidFill>
                <a:latin typeface="Calibri" pitchFamily="34" charset="0"/>
                <a:ea typeface="Calibri" pitchFamily="34" charset="-122"/>
                <a:cs typeface="Calibri" pitchFamily="34" charset="-120"/>
              </a:rPr>
              <a:t>smaller</a:t>
            </a:r>
            <a:pPr indent="0" marL="0">
              <a:buNone/>
            </a:pPr>
            <a:r>
              <a:rPr lang="en-US" sz="1600" dirty="0">
                <a:solidFill>
                  <a:schemeClr val="tx1"/>
                </a:solidFill>
                <a:latin typeface="Calibri" pitchFamily="34" charset="0"/>
                <a:ea typeface="Calibri" pitchFamily="34" charset="-122"/>
                <a:cs typeface="Calibri" pitchFamily="34" charset="-120"/>
              </a:rPr>
              <a:t> and defend each point. APP = Part 1 (Labs 1–3), SERVER = Part 2 (Labs 4–5).</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Defense in depth</a:t>
            </a:r>
            <a:endParaRPr lang="en-US" sz="3600" dirty="0"/>
          </a:p>
        </p:txBody>
      </p:sp>
      <p:sp>
        <p:nvSpPr>
          <p:cNvPr id="3" name="Layer 1"/>
          <p:cNvSpPr/>
          <p:nvPr/>
        </p:nvSpPr>
        <p:spPr>
          <a:xfrm>
            <a:off x="548640" y="1417320"/>
            <a:ext cx="5852160" cy="4663440"/>
          </a:xfrm>
          <a:prstGeom prst="roundRect">
            <a:avLst>
              <a:gd name="adj" fmla="val 2941"/>
            </a:avLst>
          </a:prstGeom>
          <a:solidFill>
            <a:schemeClr val="accent5"/>
          </a:solidFill>
          <a:ln w="25400">
            <a:solidFill>
              <a:srgbClr val="FFFFFF"/>
            </a:solidFill>
            <a:prstDash val="solid"/>
          </a:ln>
        </p:spPr>
      </p:sp>
      <p:sp>
        <p:nvSpPr>
          <p:cNvPr id="4" name="Text 2"/>
          <p:cNvSpPr txBox="1"/>
          <p:nvPr/>
        </p:nvSpPr>
        <p:spPr>
          <a:xfrm>
            <a:off x="731520" y="1463040"/>
            <a:ext cx="5486400"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Policies &amp; people</a:t>
            </a:r>
            <a:endParaRPr lang="en-US" sz="1400" dirty="0"/>
          </a:p>
        </p:txBody>
      </p:sp>
      <p:sp>
        <p:nvSpPr>
          <p:cNvPr id="5" name="Layer 2"/>
          <p:cNvSpPr/>
          <p:nvPr/>
        </p:nvSpPr>
        <p:spPr>
          <a:xfrm>
            <a:off x="914400" y="1746504"/>
            <a:ext cx="5120640" cy="4005072"/>
          </a:xfrm>
          <a:prstGeom prst="roundRect">
            <a:avLst>
              <a:gd name="adj" fmla="val 3425"/>
            </a:avLst>
          </a:prstGeom>
          <a:solidFill>
            <a:schemeClr val="accent4"/>
          </a:solidFill>
          <a:ln w="25400">
            <a:solidFill>
              <a:srgbClr val="FFFFFF"/>
            </a:solidFill>
            <a:prstDash val="solid"/>
          </a:ln>
        </p:spPr>
      </p:sp>
      <p:sp>
        <p:nvSpPr>
          <p:cNvPr id="6" name="Text 4"/>
          <p:cNvSpPr txBox="1"/>
          <p:nvPr/>
        </p:nvSpPr>
        <p:spPr>
          <a:xfrm>
            <a:off x="1097280" y="1792224"/>
            <a:ext cx="4754880"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Network: firewall, segmentation</a:t>
            </a:r>
            <a:endParaRPr lang="en-US" sz="1400" dirty="0"/>
          </a:p>
        </p:txBody>
      </p:sp>
      <p:sp>
        <p:nvSpPr>
          <p:cNvPr id="7" name="Layer 3"/>
          <p:cNvSpPr/>
          <p:nvPr/>
        </p:nvSpPr>
        <p:spPr>
          <a:xfrm>
            <a:off x="1280160" y="2075688"/>
            <a:ext cx="4389120" cy="3346704"/>
          </a:xfrm>
          <a:prstGeom prst="roundRect">
            <a:avLst>
              <a:gd name="adj" fmla="val 4098"/>
            </a:avLst>
          </a:prstGeom>
          <a:solidFill>
            <a:schemeClr val="accent2"/>
          </a:solidFill>
          <a:ln w="25400">
            <a:solidFill>
              <a:srgbClr val="FFFFFF"/>
            </a:solidFill>
            <a:prstDash val="solid"/>
          </a:ln>
        </p:spPr>
      </p:sp>
      <p:sp>
        <p:nvSpPr>
          <p:cNvPr id="8" name="Text 6"/>
          <p:cNvSpPr txBox="1"/>
          <p:nvPr/>
        </p:nvSpPr>
        <p:spPr>
          <a:xfrm>
            <a:off x="1463040" y="2121408"/>
            <a:ext cx="4023360"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Host: hardening, updates</a:t>
            </a:r>
            <a:endParaRPr lang="en-US" sz="1400" dirty="0"/>
          </a:p>
        </p:txBody>
      </p:sp>
      <p:sp>
        <p:nvSpPr>
          <p:cNvPr id="9" name="Layer 4"/>
          <p:cNvSpPr/>
          <p:nvPr/>
        </p:nvSpPr>
        <p:spPr>
          <a:xfrm>
            <a:off x="1645920" y="2404872"/>
            <a:ext cx="3657600" cy="2688336"/>
          </a:xfrm>
          <a:prstGeom prst="roundRect">
            <a:avLst>
              <a:gd name="adj" fmla="val 5102"/>
            </a:avLst>
          </a:prstGeom>
          <a:solidFill>
            <a:schemeClr val="accent1"/>
          </a:solidFill>
          <a:ln w="25400">
            <a:solidFill>
              <a:srgbClr val="FFFFFF"/>
            </a:solidFill>
            <a:prstDash val="solid"/>
          </a:ln>
        </p:spPr>
      </p:sp>
      <p:sp>
        <p:nvSpPr>
          <p:cNvPr id="10" name="Text 8"/>
          <p:cNvSpPr txBox="1"/>
          <p:nvPr/>
        </p:nvSpPr>
        <p:spPr>
          <a:xfrm>
            <a:off x="1828800" y="2450592"/>
            <a:ext cx="3291840"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Application: validation, auth</a:t>
            </a:r>
            <a:endParaRPr lang="en-US" sz="1400" dirty="0"/>
          </a:p>
        </p:txBody>
      </p:sp>
      <p:sp>
        <p:nvSpPr>
          <p:cNvPr id="11" name="Layer 5"/>
          <p:cNvSpPr/>
          <p:nvPr/>
        </p:nvSpPr>
        <p:spPr>
          <a:xfrm>
            <a:off x="2011680" y="2734056"/>
            <a:ext cx="2926080" cy="2029968"/>
          </a:xfrm>
          <a:prstGeom prst="roundRect">
            <a:avLst>
              <a:gd name="adj" fmla="val 6757"/>
            </a:avLst>
          </a:prstGeom>
          <a:solidFill>
            <a:schemeClr val="accent3"/>
          </a:solidFill>
          <a:ln w="25400">
            <a:solidFill>
              <a:srgbClr val="FFFFFF"/>
            </a:solidFill>
            <a:prstDash val="solid"/>
          </a:ln>
        </p:spPr>
      </p:sp>
      <p:sp>
        <p:nvSpPr>
          <p:cNvPr id="12" name="Text 10"/>
          <p:cNvSpPr txBox="1"/>
          <p:nvPr/>
        </p:nvSpPr>
        <p:spPr>
          <a:xfrm>
            <a:off x="2194560" y="2779776"/>
            <a:ext cx="2560320" cy="329184"/>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Data: encryption, backups</a:t>
            </a:r>
            <a:endParaRPr lang="en-US" sz="1400" dirty="0"/>
          </a:p>
        </p:txBody>
      </p:sp>
      <p:pic>
        <p:nvPicPr>
          <p:cNvPr id="13" name="Data gem icon" descr="Valuable data at the center">    </p:cNvPr>
          <p:cNvPicPr>
            <a:picLocks noChangeAspect="1"/>
          </p:cNvPicPr>
          <p:nvPr/>
        </p:nvPicPr>
        <p:blipFill>
          <a:blip r:embed="rId1"/>
          <a:stretch>
            <a:fillRect/>
          </a:stretch>
        </p:blipFill>
        <p:spPr>
          <a:xfrm>
            <a:off x="3108960" y="3886200"/>
            <a:ext cx="731520" cy="731520"/>
          </a:xfrm>
          <a:prstGeom prst="rect">
            <a:avLst/>
          </a:prstGeom>
        </p:spPr>
      </p:pic>
      <p:sp>
        <p:nvSpPr>
          <p:cNvPr id="14" name="Text 11"/>
          <p:cNvSpPr txBox="1"/>
          <p:nvPr/>
        </p:nvSpPr>
        <p:spPr>
          <a:xfrm>
            <a:off x="6858000" y="1554480"/>
            <a:ext cx="4754880" cy="54864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No single control is perfect.</a:t>
            </a:r>
            <a:endParaRPr lang="en-US" sz="2400" dirty="0"/>
          </a:p>
        </p:txBody>
      </p:sp>
      <p:sp>
        <p:nvSpPr>
          <p:cNvPr id="15" name="Text 12"/>
          <p:cNvSpPr txBox="1"/>
          <p:nvPr/>
        </p:nvSpPr>
        <p:spPr>
          <a:xfrm>
            <a:off x="6858000" y="2194560"/>
            <a:ext cx="4754880" cy="91440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Stack several independent layers, so an attacker who gets through one still meets the next.</a:t>
            </a:r>
            <a:endParaRPr lang="en-US" sz="1700" dirty="0"/>
          </a:p>
        </p:txBody>
      </p:sp>
      <p:sp>
        <p:nvSpPr>
          <p:cNvPr id="16" name="Text 13"/>
          <p:cNvSpPr txBox="1"/>
          <p:nvPr/>
        </p:nvSpPr>
        <p:spPr>
          <a:xfrm>
            <a:off x="6858000" y="3291840"/>
            <a:ext cx="4754880" cy="237744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latin typeface="Calibri" pitchFamily="34" charset="0"/>
                <a:ea typeface="Calibri" pitchFamily="34" charset="-122"/>
                <a:cs typeface="Calibri" pitchFamily="34" charset="-120"/>
              </a:rPr>
              <a:t>Example: SQL injection</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Input validation rejects bad data (Lab 2)</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Parameterized queries fix the code (Lab 2)</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DB user has minimal rights (least privilege)</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Logs show the attempts (Lab 4)</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Six principles to remember</a:t>
            </a:r>
            <a:endParaRPr lang="en-US" sz="3600" dirty="0"/>
          </a:p>
        </p:txBody>
      </p:sp>
      <p:sp>
        <p:nvSpPr>
          <p:cNvPr id="3" name="Least privilege card"/>
          <p:cNvSpPr/>
          <p:nvPr/>
        </p:nvSpPr>
        <p:spPr>
          <a:xfrm>
            <a:off x="548640" y="1463040"/>
            <a:ext cx="3474720" cy="2103120"/>
          </a:xfrm>
          <a:prstGeom prst="roundRect">
            <a:avLst>
              <a:gd name="adj" fmla="val 5217"/>
            </a:avLst>
          </a:prstGeom>
          <a:solidFill>
            <a:schemeClr val="bg2"/>
          </a:solidFill>
          <a:ln/>
        </p:spPr>
      </p:sp>
      <p:sp>
        <p:nvSpPr>
          <p:cNvPr id="4" name="Least privilege circle"/>
          <p:cNvSpPr/>
          <p:nvPr/>
        </p:nvSpPr>
        <p:spPr>
          <a:xfrm>
            <a:off x="822960" y="1737360"/>
            <a:ext cx="685800" cy="685800"/>
          </a:xfrm>
          <a:prstGeom prst="ellipse">
            <a:avLst/>
          </a:prstGeom>
          <a:solidFill>
            <a:schemeClr val="tx2"/>
          </a:solidFill>
          <a:ln/>
        </p:spPr>
      </p:sp>
      <p:pic>
        <p:nvPicPr>
          <p:cNvPr id="5" name="Least privilege icon" descr="Least privilege">    </p:cNvPr>
          <p:cNvPicPr>
            <a:picLocks noChangeAspect="1"/>
          </p:cNvPicPr>
          <p:nvPr/>
        </p:nvPicPr>
        <p:blipFill>
          <a:blip r:embed="rId1"/>
          <a:stretch>
            <a:fillRect/>
          </a:stretch>
        </p:blipFill>
        <p:spPr>
          <a:xfrm>
            <a:off x="994410" y="1908810"/>
            <a:ext cx="342900" cy="342900"/>
          </a:xfrm>
          <a:prstGeom prst="rect">
            <a:avLst/>
          </a:prstGeom>
        </p:spPr>
      </p:pic>
      <p:sp>
        <p:nvSpPr>
          <p:cNvPr id="6" name="Text 3"/>
          <p:cNvSpPr txBox="1"/>
          <p:nvPr/>
        </p:nvSpPr>
        <p:spPr>
          <a:xfrm>
            <a:off x="1645920" y="1737360"/>
            <a:ext cx="224028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Least privilege</a:t>
            </a:r>
            <a:endParaRPr lang="en-US" sz="1800" dirty="0"/>
          </a:p>
        </p:txBody>
      </p:sp>
      <p:sp>
        <p:nvSpPr>
          <p:cNvPr id="7" name="Text 4"/>
          <p:cNvSpPr txBox="1"/>
          <p:nvPr/>
        </p:nvSpPr>
        <p:spPr>
          <a:xfrm>
            <a:off x="822960" y="2560320"/>
            <a:ext cx="29718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Give each user and process only the rights it needs, nothing more.</a:t>
            </a:r>
            <a:endParaRPr lang="en-US" sz="1500" dirty="0"/>
          </a:p>
        </p:txBody>
      </p:sp>
      <p:sp>
        <p:nvSpPr>
          <p:cNvPr id="8" name="Minimize attack surface card"/>
          <p:cNvSpPr/>
          <p:nvPr/>
        </p:nvSpPr>
        <p:spPr>
          <a:xfrm>
            <a:off x="4343400" y="1463040"/>
            <a:ext cx="3474720" cy="2103120"/>
          </a:xfrm>
          <a:prstGeom prst="roundRect">
            <a:avLst>
              <a:gd name="adj" fmla="val 5217"/>
            </a:avLst>
          </a:prstGeom>
          <a:solidFill>
            <a:schemeClr val="bg2"/>
          </a:solidFill>
          <a:ln/>
        </p:spPr>
      </p:sp>
      <p:sp>
        <p:nvSpPr>
          <p:cNvPr id="9" name="Minimize attack surface circle"/>
          <p:cNvSpPr/>
          <p:nvPr/>
        </p:nvSpPr>
        <p:spPr>
          <a:xfrm>
            <a:off x="4617720" y="1737360"/>
            <a:ext cx="685800" cy="685800"/>
          </a:xfrm>
          <a:prstGeom prst="ellipse">
            <a:avLst/>
          </a:prstGeom>
          <a:solidFill>
            <a:schemeClr val="tx2"/>
          </a:solidFill>
          <a:ln/>
        </p:spPr>
      </p:sp>
      <p:pic>
        <p:nvPicPr>
          <p:cNvPr id="10" name="Minimize attack surface icon" descr="Minimize attack surface">    </p:cNvPr>
          <p:cNvPicPr>
            <a:picLocks noChangeAspect="1"/>
          </p:cNvPicPr>
          <p:nvPr/>
        </p:nvPicPr>
        <p:blipFill>
          <a:blip r:embed="rId2"/>
          <a:stretch>
            <a:fillRect/>
          </a:stretch>
        </p:blipFill>
        <p:spPr>
          <a:xfrm>
            <a:off x="4789170" y="1908810"/>
            <a:ext cx="342900" cy="342900"/>
          </a:xfrm>
          <a:prstGeom prst="rect">
            <a:avLst/>
          </a:prstGeom>
        </p:spPr>
      </p:pic>
      <p:sp>
        <p:nvSpPr>
          <p:cNvPr id="11" name="Text 7"/>
          <p:cNvSpPr txBox="1"/>
          <p:nvPr/>
        </p:nvSpPr>
        <p:spPr>
          <a:xfrm>
            <a:off x="5440680" y="1737360"/>
            <a:ext cx="224028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Minimize attack surface</a:t>
            </a:r>
            <a:endParaRPr lang="en-US" sz="1800" dirty="0"/>
          </a:p>
        </p:txBody>
      </p:sp>
      <p:sp>
        <p:nvSpPr>
          <p:cNvPr id="12" name="Text 8"/>
          <p:cNvSpPr txBox="1"/>
          <p:nvPr/>
        </p:nvSpPr>
        <p:spPr>
          <a:xfrm>
            <a:off x="4617720" y="2560320"/>
            <a:ext cx="29718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Close unused ports, remove unused services, packages and features.</a:t>
            </a:r>
            <a:endParaRPr lang="en-US" sz="1500" dirty="0"/>
          </a:p>
        </p:txBody>
      </p:sp>
      <p:sp>
        <p:nvSpPr>
          <p:cNvPr id="13" name="Secure by default card"/>
          <p:cNvSpPr/>
          <p:nvPr/>
        </p:nvSpPr>
        <p:spPr>
          <a:xfrm>
            <a:off x="8138160" y="1463040"/>
            <a:ext cx="3474720" cy="2103120"/>
          </a:xfrm>
          <a:prstGeom prst="roundRect">
            <a:avLst>
              <a:gd name="adj" fmla="val 5217"/>
            </a:avLst>
          </a:prstGeom>
          <a:solidFill>
            <a:schemeClr val="bg2"/>
          </a:solidFill>
          <a:ln/>
        </p:spPr>
      </p:sp>
      <p:sp>
        <p:nvSpPr>
          <p:cNvPr id="14" name="Secure by default circle"/>
          <p:cNvSpPr/>
          <p:nvPr/>
        </p:nvSpPr>
        <p:spPr>
          <a:xfrm>
            <a:off x="8412480" y="1737360"/>
            <a:ext cx="685800" cy="685800"/>
          </a:xfrm>
          <a:prstGeom prst="ellipse">
            <a:avLst/>
          </a:prstGeom>
          <a:solidFill>
            <a:schemeClr val="tx2"/>
          </a:solidFill>
          <a:ln/>
        </p:spPr>
      </p:sp>
      <p:pic>
        <p:nvPicPr>
          <p:cNvPr id="15" name="Secure by default icon" descr="Secure by default">    </p:cNvPr>
          <p:cNvPicPr>
            <a:picLocks noChangeAspect="1"/>
          </p:cNvPicPr>
          <p:nvPr/>
        </p:nvPicPr>
        <p:blipFill>
          <a:blip r:embed="rId3"/>
          <a:stretch>
            <a:fillRect/>
          </a:stretch>
        </p:blipFill>
        <p:spPr>
          <a:xfrm>
            <a:off x="8583930" y="1908810"/>
            <a:ext cx="342900" cy="342900"/>
          </a:xfrm>
          <a:prstGeom prst="rect">
            <a:avLst/>
          </a:prstGeom>
        </p:spPr>
      </p:pic>
      <p:sp>
        <p:nvSpPr>
          <p:cNvPr id="16" name="Text 11"/>
          <p:cNvSpPr txBox="1"/>
          <p:nvPr/>
        </p:nvSpPr>
        <p:spPr>
          <a:xfrm>
            <a:off x="9235440" y="1737360"/>
            <a:ext cx="224028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Secure by default</a:t>
            </a:r>
            <a:endParaRPr lang="en-US" sz="1800" dirty="0"/>
          </a:p>
        </p:txBody>
      </p:sp>
      <p:sp>
        <p:nvSpPr>
          <p:cNvPr id="17" name="Text 12"/>
          <p:cNvSpPr txBox="1"/>
          <p:nvPr/>
        </p:nvSpPr>
        <p:spPr>
          <a:xfrm>
            <a:off x="8412480" y="2560320"/>
            <a:ext cx="29718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Default config must be safe: no default passwords, debug mode off.</a:t>
            </a:r>
            <a:endParaRPr lang="en-US" sz="1500" dirty="0"/>
          </a:p>
        </p:txBody>
      </p:sp>
      <p:sp>
        <p:nvSpPr>
          <p:cNvPr id="18" name="Never trust input card"/>
          <p:cNvSpPr/>
          <p:nvPr/>
        </p:nvSpPr>
        <p:spPr>
          <a:xfrm>
            <a:off x="548640" y="3840480"/>
            <a:ext cx="3474720" cy="2103120"/>
          </a:xfrm>
          <a:prstGeom prst="roundRect">
            <a:avLst>
              <a:gd name="adj" fmla="val 5217"/>
            </a:avLst>
          </a:prstGeom>
          <a:solidFill>
            <a:schemeClr val="bg2"/>
          </a:solidFill>
          <a:ln/>
        </p:spPr>
      </p:sp>
      <p:sp>
        <p:nvSpPr>
          <p:cNvPr id="19" name="Never trust input circle"/>
          <p:cNvSpPr/>
          <p:nvPr/>
        </p:nvSpPr>
        <p:spPr>
          <a:xfrm>
            <a:off x="822960" y="4114800"/>
            <a:ext cx="685800" cy="685800"/>
          </a:xfrm>
          <a:prstGeom prst="ellipse">
            <a:avLst/>
          </a:prstGeom>
          <a:solidFill>
            <a:schemeClr val="tx2"/>
          </a:solidFill>
          <a:ln/>
        </p:spPr>
      </p:sp>
      <p:pic>
        <p:nvPicPr>
          <p:cNvPr id="20" name="Never trust input icon" descr="Never trust input">    </p:cNvPr>
          <p:cNvPicPr>
            <a:picLocks noChangeAspect="1"/>
          </p:cNvPicPr>
          <p:nvPr/>
        </p:nvPicPr>
        <p:blipFill>
          <a:blip r:embed="rId4"/>
          <a:stretch>
            <a:fillRect/>
          </a:stretch>
        </p:blipFill>
        <p:spPr>
          <a:xfrm>
            <a:off x="994410" y="4286250"/>
            <a:ext cx="342900" cy="342900"/>
          </a:xfrm>
          <a:prstGeom prst="rect">
            <a:avLst/>
          </a:prstGeom>
        </p:spPr>
      </p:pic>
      <p:sp>
        <p:nvSpPr>
          <p:cNvPr id="21" name="Text 15"/>
          <p:cNvSpPr txBox="1"/>
          <p:nvPr/>
        </p:nvSpPr>
        <p:spPr>
          <a:xfrm>
            <a:off x="1645920" y="4114800"/>
            <a:ext cx="224028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Never trust input</a:t>
            </a:r>
            <a:endParaRPr lang="en-US" sz="1800" dirty="0"/>
          </a:p>
        </p:txBody>
      </p:sp>
      <p:sp>
        <p:nvSpPr>
          <p:cNvPr id="22" name="Text 16"/>
          <p:cNvSpPr txBox="1"/>
          <p:nvPr/>
        </p:nvSpPr>
        <p:spPr>
          <a:xfrm>
            <a:off x="822960" y="4937760"/>
            <a:ext cx="29718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Validate everything from users, headers, files and other services.</a:t>
            </a:r>
            <a:endParaRPr lang="en-US" sz="1500" dirty="0"/>
          </a:p>
        </p:txBody>
      </p:sp>
      <p:sp>
        <p:nvSpPr>
          <p:cNvPr id="23" name="Fail securely card"/>
          <p:cNvSpPr/>
          <p:nvPr/>
        </p:nvSpPr>
        <p:spPr>
          <a:xfrm>
            <a:off x="4343400" y="3840480"/>
            <a:ext cx="3474720" cy="2103120"/>
          </a:xfrm>
          <a:prstGeom prst="roundRect">
            <a:avLst>
              <a:gd name="adj" fmla="val 5217"/>
            </a:avLst>
          </a:prstGeom>
          <a:solidFill>
            <a:schemeClr val="bg2"/>
          </a:solidFill>
          <a:ln/>
        </p:spPr>
      </p:sp>
      <p:sp>
        <p:nvSpPr>
          <p:cNvPr id="24" name="Fail securely circle"/>
          <p:cNvSpPr/>
          <p:nvPr/>
        </p:nvSpPr>
        <p:spPr>
          <a:xfrm>
            <a:off x="4617720" y="4114800"/>
            <a:ext cx="685800" cy="685800"/>
          </a:xfrm>
          <a:prstGeom prst="ellipse">
            <a:avLst/>
          </a:prstGeom>
          <a:solidFill>
            <a:schemeClr val="tx2"/>
          </a:solidFill>
          <a:ln/>
        </p:spPr>
      </p:sp>
      <p:pic>
        <p:nvPicPr>
          <p:cNvPr id="25" name="Fail securely icon" descr="Fail securely">    </p:cNvPr>
          <p:cNvPicPr>
            <a:picLocks noChangeAspect="1"/>
          </p:cNvPicPr>
          <p:nvPr/>
        </p:nvPicPr>
        <p:blipFill>
          <a:blip r:embed="rId5"/>
          <a:stretch>
            <a:fillRect/>
          </a:stretch>
        </p:blipFill>
        <p:spPr>
          <a:xfrm>
            <a:off x="4789170" y="4286250"/>
            <a:ext cx="342900" cy="342900"/>
          </a:xfrm>
          <a:prstGeom prst="rect">
            <a:avLst/>
          </a:prstGeom>
        </p:spPr>
      </p:pic>
      <p:sp>
        <p:nvSpPr>
          <p:cNvPr id="26" name="Text 19"/>
          <p:cNvSpPr txBox="1"/>
          <p:nvPr/>
        </p:nvSpPr>
        <p:spPr>
          <a:xfrm>
            <a:off x="5440680" y="4114800"/>
            <a:ext cx="224028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Fail securely</a:t>
            </a:r>
            <a:endParaRPr lang="en-US" sz="1800" dirty="0"/>
          </a:p>
        </p:txBody>
      </p:sp>
      <p:sp>
        <p:nvSpPr>
          <p:cNvPr id="27" name="Text 20"/>
          <p:cNvSpPr txBox="1"/>
          <p:nvPr/>
        </p:nvSpPr>
        <p:spPr>
          <a:xfrm>
            <a:off x="4617720" y="4937760"/>
            <a:ext cx="29718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On error, deny access and show no stack traces or internals.</a:t>
            </a:r>
            <a:endParaRPr lang="en-US" sz="1500" dirty="0"/>
          </a:p>
        </p:txBody>
      </p:sp>
      <p:sp>
        <p:nvSpPr>
          <p:cNvPr id="28" name="Keep it updated card"/>
          <p:cNvSpPr/>
          <p:nvPr/>
        </p:nvSpPr>
        <p:spPr>
          <a:xfrm>
            <a:off x="8138160" y="3840480"/>
            <a:ext cx="3474720" cy="2103120"/>
          </a:xfrm>
          <a:prstGeom prst="roundRect">
            <a:avLst>
              <a:gd name="adj" fmla="val 5217"/>
            </a:avLst>
          </a:prstGeom>
          <a:solidFill>
            <a:schemeClr val="bg2"/>
          </a:solidFill>
          <a:ln/>
        </p:spPr>
      </p:sp>
      <p:sp>
        <p:nvSpPr>
          <p:cNvPr id="29" name="Keep it updated circle"/>
          <p:cNvSpPr/>
          <p:nvPr/>
        </p:nvSpPr>
        <p:spPr>
          <a:xfrm>
            <a:off x="8412480" y="4114800"/>
            <a:ext cx="685800" cy="685800"/>
          </a:xfrm>
          <a:prstGeom prst="ellipse">
            <a:avLst/>
          </a:prstGeom>
          <a:solidFill>
            <a:schemeClr val="tx2"/>
          </a:solidFill>
          <a:ln/>
        </p:spPr>
      </p:sp>
      <p:pic>
        <p:nvPicPr>
          <p:cNvPr id="30" name="Keep it updated icon" descr="Keep it updated">    </p:cNvPr>
          <p:cNvPicPr>
            <a:picLocks noChangeAspect="1"/>
          </p:cNvPicPr>
          <p:nvPr/>
        </p:nvPicPr>
        <p:blipFill>
          <a:blip r:embed="rId6"/>
          <a:stretch>
            <a:fillRect/>
          </a:stretch>
        </p:blipFill>
        <p:spPr>
          <a:xfrm>
            <a:off x="8583930" y="4286250"/>
            <a:ext cx="342900" cy="342900"/>
          </a:xfrm>
          <a:prstGeom prst="rect">
            <a:avLst/>
          </a:prstGeom>
        </p:spPr>
      </p:pic>
      <p:sp>
        <p:nvSpPr>
          <p:cNvPr id="31" name="Text 23"/>
          <p:cNvSpPr txBox="1"/>
          <p:nvPr/>
        </p:nvSpPr>
        <p:spPr>
          <a:xfrm>
            <a:off x="9235440" y="4114800"/>
            <a:ext cx="2240280" cy="68580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Keep it updated</a:t>
            </a:r>
            <a:endParaRPr lang="en-US" sz="1800" dirty="0"/>
          </a:p>
        </p:txBody>
      </p:sp>
      <p:sp>
        <p:nvSpPr>
          <p:cNvPr id="32" name="Text 24"/>
          <p:cNvSpPr txBox="1"/>
          <p:nvPr/>
        </p:nvSpPr>
        <p:spPr>
          <a:xfrm>
            <a:off x="8412480" y="4937760"/>
            <a:ext cx="29718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Patch OS, libraries and containers. Old software = known CVEs.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OWASP Top 10:2025 – the most critical web risks</a:t>
            </a:r>
            <a:endParaRPr lang="en-US" sz="3600" dirty="0"/>
          </a:p>
        </p:txBody>
      </p:sp>
      <p:sp>
        <p:nvSpPr>
          <p:cNvPr id="3" name="A01 row"/>
          <p:cNvSpPr/>
          <p:nvPr/>
        </p:nvSpPr>
        <p:spPr>
          <a:xfrm>
            <a:off x="548640" y="1417320"/>
            <a:ext cx="5394960" cy="749808"/>
          </a:xfrm>
          <a:prstGeom prst="roundRect">
            <a:avLst>
              <a:gd name="adj" fmla="val 14634"/>
            </a:avLst>
          </a:prstGeom>
          <a:solidFill>
            <a:schemeClr val="bg2"/>
          </a:solidFill>
          <a:ln/>
        </p:spPr>
      </p:sp>
      <p:sp>
        <p:nvSpPr>
          <p:cNvPr id="4" name="A01 badge"/>
          <p:cNvSpPr/>
          <p:nvPr/>
        </p:nvSpPr>
        <p:spPr>
          <a:xfrm>
            <a:off x="685800" y="1545336"/>
            <a:ext cx="777240" cy="493776"/>
          </a:xfrm>
          <a:prstGeom prst="roundRect">
            <a:avLst>
              <a:gd name="adj" fmla="val 18519"/>
            </a:avLst>
          </a:prstGeom>
          <a:solidFill>
            <a:schemeClr val="accent3"/>
          </a:solidFill>
          <a:ln/>
        </p:spPr>
      </p:sp>
      <p:sp>
        <p:nvSpPr>
          <p:cNvPr id="5" name="Text 3"/>
          <p:cNvSpPr txBox="1"/>
          <p:nvPr/>
        </p:nvSpPr>
        <p:spPr>
          <a:xfrm>
            <a:off x="685800" y="1545336"/>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A01</a:t>
            </a:r>
            <a:endParaRPr lang="en-US" sz="1500" dirty="0"/>
          </a:p>
        </p:txBody>
      </p:sp>
      <p:sp>
        <p:nvSpPr>
          <p:cNvPr id="6" name="Text 4"/>
          <p:cNvSpPr txBox="1"/>
          <p:nvPr/>
        </p:nvSpPr>
        <p:spPr>
          <a:xfrm>
            <a:off x="1645920" y="1417320"/>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Broken Access Control</a:t>
            </a:r>
            <a:endParaRPr lang="en-US" sz="1600" dirty="0"/>
          </a:p>
        </p:txBody>
      </p:sp>
      <p:sp>
        <p:nvSpPr>
          <p:cNvPr id="7" name="Text 5"/>
          <p:cNvSpPr txBox="1"/>
          <p:nvPr/>
        </p:nvSpPr>
        <p:spPr>
          <a:xfrm>
            <a:off x="4754880" y="1417320"/>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 3</a:t>
            </a:r>
            <a:endParaRPr lang="en-US" sz="1300" dirty="0"/>
          </a:p>
        </p:txBody>
      </p:sp>
      <p:sp>
        <p:nvSpPr>
          <p:cNvPr id="8" name="A02 row"/>
          <p:cNvSpPr/>
          <p:nvPr/>
        </p:nvSpPr>
        <p:spPr>
          <a:xfrm>
            <a:off x="548640" y="2313432"/>
            <a:ext cx="5394960" cy="749808"/>
          </a:xfrm>
          <a:prstGeom prst="roundRect">
            <a:avLst>
              <a:gd name="adj" fmla="val 14634"/>
            </a:avLst>
          </a:prstGeom>
          <a:solidFill>
            <a:schemeClr val="bg2"/>
          </a:solidFill>
          <a:ln/>
        </p:spPr>
      </p:sp>
      <p:sp>
        <p:nvSpPr>
          <p:cNvPr id="9" name="A02 badge"/>
          <p:cNvSpPr/>
          <p:nvPr/>
        </p:nvSpPr>
        <p:spPr>
          <a:xfrm>
            <a:off x="685800" y="2441448"/>
            <a:ext cx="777240" cy="493776"/>
          </a:xfrm>
          <a:prstGeom prst="roundRect">
            <a:avLst>
              <a:gd name="adj" fmla="val 18519"/>
            </a:avLst>
          </a:prstGeom>
          <a:solidFill>
            <a:schemeClr val="accent3"/>
          </a:solidFill>
          <a:ln/>
        </p:spPr>
      </p:sp>
      <p:sp>
        <p:nvSpPr>
          <p:cNvPr id="10" name="Text 8"/>
          <p:cNvSpPr txBox="1"/>
          <p:nvPr/>
        </p:nvSpPr>
        <p:spPr>
          <a:xfrm>
            <a:off x="685800" y="2441448"/>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A02</a:t>
            </a:r>
            <a:endParaRPr lang="en-US" sz="1500" dirty="0"/>
          </a:p>
        </p:txBody>
      </p:sp>
      <p:sp>
        <p:nvSpPr>
          <p:cNvPr id="11" name="Text 9"/>
          <p:cNvSpPr txBox="1"/>
          <p:nvPr/>
        </p:nvSpPr>
        <p:spPr>
          <a:xfrm>
            <a:off x="1645920" y="2313432"/>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Security Misconfiguration</a:t>
            </a:r>
            <a:endParaRPr lang="en-US" sz="1600" dirty="0"/>
          </a:p>
        </p:txBody>
      </p:sp>
      <p:sp>
        <p:nvSpPr>
          <p:cNvPr id="12" name="Text 10"/>
          <p:cNvSpPr txBox="1"/>
          <p:nvPr/>
        </p:nvSpPr>
        <p:spPr>
          <a:xfrm>
            <a:off x="4754880" y="2313432"/>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Labs 4, 5</a:t>
            </a:r>
            <a:endParaRPr lang="en-US" sz="1300" dirty="0"/>
          </a:p>
        </p:txBody>
      </p:sp>
      <p:sp>
        <p:nvSpPr>
          <p:cNvPr id="13" name="A03 row"/>
          <p:cNvSpPr/>
          <p:nvPr/>
        </p:nvSpPr>
        <p:spPr>
          <a:xfrm>
            <a:off x="548640" y="3209544"/>
            <a:ext cx="5394960" cy="749808"/>
          </a:xfrm>
          <a:prstGeom prst="roundRect">
            <a:avLst>
              <a:gd name="adj" fmla="val 14634"/>
            </a:avLst>
          </a:prstGeom>
          <a:solidFill>
            <a:schemeClr val="bg2"/>
          </a:solidFill>
          <a:ln/>
        </p:spPr>
      </p:sp>
      <p:sp>
        <p:nvSpPr>
          <p:cNvPr id="14" name="A03 badge"/>
          <p:cNvSpPr/>
          <p:nvPr/>
        </p:nvSpPr>
        <p:spPr>
          <a:xfrm>
            <a:off x="685800" y="3337560"/>
            <a:ext cx="777240" cy="493776"/>
          </a:xfrm>
          <a:prstGeom prst="roundRect">
            <a:avLst>
              <a:gd name="adj" fmla="val 18519"/>
            </a:avLst>
          </a:prstGeom>
          <a:solidFill>
            <a:schemeClr val="accent3"/>
          </a:solidFill>
          <a:ln/>
        </p:spPr>
      </p:sp>
      <p:sp>
        <p:nvSpPr>
          <p:cNvPr id="15" name="Text 13"/>
          <p:cNvSpPr txBox="1"/>
          <p:nvPr/>
        </p:nvSpPr>
        <p:spPr>
          <a:xfrm>
            <a:off x="685800" y="3337560"/>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A03</a:t>
            </a:r>
            <a:endParaRPr lang="en-US" sz="1500" dirty="0"/>
          </a:p>
        </p:txBody>
      </p:sp>
      <p:sp>
        <p:nvSpPr>
          <p:cNvPr id="16" name="Text 14"/>
          <p:cNvSpPr txBox="1"/>
          <p:nvPr/>
        </p:nvSpPr>
        <p:spPr>
          <a:xfrm>
            <a:off x="1645920" y="3209544"/>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Software Supply Chain Failures</a:t>
            </a:r>
            <a:endParaRPr lang="en-US" sz="1600" dirty="0"/>
          </a:p>
        </p:txBody>
      </p:sp>
      <p:sp>
        <p:nvSpPr>
          <p:cNvPr id="17" name="Text 15"/>
          <p:cNvSpPr txBox="1"/>
          <p:nvPr/>
        </p:nvSpPr>
        <p:spPr>
          <a:xfrm>
            <a:off x="4754880" y="3209544"/>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 5</a:t>
            </a:r>
            <a:endParaRPr lang="en-US" sz="1300" dirty="0"/>
          </a:p>
        </p:txBody>
      </p:sp>
      <p:sp>
        <p:nvSpPr>
          <p:cNvPr id="18" name="A04 row"/>
          <p:cNvSpPr/>
          <p:nvPr/>
        </p:nvSpPr>
        <p:spPr>
          <a:xfrm>
            <a:off x="548640" y="4105656"/>
            <a:ext cx="5394960" cy="749808"/>
          </a:xfrm>
          <a:prstGeom prst="roundRect">
            <a:avLst>
              <a:gd name="adj" fmla="val 14634"/>
            </a:avLst>
          </a:prstGeom>
          <a:solidFill>
            <a:schemeClr val="bg2"/>
          </a:solidFill>
          <a:ln/>
        </p:spPr>
      </p:sp>
      <p:sp>
        <p:nvSpPr>
          <p:cNvPr id="19" name="A04 badge"/>
          <p:cNvSpPr/>
          <p:nvPr/>
        </p:nvSpPr>
        <p:spPr>
          <a:xfrm>
            <a:off x="685800" y="4233672"/>
            <a:ext cx="777240" cy="493776"/>
          </a:xfrm>
          <a:prstGeom prst="roundRect">
            <a:avLst>
              <a:gd name="adj" fmla="val 18519"/>
            </a:avLst>
          </a:prstGeom>
          <a:solidFill>
            <a:schemeClr val="tx2"/>
          </a:solidFill>
          <a:ln/>
        </p:spPr>
      </p:sp>
      <p:sp>
        <p:nvSpPr>
          <p:cNvPr id="20" name="Text 18"/>
          <p:cNvSpPr txBox="1"/>
          <p:nvPr/>
        </p:nvSpPr>
        <p:spPr>
          <a:xfrm>
            <a:off x="685800" y="4233672"/>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A04</a:t>
            </a:r>
            <a:endParaRPr lang="en-US" sz="1500" dirty="0"/>
          </a:p>
        </p:txBody>
      </p:sp>
      <p:sp>
        <p:nvSpPr>
          <p:cNvPr id="21" name="Text 19"/>
          <p:cNvSpPr txBox="1"/>
          <p:nvPr/>
        </p:nvSpPr>
        <p:spPr>
          <a:xfrm>
            <a:off x="1645920" y="4105656"/>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Cryptographic Failures</a:t>
            </a:r>
            <a:endParaRPr lang="en-US" sz="1600" dirty="0"/>
          </a:p>
        </p:txBody>
      </p:sp>
      <p:sp>
        <p:nvSpPr>
          <p:cNvPr id="22" name="Text 20"/>
          <p:cNvSpPr txBox="1"/>
          <p:nvPr/>
        </p:nvSpPr>
        <p:spPr>
          <a:xfrm>
            <a:off x="4754880" y="4105656"/>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Labs 3, 5</a:t>
            </a:r>
            <a:endParaRPr lang="en-US" sz="1300" dirty="0"/>
          </a:p>
        </p:txBody>
      </p:sp>
      <p:sp>
        <p:nvSpPr>
          <p:cNvPr id="23" name="A05 row"/>
          <p:cNvSpPr/>
          <p:nvPr/>
        </p:nvSpPr>
        <p:spPr>
          <a:xfrm>
            <a:off x="548640" y="5001768"/>
            <a:ext cx="5394960" cy="749808"/>
          </a:xfrm>
          <a:prstGeom prst="roundRect">
            <a:avLst>
              <a:gd name="adj" fmla="val 14634"/>
            </a:avLst>
          </a:prstGeom>
          <a:solidFill>
            <a:schemeClr val="bg2"/>
          </a:solidFill>
          <a:ln/>
        </p:spPr>
      </p:sp>
      <p:sp>
        <p:nvSpPr>
          <p:cNvPr id="24" name="A05 badge"/>
          <p:cNvSpPr/>
          <p:nvPr/>
        </p:nvSpPr>
        <p:spPr>
          <a:xfrm>
            <a:off x="685800" y="5129784"/>
            <a:ext cx="777240" cy="493776"/>
          </a:xfrm>
          <a:prstGeom prst="roundRect">
            <a:avLst>
              <a:gd name="adj" fmla="val 18519"/>
            </a:avLst>
          </a:prstGeom>
          <a:solidFill>
            <a:schemeClr val="tx2"/>
          </a:solidFill>
          <a:ln/>
        </p:spPr>
      </p:sp>
      <p:sp>
        <p:nvSpPr>
          <p:cNvPr id="25" name="Text 23"/>
          <p:cNvSpPr txBox="1"/>
          <p:nvPr/>
        </p:nvSpPr>
        <p:spPr>
          <a:xfrm>
            <a:off x="685800" y="5129784"/>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A05</a:t>
            </a:r>
            <a:endParaRPr lang="en-US" sz="1500" dirty="0"/>
          </a:p>
        </p:txBody>
      </p:sp>
      <p:sp>
        <p:nvSpPr>
          <p:cNvPr id="26" name="Text 24"/>
          <p:cNvSpPr txBox="1"/>
          <p:nvPr/>
        </p:nvSpPr>
        <p:spPr>
          <a:xfrm>
            <a:off x="1645920" y="5001768"/>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Injection</a:t>
            </a:r>
            <a:endParaRPr lang="en-US" sz="1600" dirty="0"/>
          </a:p>
        </p:txBody>
      </p:sp>
      <p:sp>
        <p:nvSpPr>
          <p:cNvPr id="27" name="Text 25"/>
          <p:cNvSpPr txBox="1"/>
          <p:nvPr/>
        </p:nvSpPr>
        <p:spPr>
          <a:xfrm>
            <a:off x="4754880" y="5001768"/>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 2</a:t>
            </a:r>
            <a:endParaRPr lang="en-US" sz="1300" dirty="0"/>
          </a:p>
        </p:txBody>
      </p:sp>
      <p:sp>
        <p:nvSpPr>
          <p:cNvPr id="28" name="A06 row"/>
          <p:cNvSpPr/>
          <p:nvPr/>
        </p:nvSpPr>
        <p:spPr>
          <a:xfrm>
            <a:off x="6217920" y="1417320"/>
            <a:ext cx="5394960" cy="749808"/>
          </a:xfrm>
          <a:prstGeom prst="roundRect">
            <a:avLst>
              <a:gd name="adj" fmla="val 14634"/>
            </a:avLst>
          </a:prstGeom>
          <a:solidFill>
            <a:schemeClr val="bg2"/>
          </a:solidFill>
          <a:ln/>
        </p:spPr>
      </p:sp>
      <p:sp>
        <p:nvSpPr>
          <p:cNvPr id="29" name="A06 badge"/>
          <p:cNvSpPr/>
          <p:nvPr/>
        </p:nvSpPr>
        <p:spPr>
          <a:xfrm>
            <a:off x="6355080" y="1545336"/>
            <a:ext cx="777240" cy="493776"/>
          </a:xfrm>
          <a:prstGeom prst="roundRect">
            <a:avLst>
              <a:gd name="adj" fmla="val 18519"/>
            </a:avLst>
          </a:prstGeom>
          <a:solidFill>
            <a:schemeClr val="tx2"/>
          </a:solidFill>
          <a:ln/>
        </p:spPr>
      </p:sp>
      <p:sp>
        <p:nvSpPr>
          <p:cNvPr id="30" name="Text 28"/>
          <p:cNvSpPr txBox="1"/>
          <p:nvPr/>
        </p:nvSpPr>
        <p:spPr>
          <a:xfrm>
            <a:off x="6355080" y="1545336"/>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A06</a:t>
            </a:r>
            <a:endParaRPr lang="en-US" sz="1500" dirty="0"/>
          </a:p>
        </p:txBody>
      </p:sp>
      <p:sp>
        <p:nvSpPr>
          <p:cNvPr id="31" name="Text 29"/>
          <p:cNvSpPr txBox="1"/>
          <p:nvPr/>
        </p:nvSpPr>
        <p:spPr>
          <a:xfrm>
            <a:off x="7315200" y="1417320"/>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Insecure Design</a:t>
            </a:r>
            <a:endParaRPr lang="en-US" sz="1600" dirty="0"/>
          </a:p>
        </p:txBody>
      </p:sp>
      <p:sp>
        <p:nvSpPr>
          <p:cNvPr id="32" name="Text 30"/>
          <p:cNvSpPr txBox="1"/>
          <p:nvPr/>
        </p:nvSpPr>
        <p:spPr>
          <a:xfrm>
            <a:off x="10424160" y="1417320"/>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 1</a:t>
            </a:r>
            <a:endParaRPr lang="en-US" sz="1300" dirty="0"/>
          </a:p>
        </p:txBody>
      </p:sp>
      <p:sp>
        <p:nvSpPr>
          <p:cNvPr id="33" name="A07 row"/>
          <p:cNvSpPr/>
          <p:nvPr/>
        </p:nvSpPr>
        <p:spPr>
          <a:xfrm>
            <a:off x="6217920" y="2313432"/>
            <a:ext cx="5394960" cy="749808"/>
          </a:xfrm>
          <a:prstGeom prst="roundRect">
            <a:avLst>
              <a:gd name="adj" fmla="val 14634"/>
            </a:avLst>
          </a:prstGeom>
          <a:solidFill>
            <a:schemeClr val="bg2"/>
          </a:solidFill>
          <a:ln/>
        </p:spPr>
      </p:sp>
      <p:sp>
        <p:nvSpPr>
          <p:cNvPr id="34" name="A07 badge"/>
          <p:cNvSpPr/>
          <p:nvPr/>
        </p:nvSpPr>
        <p:spPr>
          <a:xfrm>
            <a:off x="6355080" y="2441448"/>
            <a:ext cx="777240" cy="493776"/>
          </a:xfrm>
          <a:prstGeom prst="roundRect">
            <a:avLst>
              <a:gd name="adj" fmla="val 18519"/>
            </a:avLst>
          </a:prstGeom>
          <a:solidFill>
            <a:schemeClr val="tx2"/>
          </a:solidFill>
          <a:ln/>
        </p:spPr>
      </p:sp>
      <p:sp>
        <p:nvSpPr>
          <p:cNvPr id="35" name="Text 33"/>
          <p:cNvSpPr txBox="1"/>
          <p:nvPr/>
        </p:nvSpPr>
        <p:spPr>
          <a:xfrm>
            <a:off x="6355080" y="2441448"/>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A07</a:t>
            </a:r>
            <a:endParaRPr lang="en-US" sz="1500" dirty="0"/>
          </a:p>
        </p:txBody>
      </p:sp>
      <p:sp>
        <p:nvSpPr>
          <p:cNvPr id="36" name="Text 34"/>
          <p:cNvSpPr txBox="1"/>
          <p:nvPr/>
        </p:nvSpPr>
        <p:spPr>
          <a:xfrm>
            <a:off x="7315200" y="2313432"/>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Authentication Failures</a:t>
            </a:r>
            <a:endParaRPr lang="en-US" sz="1600" dirty="0"/>
          </a:p>
        </p:txBody>
      </p:sp>
      <p:sp>
        <p:nvSpPr>
          <p:cNvPr id="37" name="Text 35"/>
          <p:cNvSpPr txBox="1"/>
          <p:nvPr/>
        </p:nvSpPr>
        <p:spPr>
          <a:xfrm>
            <a:off x="10424160" y="2313432"/>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 3</a:t>
            </a:r>
            <a:endParaRPr lang="en-US" sz="1300" dirty="0"/>
          </a:p>
        </p:txBody>
      </p:sp>
      <p:sp>
        <p:nvSpPr>
          <p:cNvPr id="38" name="A08 row"/>
          <p:cNvSpPr/>
          <p:nvPr/>
        </p:nvSpPr>
        <p:spPr>
          <a:xfrm>
            <a:off x="6217920" y="3209544"/>
            <a:ext cx="5394960" cy="749808"/>
          </a:xfrm>
          <a:prstGeom prst="roundRect">
            <a:avLst>
              <a:gd name="adj" fmla="val 14634"/>
            </a:avLst>
          </a:prstGeom>
          <a:solidFill>
            <a:schemeClr val="bg2"/>
          </a:solidFill>
          <a:ln/>
        </p:spPr>
      </p:sp>
      <p:sp>
        <p:nvSpPr>
          <p:cNvPr id="39" name="A08 badge"/>
          <p:cNvSpPr/>
          <p:nvPr/>
        </p:nvSpPr>
        <p:spPr>
          <a:xfrm>
            <a:off x="6355080" y="3337560"/>
            <a:ext cx="777240" cy="493776"/>
          </a:xfrm>
          <a:prstGeom prst="roundRect">
            <a:avLst>
              <a:gd name="adj" fmla="val 18519"/>
            </a:avLst>
          </a:prstGeom>
          <a:solidFill>
            <a:schemeClr val="tx2"/>
          </a:solidFill>
          <a:ln/>
        </p:spPr>
      </p:sp>
      <p:sp>
        <p:nvSpPr>
          <p:cNvPr id="40" name="Text 38"/>
          <p:cNvSpPr txBox="1"/>
          <p:nvPr/>
        </p:nvSpPr>
        <p:spPr>
          <a:xfrm>
            <a:off x="6355080" y="3337560"/>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A08</a:t>
            </a:r>
            <a:endParaRPr lang="en-US" sz="1500" dirty="0"/>
          </a:p>
        </p:txBody>
      </p:sp>
      <p:sp>
        <p:nvSpPr>
          <p:cNvPr id="41" name="Text 39"/>
          <p:cNvSpPr txBox="1"/>
          <p:nvPr/>
        </p:nvSpPr>
        <p:spPr>
          <a:xfrm>
            <a:off x="7315200" y="3209544"/>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Software or Data Integrity Failures</a:t>
            </a:r>
            <a:endParaRPr lang="en-US" sz="1600" dirty="0"/>
          </a:p>
        </p:txBody>
      </p:sp>
      <p:sp>
        <p:nvSpPr>
          <p:cNvPr id="42" name="Text 40"/>
          <p:cNvSpPr txBox="1"/>
          <p:nvPr/>
        </p:nvSpPr>
        <p:spPr>
          <a:xfrm>
            <a:off x="10424160" y="3209544"/>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 5</a:t>
            </a:r>
            <a:endParaRPr lang="en-US" sz="1300" dirty="0"/>
          </a:p>
        </p:txBody>
      </p:sp>
      <p:sp>
        <p:nvSpPr>
          <p:cNvPr id="43" name="A09 row"/>
          <p:cNvSpPr/>
          <p:nvPr/>
        </p:nvSpPr>
        <p:spPr>
          <a:xfrm>
            <a:off x="6217920" y="4105656"/>
            <a:ext cx="5394960" cy="749808"/>
          </a:xfrm>
          <a:prstGeom prst="roundRect">
            <a:avLst>
              <a:gd name="adj" fmla="val 14634"/>
            </a:avLst>
          </a:prstGeom>
          <a:solidFill>
            <a:schemeClr val="bg2"/>
          </a:solidFill>
          <a:ln/>
        </p:spPr>
      </p:sp>
      <p:sp>
        <p:nvSpPr>
          <p:cNvPr id="44" name="A09 badge"/>
          <p:cNvSpPr/>
          <p:nvPr/>
        </p:nvSpPr>
        <p:spPr>
          <a:xfrm>
            <a:off x="6355080" y="4233672"/>
            <a:ext cx="777240" cy="493776"/>
          </a:xfrm>
          <a:prstGeom prst="roundRect">
            <a:avLst>
              <a:gd name="adj" fmla="val 18519"/>
            </a:avLst>
          </a:prstGeom>
          <a:solidFill>
            <a:schemeClr val="tx2"/>
          </a:solidFill>
          <a:ln/>
        </p:spPr>
      </p:sp>
      <p:sp>
        <p:nvSpPr>
          <p:cNvPr id="45" name="Text 43"/>
          <p:cNvSpPr txBox="1"/>
          <p:nvPr/>
        </p:nvSpPr>
        <p:spPr>
          <a:xfrm>
            <a:off x="6355080" y="4233672"/>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A09</a:t>
            </a:r>
            <a:endParaRPr lang="en-US" sz="1500" dirty="0"/>
          </a:p>
        </p:txBody>
      </p:sp>
      <p:sp>
        <p:nvSpPr>
          <p:cNvPr id="46" name="Text 44"/>
          <p:cNvSpPr txBox="1"/>
          <p:nvPr/>
        </p:nvSpPr>
        <p:spPr>
          <a:xfrm>
            <a:off x="7315200" y="4105656"/>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Security Logging &amp; Alerting Failures</a:t>
            </a:r>
            <a:endParaRPr lang="en-US" sz="1600" dirty="0"/>
          </a:p>
        </p:txBody>
      </p:sp>
      <p:sp>
        <p:nvSpPr>
          <p:cNvPr id="47" name="Text 45"/>
          <p:cNvSpPr txBox="1"/>
          <p:nvPr/>
        </p:nvSpPr>
        <p:spPr>
          <a:xfrm>
            <a:off x="10424160" y="4105656"/>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 4</a:t>
            </a:r>
            <a:endParaRPr lang="en-US" sz="1300" dirty="0"/>
          </a:p>
        </p:txBody>
      </p:sp>
      <p:sp>
        <p:nvSpPr>
          <p:cNvPr id="48" name="A10 row"/>
          <p:cNvSpPr/>
          <p:nvPr/>
        </p:nvSpPr>
        <p:spPr>
          <a:xfrm>
            <a:off x="6217920" y="5001768"/>
            <a:ext cx="5394960" cy="749808"/>
          </a:xfrm>
          <a:prstGeom prst="roundRect">
            <a:avLst>
              <a:gd name="adj" fmla="val 14634"/>
            </a:avLst>
          </a:prstGeom>
          <a:solidFill>
            <a:schemeClr val="bg2"/>
          </a:solidFill>
          <a:ln/>
        </p:spPr>
      </p:sp>
      <p:sp>
        <p:nvSpPr>
          <p:cNvPr id="49" name="A10 badge"/>
          <p:cNvSpPr/>
          <p:nvPr/>
        </p:nvSpPr>
        <p:spPr>
          <a:xfrm>
            <a:off x="6355080" y="5129784"/>
            <a:ext cx="777240" cy="493776"/>
          </a:xfrm>
          <a:prstGeom prst="roundRect">
            <a:avLst>
              <a:gd name="adj" fmla="val 18519"/>
            </a:avLst>
          </a:prstGeom>
          <a:solidFill>
            <a:schemeClr val="tx2"/>
          </a:solidFill>
          <a:ln/>
        </p:spPr>
      </p:sp>
      <p:sp>
        <p:nvSpPr>
          <p:cNvPr id="50" name="Text 48"/>
          <p:cNvSpPr txBox="1"/>
          <p:nvPr/>
        </p:nvSpPr>
        <p:spPr>
          <a:xfrm>
            <a:off x="6355080" y="5129784"/>
            <a:ext cx="777240" cy="493776"/>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A10</a:t>
            </a:r>
            <a:endParaRPr lang="en-US" sz="1500" dirty="0"/>
          </a:p>
        </p:txBody>
      </p:sp>
      <p:sp>
        <p:nvSpPr>
          <p:cNvPr id="51" name="Text 49"/>
          <p:cNvSpPr txBox="1"/>
          <p:nvPr/>
        </p:nvSpPr>
        <p:spPr>
          <a:xfrm>
            <a:off x="7315200" y="5001768"/>
            <a:ext cx="3108960" cy="749808"/>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Mishandling of Exceptional Conditions</a:t>
            </a:r>
            <a:endParaRPr lang="en-US" sz="1600" dirty="0"/>
          </a:p>
        </p:txBody>
      </p:sp>
      <p:sp>
        <p:nvSpPr>
          <p:cNvPr id="52" name="Text 50"/>
          <p:cNvSpPr txBox="1"/>
          <p:nvPr/>
        </p:nvSpPr>
        <p:spPr>
          <a:xfrm>
            <a:off x="10424160" y="5001768"/>
            <a:ext cx="1051560" cy="749808"/>
          </a:xfrm>
          <a:prstGeom prst="rect">
            <a:avLst/>
          </a:prstGeom>
          <a:noFill/>
          <a:ln/>
        </p:spPr>
        <p:txBody>
          <a:bodyPr wrap="square" lIns="0" tIns="0" rIns="0" bIns="0" rtlCol="0" anchor="ctr"/>
          <a:lstStyle/>
          <a:p>
            <a:pPr algn="r" indent="0" marL="0">
              <a:buNone/>
            </a:pPr>
            <a:r>
              <a:rPr lang="en-US" sz="1300" b="1" dirty="0">
                <a:solidFill>
                  <a:schemeClr val="accent2"/>
                </a:solidFill>
                <a:latin typeface="Calibri" pitchFamily="34" charset="0"/>
                <a:ea typeface="Calibri" pitchFamily="34" charset="-122"/>
                <a:cs typeface="Calibri" pitchFamily="34" charset="-120"/>
              </a:rPr>
              <a:t>Lab 2</a:t>
            </a:r>
            <a:endParaRPr lang="en-US" sz="1300" dirty="0"/>
          </a:p>
        </p:txBody>
      </p:sp>
      <p:sp>
        <p:nvSpPr>
          <p:cNvPr id="53" name="Text 51"/>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owasp.org/Top10  ·  right column: the lab where we practice it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CVE and CVSS: naming and scoring vulnerabilities</a:t>
            </a:r>
            <a:endParaRPr lang="en-US" sz="3600" dirty="0"/>
          </a:p>
        </p:txBody>
      </p:sp>
      <p:sp>
        <p:nvSpPr>
          <p:cNvPr id="3" name="CVE card"/>
          <p:cNvSpPr/>
          <p:nvPr/>
        </p:nvSpPr>
        <p:spPr>
          <a:xfrm>
            <a:off x="548640" y="1463040"/>
            <a:ext cx="5120640" cy="2194560"/>
          </a:xfrm>
          <a:prstGeom prst="roundRect">
            <a:avLst>
              <a:gd name="adj" fmla="val 5000"/>
            </a:avLst>
          </a:prstGeom>
          <a:solidFill>
            <a:schemeClr val="bg2"/>
          </a:solidFill>
          <a:ln/>
        </p:spPr>
      </p:sp>
      <p:sp>
        <p:nvSpPr>
          <p:cNvPr id="4" name="Text 2"/>
          <p:cNvSpPr txBox="1"/>
          <p:nvPr/>
        </p:nvSpPr>
        <p:spPr>
          <a:xfrm>
            <a:off x="822960" y="1645920"/>
            <a:ext cx="4572000"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CVE = a unique ID</a:t>
            </a:r>
            <a:endParaRPr lang="en-US" sz="2000" dirty="0"/>
          </a:p>
        </p:txBody>
      </p:sp>
      <p:sp>
        <p:nvSpPr>
          <p:cNvPr id="5" name="Text 3"/>
          <p:cNvSpPr txBox="1"/>
          <p:nvPr/>
        </p:nvSpPr>
        <p:spPr>
          <a:xfrm>
            <a:off x="822960" y="2148840"/>
            <a:ext cx="4572000" cy="640080"/>
          </a:xfrm>
          <a:prstGeom prst="rect">
            <a:avLst/>
          </a:prstGeom>
          <a:noFill/>
          <a:ln/>
        </p:spPr>
        <p:txBody>
          <a:bodyPr wrap="square" lIns="0" tIns="0" rIns="0" bIns="0" rtlCol="0" anchor="t"/>
          <a:lstStyle/>
          <a:p>
            <a:pPr indent="0" marL="0">
              <a:buNone/>
            </a:pPr>
            <a:r>
              <a:rPr lang="en-US" sz="3000" b="1" dirty="0">
                <a:solidFill>
                  <a:schemeClr val="tx2"/>
                </a:solidFill>
                <a:latin typeface="Courier New" pitchFamily="34" charset="0"/>
                <a:ea typeface="Courier New" pitchFamily="34" charset="-122"/>
                <a:cs typeface="Courier New" pitchFamily="34" charset="-120"/>
              </a:rPr>
              <a:t>CVE-</a:t>
            </a:r>
            <a:pPr indent="0" marL="0">
              <a:buNone/>
            </a:pPr>
            <a:r>
              <a:rPr lang="en-US" sz="3000" b="1" dirty="0">
                <a:solidFill>
                  <a:schemeClr val="accent2"/>
                </a:solidFill>
                <a:latin typeface="Courier New" pitchFamily="34" charset="0"/>
                <a:ea typeface="Courier New" pitchFamily="34" charset="-122"/>
                <a:cs typeface="Courier New" pitchFamily="34" charset="-120"/>
              </a:rPr>
              <a:t>2021</a:t>
            </a:r>
            <a:pPr indent="0" marL="0">
              <a:buNone/>
            </a:pPr>
            <a:r>
              <a:rPr lang="en-US" sz="3000" b="1" dirty="0">
                <a:solidFill>
                  <a:schemeClr val="tx2"/>
                </a:solidFill>
                <a:latin typeface="Courier New" pitchFamily="34" charset="0"/>
                <a:ea typeface="Courier New" pitchFamily="34" charset="-122"/>
                <a:cs typeface="Courier New" pitchFamily="34" charset="-120"/>
              </a:rPr>
              <a:t>-</a:t>
            </a:r>
            <a:pPr indent="0" marL="0">
              <a:buNone/>
            </a:pPr>
            <a:r>
              <a:rPr lang="en-US" sz="3000" b="1" dirty="0">
                <a:solidFill>
                  <a:schemeClr val="accent3"/>
                </a:solidFill>
                <a:latin typeface="Courier New" pitchFamily="34" charset="0"/>
                <a:ea typeface="Courier New" pitchFamily="34" charset="-122"/>
                <a:cs typeface="Courier New" pitchFamily="34" charset="-120"/>
              </a:rPr>
              <a:t>44228</a:t>
            </a:r>
            <a:endParaRPr lang="en-US" sz="3000" dirty="0"/>
          </a:p>
        </p:txBody>
      </p:sp>
      <p:sp>
        <p:nvSpPr>
          <p:cNvPr id="6" name="Text 4"/>
          <p:cNvSpPr txBox="1"/>
          <p:nvPr/>
        </p:nvSpPr>
        <p:spPr>
          <a:xfrm>
            <a:off x="822960" y="2880360"/>
            <a:ext cx="4572000" cy="548640"/>
          </a:xfrm>
          <a:prstGeom prst="rect">
            <a:avLst/>
          </a:prstGeom>
          <a:noFill/>
          <a:ln/>
        </p:spPr>
        <p:txBody>
          <a:bodyPr wrap="square" lIns="0" tIns="0" rIns="0" bIns="0" rtlCol="0" anchor="t"/>
          <a:lstStyle/>
          <a:p>
            <a:pPr indent="0" marL="0">
              <a:buNone/>
            </a:pPr>
            <a:r>
              <a:rPr lang="en-US" sz="1500" b="1" dirty="0">
                <a:solidFill>
                  <a:schemeClr val="accent2"/>
                </a:solidFill>
                <a:latin typeface="Calibri" pitchFamily="34" charset="0"/>
                <a:ea typeface="Calibri" pitchFamily="34" charset="-122"/>
                <a:cs typeface="Calibri" pitchFamily="34" charset="-120"/>
              </a:rPr>
              <a:t>year</a:t>
            </a:r>
            <a:pPr indent="0" marL="0">
              <a:buNone/>
            </a:pPr>
            <a:r>
              <a:rPr lang="en-US" sz="1500" dirty="0">
                <a:solidFill>
                  <a:schemeClr val="accent5"/>
                </a:solidFill>
                <a:latin typeface="Calibri" pitchFamily="34" charset="0"/>
                <a:ea typeface="Calibri" pitchFamily="34" charset="-122"/>
                <a:cs typeface="Calibri" pitchFamily="34" charset="-120"/>
              </a:rPr>
              <a:t> + </a:t>
            </a:r>
            <a:pPr indent="0" marL="0">
              <a:buNone/>
            </a:pPr>
            <a:r>
              <a:rPr lang="en-US" sz="1500" b="1" dirty="0">
                <a:solidFill>
                  <a:schemeClr val="accent3"/>
                </a:solidFill>
                <a:latin typeface="Calibri" pitchFamily="34" charset="0"/>
                <a:ea typeface="Calibri" pitchFamily="34" charset="-122"/>
                <a:cs typeface="Calibri" pitchFamily="34" charset="-120"/>
              </a:rPr>
              <a:t>number</a:t>
            </a:r>
            <a:pPr indent="0" marL="0">
              <a:buNone/>
            </a:pPr>
            <a:r>
              <a:rPr lang="en-US" sz="1500" dirty="0">
                <a:solidFill>
                  <a:schemeClr val="accent5"/>
                </a:solidFill>
                <a:latin typeface="Calibri" pitchFamily="34" charset="0"/>
                <a:ea typeface="Calibri" pitchFamily="34" charset="-122"/>
                <a:cs typeface="Calibri" pitchFamily="34" charset="-120"/>
              </a:rPr>
              <a:t>  ·  this one is Log4Shell (Apache Log4j)</a:t>
            </a:r>
            <a:endParaRPr lang="en-US" sz="1500" dirty="0"/>
          </a:p>
        </p:txBody>
      </p:sp>
      <p:sp>
        <p:nvSpPr>
          <p:cNvPr id="7" name="CVSS card"/>
          <p:cNvSpPr/>
          <p:nvPr/>
        </p:nvSpPr>
        <p:spPr>
          <a:xfrm>
            <a:off x="6035040" y="1463040"/>
            <a:ext cx="5577840" cy="2194560"/>
          </a:xfrm>
          <a:prstGeom prst="roundRect">
            <a:avLst>
              <a:gd name="adj" fmla="val 5000"/>
            </a:avLst>
          </a:prstGeom>
          <a:solidFill>
            <a:schemeClr val="bg2"/>
          </a:solidFill>
          <a:ln/>
        </p:spPr>
      </p:sp>
      <p:sp>
        <p:nvSpPr>
          <p:cNvPr id="8" name="Text 6"/>
          <p:cNvSpPr txBox="1"/>
          <p:nvPr/>
        </p:nvSpPr>
        <p:spPr>
          <a:xfrm>
            <a:off x="6309360" y="1645920"/>
            <a:ext cx="5029200"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CVSS = severity score 0–10</a:t>
            </a:r>
            <a:endParaRPr lang="en-US" sz="2000" dirty="0"/>
          </a:p>
        </p:txBody>
      </p:sp>
      <p:sp>
        <p:nvSpPr>
          <p:cNvPr id="9" name="Text 7"/>
          <p:cNvSpPr txBox="1"/>
          <p:nvPr/>
        </p:nvSpPr>
        <p:spPr>
          <a:xfrm>
            <a:off x="6309360" y="2148840"/>
            <a:ext cx="5029200" cy="12801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Based on: how it is reached (network or local), how hard it is, privileges needed, user interaction, and the impact on C, I and A.</a:t>
            </a:r>
            <a:endParaRPr lang="en-US" sz="1500" dirty="0"/>
          </a:p>
        </p:txBody>
      </p:sp>
      <p:sp>
        <p:nvSpPr>
          <p:cNvPr id="10" name="None severity"/>
          <p:cNvSpPr/>
          <p:nvPr/>
        </p:nvSpPr>
        <p:spPr>
          <a:xfrm>
            <a:off x="548640" y="4069080"/>
            <a:ext cx="2212848" cy="914400"/>
          </a:xfrm>
          <a:prstGeom prst="rect">
            <a:avLst/>
          </a:prstGeom>
          <a:solidFill>
            <a:srgbClr val="A3AEBB"/>
          </a:solidFill>
          <a:ln w="25400">
            <a:solidFill>
              <a:srgbClr val="FFFFFF"/>
            </a:solidFill>
            <a:prstDash val="solid"/>
          </a:ln>
        </p:spPr>
      </p:sp>
      <p:sp>
        <p:nvSpPr>
          <p:cNvPr id="11" name="Text 9"/>
          <p:cNvSpPr txBox="1"/>
          <p:nvPr/>
        </p:nvSpPr>
        <p:spPr>
          <a:xfrm>
            <a:off x="548640" y="4114800"/>
            <a:ext cx="221284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None</a:t>
            </a:r>
            <a:endParaRPr lang="en-US" sz="1800" dirty="0"/>
          </a:p>
        </p:txBody>
      </p:sp>
      <p:sp>
        <p:nvSpPr>
          <p:cNvPr id="12" name="Text 10"/>
          <p:cNvSpPr txBox="1"/>
          <p:nvPr/>
        </p:nvSpPr>
        <p:spPr>
          <a:xfrm>
            <a:off x="548640" y="4526280"/>
            <a:ext cx="2212848" cy="365760"/>
          </a:xfrm>
          <a:prstGeom prst="rect">
            <a:avLst/>
          </a:prstGeom>
          <a:noFill/>
          <a:ln/>
        </p:spPr>
        <p:txBody>
          <a:bodyPr wrap="square" lIns="0" tIns="0" rIns="0" bIns="0"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0.0</a:t>
            </a:r>
            <a:endParaRPr lang="en-US" sz="1400" dirty="0"/>
          </a:p>
        </p:txBody>
      </p:sp>
      <p:sp>
        <p:nvSpPr>
          <p:cNvPr id="13" name="Low severity"/>
          <p:cNvSpPr/>
          <p:nvPr/>
        </p:nvSpPr>
        <p:spPr>
          <a:xfrm>
            <a:off x="2761488" y="4069080"/>
            <a:ext cx="2212848" cy="914400"/>
          </a:xfrm>
          <a:prstGeom prst="rect">
            <a:avLst/>
          </a:prstGeom>
          <a:solidFill>
            <a:srgbClr val="1B998B"/>
          </a:solidFill>
          <a:ln w="25400">
            <a:solidFill>
              <a:srgbClr val="FFFFFF"/>
            </a:solidFill>
            <a:prstDash val="solid"/>
          </a:ln>
        </p:spPr>
      </p:sp>
      <p:sp>
        <p:nvSpPr>
          <p:cNvPr id="14" name="Text 12"/>
          <p:cNvSpPr txBox="1"/>
          <p:nvPr/>
        </p:nvSpPr>
        <p:spPr>
          <a:xfrm>
            <a:off x="2761488" y="4114800"/>
            <a:ext cx="221284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Low</a:t>
            </a:r>
            <a:endParaRPr lang="en-US" sz="1800" dirty="0"/>
          </a:p>
        </p:txBody>
      </p:sp>
      <p:sp>
        <p:nvSpPr>
          <p:cNvPr id="15" name="Text 13"/>
          <p:cNvSpPr txBox="1"/>
          <p:nvPr/>
        </p:nvSpPr>
        <p:spPr>
          <a:xfrm>
            <a:off x="2761488" y="4526280"/>
            <a:ext cx="2212848" cy="365760"/>
          </a:xfrm>
          <a:prstGeom prst="rect">
            <a:avLst/>
          </a:prstGeom>
          <a:noFill/>
          <a:ln/>
        </p:spPr>
        <p:txBody>
          <a:bodyPr wrap="square" lIns="0" tIns="0" rIns="0" bIns="0"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0.1–3.9</a:t>
            </a:r>
            <a:endParaRPr lang="en-US" sz="1400" dirty="0"/>
          </a:p>
        </p:txBody>
      </p:sp>
      <p:sp>
        <p:nvSpPr>
          <p:cNvPr id="16" name="Medium severity"/>
          <p:cNvSpPr/>
          <p:nvPr/>
        </p:nvSpPr>
        <p:spPr>
          <a:xfrm>
            <a:off x="4974336" y="4069080"/>
            <a:ext cx="2212848" cy="914400"/>
          </a:xfrm>
          <a:prstGeom prst="rect">
            <a:avLst/>
          </a:prstGeom>
          <a:solidFill>
            <a:srgbClr val="F2A541"/>
          </a:solidFill>
          <a:ln w="25400">
            <a:solidFill>
              <a:srgbClr val="FFFFFF"/>
            </a:solidFill>
            <a:prstDash val="solid"/>
          </a:ln>
        </p:spPr>
      </p:sp>
      <p:sp>
        <p:nvSpPr>
          <p:cNvPr id="17" name="Text 15"/>
          <p:cNvSpPr txBox="1"/>
          <p:nvPr/>
        </p:nvSpPr>
        <p:spPr>
          <a:xfrm>
            <a:off x="4974336" y="4114800"/>
            <a:ext cx="221284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Medium</a:t>
            </a:r>
            <a:endParaRPr lang="en-US" sz="1800" dirty="0"/>
          </a:p>
        </p:txBody>
      </p:sp>
      <p:sp>
        <p:nvSpPr>
          <p:cNvPr id="18" name="Text 16"/>
          <p:cNvSpPr txBox="1"/>
          <p:nvPr/>
        </p:nvSpPr>
        <p:spPr>
          <a:xfrm>
            <a:off x="4974336" y="4526280"/>
            <a:ext cx="2212848" cy="365760"/>
          </a:xfrm>
          <a:prstGeom prst="rect">
            <a:avLst/>
          </a:prstGeom>
          <a:noFill/>
          <a:ln/>
        </p:spPr>
        <p:txBody>
          <a:bodyPr wrap="square" lIns="0" tIns="0" rIns="0" bIns="0"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4.0–6.9</a:t>
            </a:r>
            <a:endParaRPr lang="en-US" sz="1400" dirty="0"/>
          </a:p>
        </p:txBody>
      </p:sp>
      <p:sp>
        <p:nvSpPr>
          <p:cNvPr id="19" name="High severity"/>
          <p:cNvSpPr/>
          <p:nvPr/>
        </p:nvSpPr>
        <p:spPr>
          <a:xfrm>
            <a:off x="7187184" y="4069080"/>
            <a:ext cx="2212848" cy="914400"/>
          </a:xfrm>
          <a:prstGeom prst="rect">
            <a:avLst/>
          </a:prstGeom>
          <a:solidFill>
            <a:srgbClr val="E07A3F"/>
          </a:solidFill>
          <a:ln w="25400">
            <a:solidFill>
              <a:srgbClr val="FFFFFF"/>
            </a:solidFill>
            <a:prstDash val="solid"/>
          </a:ln>
        </p:spPr>
      </p:sp>
      <p:sp>
        <p:nvSpPr>
          <p:cNvPr id="20" name="Text 18"/>
          <p:cNvSpPr txBox="1"/>
          <p:nvPr/>
        </p:nvSpPr>
        <p:spPr>
          <a:xfrm>
            <a:off x="7187184" y="4114800"/>
            <a:ext cx="221284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High</a:t>
            </a:r>
            <a:endParaRPr lang="en-US" sz="1800" dirty="0"/>
          </a:p>
        </p:txBody>
      </p:sp>
      <p:sp>
        <p:nvSpPr>
          <p:cNvPr id="21" name="Text 19"/>
          <p:cNvSpPr txBox="1"/>
          <p:nvPr/>
        </p:nvSpPr>
        <p:spPr>
          <a:xfrm>
            <a:off x="7187184" y="4526280"/>
            <a:ext cx="2212848" cy="365760"/>
          </a:xfrm>
          <a:prstGeom prst="rect">
            <a:avLst/>
          </a:prstGeom>
          <a:noFill/>
          <a:ln/>
        </p:spPr>
        <p:txBody>
          <a:bodyPr wrap="square" lIns="0" tIns="0" rIns="0" bIns="0"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7.0–8.9</a:t>
            </a:r>
            <a:endParaRPr lang="en-US" sz="1400" dirty="0"/>
          </a:p>
        </p:txBody>
      </p:sp>
      <p:sp>
        <p:nvSpPr>
          <p:cNvPr id="22" name="Critical severity"/>
          <p:cNvSpPr/>
          <p:nvPr/>
        </p:nvSpPr>
        <p:spPr>
          <a:xfrm>
            <a:off x="9400032" y="4069080"/>
            <a:ext cx="2212848" cy="914400"/>
          </a:xfrm>
          <a:prstGeom prst="rect">
            <a:avLst/>
          </a:prstGeom>
          <a:solidFill>
            <a:srgbClr val="D64550"/>
          </a:solidFill>
          <a:ln w="25400">
            <a:solidFill>
              <a:srgbClr val="FFFFFF"/>
            </a:solidFill>
            <a:prstDash val="solid"/>
          </a:ln>
        </p:spPr>
      </p:sp>
      <p:sp>
        <p:nvSpPr>
          <p:cNvPr id="23" name="Text 21"/>
          <p:cNvSpPr txBox="1"/>
          <p:nvPr/>
        </p:nvSpPr>
        <p:spPr>
          <a:xfrm>
            <a:off x="9400032" y="4114800"/>
            <a:ext cx="221284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Critical</a:t>
            </a:r>
            <a:endParaRPr lang="en-US" sz="1800" dirty="0"/>
          </a:p>
        </p:txBody>
      </p:sp>
      <p:sp>
        <p:nvSpPr>
          <p:cNvPr id="24" name="Text 22"/>
          <p:cNvSpPr txBox="1"/>
          <p:nvPr/>
        </p:nvSpPr>
        <p:spPr>
          <a:xfrm>
            <a:off x="9400032" y="4526280"/>
            <a:ext cx="2212848" cy="365760"/>
          </a:xfrm>
          <a:prstGeom prst="rect">
            <a:avLst/>
          </a:prstGeom>
          <a:noFill/>
          <a:ln/>
        </p:spPr>
        <p:txBody>
          <a:bodyPr wrap="square" lIns="0" tIns="0" rIns="0" bIns="0"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9.0–10</a:t>
            </a:r>
            <a:endParaRPr lang="en-US" sz="1400" dirty="0"/>
          </a:p>
        </p:txBody>
      </p:sp>
      <p:sp>
        <p:nvSpPr>
          <p:cNvPr id="25" name="Text 23"/>
          <p:cNvSpPr txBox="1"/>
          <p:nvPr/>
        </p:nvSpPr>
        <p:spPr>
          <a:xfrm>
            <a:off x="548640" y="5303520"/>
            <a:ext cx="11064240" cy="8229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In Lab 5 </a:t>
            </a:r>
            <a:pPr indent="0" marL="0">
              <a:buNone/>
            </a:pPr>
            <a:r>
              <a:rPr lang="en-US" sz="1600" dirty="0">
                <a:solidFill>
                  <a:schemeClr val="tx1"/>
                </a:solidFill>
                <a:latin typeface="Calibri" pitchFamily="34" charset="0"/>
                <a:ea typeface="Calibri" pitchFamily="34" charset="-122"/>
                <a:cs typeface="Calibri" pitchFamily="34" charset="-120"/>
              </a:rPr>
              <a:t>npm audit runs in your GitHub Actions pipeline and lists known CVEs in the app's dependencies. You decide what to fix first: start with Critical and High.</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2148840"/>
            <a:ext cx="2468880" cy="201168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06</a:t>
            </a:r>
            <a:endParaRPr lang="en-US" sz="13000" dirty="0"/>
          </a:p>
        </p:txBody>
      </p:sp>
      <p:sp>
        <p:nvSpPr>
          <p:cNvPr id="3" name="Text 1"/>
          <p:cNvSpPr txBox="1"/>
          <p:nvPr/>
        </p:nvSpPr>
        <p:spPr>
          <a:xfrm>
            <a:off x="3474720" y="2240280"/>
            <a:ext cx="5943600" cy="365760"/>
          </a:xfrm>
          <a:prstGeom prst="rect">
            <a:avLst/>
          </a:prstGeom>
          <a:noFill/>
          <a:ln/>
        </p:spPr>
        <p:txBody>
          <a:bodyPr wrap="square" lIns="0" tIns="0" rIns="0" bIns="0" rtlCol="0" anchor="t"/>
          <a:lstStyle/>
          <a:p>
            <a:pPr indent="0" marL="0">
              <a:buNone/>
            </a:pPr>
            <a:r>
              <a:rPr lang="en-US" sz="1400" b="1" spc="300" kern="0" dirty="0">
                <a:solidFill>
                  <a:schemeClr val="accent5"/>
                </a:solidFill>
                <a:latin typeface="Calibri" pitchFamily="34" charset="0"/>
                <a:ea typeface="Calibri" pitchFamily="34" charset="-122"/>
                <a:cs typeface="Calibri" pitchFamily="34" charset="-120"/>
              </a:rPr>
              <a:t>PART 06 OF 06</a:t>
            </a:r>
            <a:endParaRPr lang="en-US" sz="1400" dirty="0"/>
          </a:p>
        </p:txBody>
      </p:sp>
      <p:sp>
        <p:nvSpPr>
          <p:cNvPr id="4" name="Text 0"/>
          <p:cNvSpPr/>
          <p:nvPr>
            <p:ph idx="100" type="title" hasCustomPrompt="1"/>
          </p:nvPr>
        </p:nvSpPr>
        <p:spPr>
          <a:xfrm>
            <a:off x="3474720" y="2651760"/>
            <a:ext cx="5943600" cy="914400"/>
          </a:xfrm>
          <a:prstGeom prst="rect">
            <a:avLst/>
          </a:prstGeom>
          <a:noFill/>
          <a:ln/>
        </p:spPr>
        <p:txBody>
          <a:bodyPr wrap="square" lIns="0" tIns="0" rIns="0" bIns="0"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How this course works</a:t>
            </a:r>
            <a:endParaRPr lang="en-US" sz="4400" dirty="0"/>
          </a:p>
        </p:txBody>
      </p:sp>
      <p:sp>
        <p:nvSpPr>
          <p:cNvPr id="5" name="Text 0"/>
          <p:cNvSpPr/>
          <p:nvPr>
            <p:ph idx="101" type="body" hasCustomPrompt="1"/>
          </p:nvPr>
        </p:nvSpPr>
        <p:spPr>
          <a:xfrm>
            <a:off x="3474720" y="3611880"/>
            <a:ext cx="5943600" cy="731520"/>
          </a:xfrm>
          <a:prstGeom prst="rect">
            <a:avLst/>
          </a:prstGeom>
          <a:noFill/>
          <a:ln/>
        </p:spPr>
        <p:txBody>
          <a:bodyPr wrap="square" lIns="0" tIns="0" rIns="0" bIns="0" rtlCol="0" anchor="t"/>
          <a:lstStyle/>
          <a:p>
            <a:pPr algn="l" indent="0" marL="0">
              <a:buNone/>
            </a:pPr>
            <a:r>
              <a:rPr lang="en-US" sz="2000" dirty="0">
                <a:solidFill>
                  <a:schemeClr val="accent1"/>
                </a:solidFill>
                <a:latin typeface="Calibri" pitchFamily="34" charset="0"/>
                <a:ea typeface="Calibri" pitchFamily="34" charset="-122"/>
                <a:cs typeface="Calibri" pitchFamily="34" charset="-120"/>
              </a:rPr>
              <a:t>5 labs  ·  1 project  ·  1 rule: only attack what you own</a:t>
            </a:r>
            <a:endParaRPr lang="en-US" sz="2000" dirty="0"/>
          </a:p>
        </p:txBody>
      </p:sp>
      <p:sp>
        <p:nvSpPr>
          <p:cNvPr id="6" name="Lab flask circle"/>
          <p:cNvSpPr/>
          <p:nvPr/>
        </p:nvSpPr>
        <p:spPr>
          <a:xfrm>
            <a:off x="9784080" y="2423160"/>
            <a:ext cx="1645920" cy="1645920"/>
          </a:xfrm>
          <a:prstGeom prst="ellipse">
            <a:avLst/>
          </a:prstGeom>
          <a:solidFill>
            <a:schemeClr val="accent4"/>
          </a:solidFill>
          <a:ln/>
        </p:spPr>
      </p:sp>
      <p:pic>
        <p:nvPicPr>
          <p:cNvPr id="7" name="Lab flask icon" descr="Lab flask">    </p:cNvPr>
          <p:cNvPicPr>
            <a:picLocks noChangeAspect="1"/>
          </p:cNvPicPr>
          <p:nvPr/>
        </p:nvPicPr>
        <p:blipFill>
          <a:blip r:embed="rId1"/>
          <a:stretch>
            <a:fillRect/>
          </a:stretch>
        </p:blipFill>
        <p:spPr>
          <a:xfrm>
            <a:off x="10195560" y="2834640"/>
            <a:ext cx="822960" cy="822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One app, all semester: secure the Notes app</a:t>
            </a:r>
            <a:endParaRPr lang="en-US" sz="3600" dirty="0"/>
          </a:p>
        </p:txBody>
      </p:sp>
      <p:sp>
        <p:nvSpPr>
          <p:cNvPr id="3" name="Linux server boundary"/>
          <p:cNvSpPr/>
          <p:nvPr/>
        </p:nvSpPr>
        <p:spPr>
          <a:xfrm>
            <a:off x="3429000" y="1417320"/>
            <a:ext cx="8183880" cy="2697480"/>
          </a:xfrm>
          <a:prstGeom prst="roundRect">
            <a:avLst>
              <a:gd name="adj" fmla="val 5085"/>
            </a:avLst>
          </a:prstGeom>
          <a:solidFill>
            <a:srgbClr val="FFFFFF">
              <a:alpha val="0"/>
            </a:srgbClr>
          </a:solidFill>
          <a:ln w="19050">
            <a:solidFill>
              <a:srgbClr val="3D5A80"/>
            </a:solidFill>
            <a:prstDash val="dash"/>
          </a:ln>
        </p:spPr>
      </p:sp>
      <p:sp>
        <p:nvSpPr>
          <p:cNvPr id="4" name="Text 2"/>
          <p:cNvSpPr txBox="1"/>
          <p:nvPr/>
        </p:nvSpPr>
        <p:spPr>
          <a:xfrm>
            <a:off x="3657600" y="3703320"/>
            <a:ext cx="7726680" cy="320040"/>
          </a:xfrm>
          <a:prstGeom prst="rect">
            <a:avLst/>
          </a:prstGeom>
          <a:noFill/>
          <a:ln/>
        </p:spPr>
        <p:txBody>
          <a:bodyPr wrap="square" lIns="0" tIns="0" rIns="0" bIns="0" rtlCol="0" anchor="t"/>
          <a:lstStyle/>
          <a:p>
            <a:pPr indent="0" marL="0">
              <a:buNone/>
            </a:pPr>
            <a:r>
              <a:rPr lang="en-US" sz="1300" b="1" dirty="0">
                <a:solidFill>
                  <a:schemeClr val="accent4"/>
                </a:solidFill>
                <a:latin typeface="Calibri" pitchFamily="34" charset="0"/>
                <a:ea typeface="Calibri" pitchFamily="34" charset="-122"/>
                <a:cs typeface="Calibri" pitchFamily="34" charset="-120"/>
              </a:rPr>
              <a:t>Your DigitalOcean Linux server  ·  everything runs in Docker</a:t>
            </a:r>
            <a:endParaRPr lang="en-US" sz="1300" dirty="0"/>
          </a:p>
        </p:txBody>
      </p:sp>
      <p:sp>
        <p:nvSpPr>
          <p:cNvPr id="5" name="React node"/>
          <p:cNvSpPr/>
          <p:nvPr/>
        </p:nvSpPr>
        <p:spPr>
          <a:xfrm>
            <a:off x="548640" y="1645920"/>
            <a:ext cx="2286000" cy="1920240"/>
          </a:xfrm>
          <a:prstGeom prst="roundRect">
            <a:avLst>
              <a:gd name="adj" fmla="val 5714"/>
            </a:avLst>
          </a:prstGeom>
          <a:solidFill>
            <a:schemeClr val="bg2"/>
          </a:solidFill>
          <a:ln/>
        </p:spPr>
      </p:sp>
      <p:sp>
        <p:nvSpPr>
          <p:cNvPr id="6" name="React circle"/>
          <p:cNvSpPr/>
          <p:nvPr/>
        </p:nvSpPr>
        <p:spPr>
          <a:xfrm>
            <a:off x="1325880" y="1783080"/>
            <a:ext cx="731520" cy="731520"/>
          </a:xfrm>
          <a:prstGeom prst="ellipse">
            <a:avLst/>
          </a:prstGeom>
          <a:solidFill>
            <a:schemeClr val="tx2"/>
          </a:solidFill>
          <a:ln/>
        </p:spPr>
      </p:sp>
      <p:pic>
        <p:nvPicPr>
          <p:cNvPr id="7" name="React icon" descr="React">    </p:cNvPr>
          <p:cNvPicPr>
            <a:picLocks noChangeAspect="1"/>
          </p:cNvPicPr>
          <p:nvPr/>
        </p:nvPicPr>
        <p:blipFill>
          <a:blip r:embed="rId1"/>
          <a:stretch>
            <a:fillRect/>
          </a:stretch>
        </p:blipFill>
        <p:spPr>
          <a:xfrm>
            <a:off x="1508760" y="1965960"/>
            <a:ext cx="365760" cy="365760"/>
          </a:xfrm>
          <a:prstGeom prst="rect">
            <a:avLst/>
          </a:prstGeom>
        </p:spPr>
      </p:pic>
      <p:sp>
        <p:nvSpPr>
          <p:cNvPr id="8" name="Text 5"/>
          <p:cNvSpPr txBox="1"/>
          <p:nvPr/>
        </p:nvSpPr>
        <p:spPr>
          <a:xfrm>
            <a:off x="640080" y="2606040"/>
            <a:ext cx="210312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React</a:t>
            </a:r>
            <a:endParaRPr lang="en-US" sz="1800" dirty="0"/>
          </a:p>
        </p:txBody>
      </p:sp>
      <p:sp>
        <p:nvSpPr>
          <p:cNvPr id="9" name="Text 6"/>
          <p:cNvSpPr txBox="1"/>
          <p:nvPr/>
        </p:nvSpPr>
        <p:spPr>
          <a:xfrm>
            <a:off x="640080" y="3017520"/>
            <a:ext cx="2103120" cy="4572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Frontend, runs in the browser</a:t>
            </a:r>
            <a:endParaRPr lang="en-US" sz="1400" dirty="0"/>
          </a:p>
        </p:txBody>
      </p:sp>
      <p:sp>
        <p:nvSpPr>
          <p:cNvPr id="10" name="Flow arrow 1"/>
          <p:cNvSpPr/>
          <p:nvPr/>
        </p:nvSpPr>
        <p:spPr>
          <a:xfrm>
            <a:off x="2880360" y="2606040"/>
            <a:ext cx="731520" cy="0"/>
          </a:xfrm>
          <a:prstGeom prst="line">
            <a:avLst/>
          </a:prstGeom>
          <a:noFill/>
          <a:ln w="25400">
            <a:solidFill>
              <a:srgbClr val="6B7A8C"/>
            </a:solidFill>
            <a:prstDash val="solid"/>
            <a:tailEnd type="triangle"/>
          </a:ln>
        </p:spPr>
      </p:sp>
      <p:sp>
        <p:nvSpPr>
          <p:cNvPr id="11" name="Nginx node"/>
          <p:cNvSpPr/>
          <p:nvPr/>
        </p:nvSpPr>
        <p:spPr>
          <a:xfrm>
            <a:off x="3657600" y="1645920"/>
            <a:ext cx="2240280" cy="1920240"/>
          </a:xfrm>
          <a:prstGeom prst="roundRect">
            <a:avLst>
              <a:gd name="adj" fmla="val 5714"/>
            </a:avLst>
          </a:prstGeom>
          <a:solidFill>
            <a:schemeClr val="bg2"/>
          </a:solidFill>
          <a:ln/>
        </p:spPr>
      </p:sp>
      <p:sp>
        <p:nvSpPr>
          <p:cNvPr id="12" name="Nginx circle"/>
          <p:cNvSpPr/>
          <p:nvPr/>
        </p:nvSpPr>
        <p:spPr>
          <a:xfrm>
            <a:off x="4411980" y="1783080"/>
            <a:ext cx="731520" cy="731520"/>
          </a:xfrm>
          <a:prstGeom prst="ellipse">
            <a:avLst/>
          </a:prstGeom>
          <a:solidFill>
            <a:schemeClr val="tx2"/>
          </a:solidFill>
          <a:ln/>
        </p:spPr>
      </p:sp>
      <p:pic>
        <p:nvPicPr>
          <p:cNvPr id="13" name="Nginx icon" descr="Nginx">    </p:cNvPr>
          <p:cNvPicPr>
            <a:picLocks noChangeAspect="1"/>
          </p:cNvPicPr>
          <p:nvPr/>
        </p:nvPicPr>
        <p:blipFill>
          <a:blip r:embed="rId2"/>
          <a:stretch>
            <a:fillRect/>
          </a:stretch>
        </p:blipFill>
        <p:spPr>
          <a:xfrm>
            <a:off x="4594860" y="1965960"/>
            <a:ext cx="365760" cy="365760"/>
          </a:xfrm>
          <a:prstGeom prst="rect">
            <a:avLst/>
          </a:prstGeom>
        </p:spPr>
      </p:pic>
      <p:sp>
        <p:nvSpPr>
          <p:cNvPr id="14" name="Text 10"/>
          <p:cNvSpPr txBox="1"/>
          <p:nvPr/>
        </p:nvSpPr>
        <p:spPr>
          <a:xfrm>
            <a:off x="3749040" y="2606040"/>
            <a:ext cx="205740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Nginx</a:t>
            </a:r>
            <a:endParaRPr lang="en-US" sz="1800" dirty="0"/>
          </a:p>
        </p:txBody>
      </p:sp>
      <p:sp>
        <p:nvSpPr>
          <p:cNvPr id="15" name="Text 11"/>
          <p:cNvSpPr txBox="1"/>
          <p:nvPr/>
        </p:nvSpPr>
        <p:spPr>
          <a:xfrm>
            <a:off x="3749040" y="3017520"/>
            <a:ext cx="2057400" cy="4572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Web server, HTTPS</a:t>
            </a:r>
            <a:endParaRPr lang="en-US" sz="1400" dirty="0"/>
          </a:p>
        </p:txBody>
      </p:sp>
      <p:sp>
        <p:nvSpPr>
          <p:cNvPr id="16" name="Flow arrow 2"/>
          <p:cNvSpPr/>
          <p:nvPr/>
        </p:nvSpPr>
        <p:spPr>
          <a:xfrm>
            <a:off x="5943600" y="2606040"/>
            <a:ext cx="411480" cy="0"/>
          </a:xfrm>
          <a:prstGeom prst="line">
            <a:avLst/>
          </a:prstGeom>
          <a:noFill/>
          <a:ln w="25400">
            <a:solidFill>
              <a:srgbClr val="6B7A8C"/>
            </a:solidFill>
            <a:prstDash val="solid"/>
            <a:tailEnd type="triangle"/>
          </a:ln>
        </p:spPr>
      </p:sp>
      <p:sp>
        <p:nvSpPr>
          <p:cNvPr id="17" name="NestJS node"/>
          <p:cNvSpPr/>
          <p:nvPr/>
        </p:nvSpPr>
        <p:spPr>
          <a:xfrm>
            <a:off x="6400800" y="1645920"/>
            <a:ext cx="2240280" cy="1920240"/>
          </a:xfrm>
          <a:prstGeom prst="roundRect">
            <a:avLst>
              <a:gd name="adj" fmla="val 5714"/>
            </a:avLst>
          </a:prstGeom>
          <a:solidFill>
            <a:schemeClr val="bg2"/>
          </a:solidFill>
          <a:ln/>
        </p:spPr>
      </p:sp>
      <p:sp>
        <p:nvSpPr>
          <p:cNvPr id="18" name="NestJS circle"/>
          <p:cNvSpPr/>
          <p:nvPr/>
        </p:nvSpPr>
        <p:spPr>
          <a:xfrm>
            <a:off x="7155180" y="1783080"/>
            <a:ext cx="731520" cy="731520"/>
          </a:xfrm>
          <a:prstGeom prst="ellipse">
            <a:avLst/>
          </a:prstGeom>
          <a:solidFill>
            <a:schemeClr val="tx2"/>
          </a:solidFill>
          <a:ln/>
        </p:spPr>
      </p:sp>
      <p:pic>
        <p:nvPicPr>
          <p:cNvPr id="19" name="NestJS icon" descr="NestJS">    </p:cNvPr>
          <p:cNvPicPr>
            <a:picLocks noChangeAspect="1"/>
          </p:cNvPicPr>
          <p:nvPr/>
        </p:nvPicPr>
        <p:blipFill>
          <a:blip r:embed="rId3"/>
          <a:stretch>
            <a:fillRect/>
          </a:stretch>
        </p:blipFill>
        <p:spPr>
          <a:xfrm>
            <a:off x="7338060" y="1965960"/>
            <a:ext cx="365760" cy="365760"/>
          </a:xfrm>
          <a:prstGeom prst="rect">
            <a:avLst/>
          </a:prstGeom>
        </p:spPr>
      </p:pic>
      <p:sp>
        <p:nvSpPr>
          <p:cNvPr id="20" name="Text 15"/>
          <p:cNvSpPr txBox="1"/>
          <p:nvPr/>
        </p:nvSpPr>
        <p:spPr>
          <a:xfrm>
            <a:off x="6492240" y="2606040"/>
            <a:ext cx="205740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NestJS</a:t>
            </a:r>
            <a:endParaRPr lang="en-US" sz="1800" dirty="0"/>
          </a:p>
        </p:txBody>
      </p:sp>
      <p:sp>
        <p:nvSpPr>
          <p:cNvPr id="21" name="Text 16"/>
          <p:cNvSpPr txBox="1"/>
          <p:nvPr/>
        </p:nvSpPr>
        <p:spPr>
          <a:xfrm>
            <a:off x="6492240" y="3017520"/>
            <a:ext cx="2057400" cy="4572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API / backend</a:t>
            </a:r>
            <a:endParaRPr lang="en-US" sz="1400" dirty="0"/>
          </a:p>
        </p:txBody>
      </p:sp>
      <p:sp>
        <p:nvSpPr>
          <p:cNvPr id="22" name="Flow arrow 3"/>
          <p:cNvSpPr/>
          <p:nvPr/>
        </p:nvSpPr>
        <p:spPr>
          <a:xfrm>
            <a:off x="8686800" y="2606040"/>
            <a:ext cx="411480" cy="0"/>
          </a:xfrm>
          <a:prstGeom prst="line">
            <a:avLst/>
          </a:prstGeom>
          <a:noFill/>
          <a:ln w="25400">
            <a:solidFill>
              <a:srgbClr val="6B7A8C"/>
            </a:solidFill>
            <a:prstDash val="solid"/>
            <a:tailEnd type="triangle"/>
          </a:ln>
        </p:spPr>
      </p:sp>
      <p:sp>
        <p:nvSpPr>
          <p:cNvPr id="23" name="PostgreSQL node"/>
          <p:cNvSpPr/>
          <p:nvPr/>
        </p:nvSpPr>
        <p:spPr>
          <a:xfrm>
            <a:off x="9144000" y="1645920"/>
            <a:ext cx="2240280" cy="1920240"/>
          </a:xfrm>
          <a:prstGeom prst="roundRect">
            <a:avLst>
              <a:gd name="adj" fmla="val 5714"/>
            </a:avLst>
          </a:prstGeom>
          <a:solidFill>
            <a:schemeClr val="bg2"/>
          </a:solidFill>
          <a:ln/>
        </p:spPr>
      </p:sp>
      <p:sp>
        <p:nvSpPr>
          <p:cNvPr id="24" name="PostgreSQL circle"/>
          <p:cNvSpPr/>
          <p:nvPr/>
        </p:nvSpPr>
        <p:spPr>
          <a:xfrm>
            <a:off x="9898380" y="1783080"/>
            <a:ext cx="731520" cy="731520"/>
          </a:xfrm>
          <a:prstGeom prst="ellipse">
            <a:avLst/>
          </a:prstGeom>
          <a:solidFill>
            <a:schemeClr val="tx2"/>
          </a:solidFill>
          <a:ln/>
        </p:spPr>
      </p:sp>
      <p:pic>
        <p:nvPicPr>
          <p:cNvPr id="25" name="PostgreSQL icon" descr="PostgreSQL">    </p:cNvPr>
          <p:cNvPicPr>
            <a:picLocks noChangeAspect="1"/>
          </p:cNvPicPr>
          <p:nvPr/>
        </p:nvPicPr>
        <p:blipFill>
          <a:blip r:embed="rId4"/>
          <a:stretch>
            <a:fillRect/>
          </a:stretch>
        </p:blipFill>
        <p:spPr>
          <a:xfrm>
            <a:off x="10081260" y="1965960"/>
            <a:ext cx="365760" cy="365760"/>
          </a:xfrm>
          <a:prstGeom prst="rect">
            <a:avLst/>
          </a:prstGeom>
        </p:spPr>
      </p:pic>
      <p:sp>
        <p:nvSpPr>
          <p:cNvPr id="26" name="Text 20"/>
          <p:cNvSpPr txBox="1"/>
          <p:nvPr/>
        </p:nvSpPr>
        <p:spPr>
          <a:xfrm>
            <a:off x="9235440" y="2606040"/>
            <a:ext cx="2057400" cy="41148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PostgreSQL</a:t>
            </a:r>
            <a:endParaRPr lang="en-US" sz="1800" dirty="0"/>
          </a:p>
        </p:txBody>
      </p:sp>
      <p:sp>
        <p:nvSpPr>
          <p:cNvPr id="27" name="Text 21"/>
          <p:cNvSpPr txBox="1"/>
          <p:nvPr/>
        </p:nvSpPr>
        <p:spPr>
          <a:xfrm>
            <a:off x="9235440" y="3017520"/>
            <a:ext cx="2057400" cy="4572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Database</a:t>
            </a:r>
            <a:endParaRPr lang="en-US" sz="1400" dirty="0"/>
          </a:p>
        </p:txBody>
      </p:sp>
      <p:sp>
        <p:nvSpPr>
          <p:cNvPr id="28" name="Text 22"/>
          <p:cNvSpPr txBox="1"/>
          <p:nvPr/>
        </p:nvSpPr>
        <p:spPr>
          <a:xfrm>
            <a:off x="548640" y="4343400"/>
            <a:ext cx="1106424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What you will secure:</a:t>
            </a:r>
            <a:endParaRPr lang="en-US" sz="1600" dirty="0"/>
          </a:p>
        </p:txBody>
      </p:sp>
      <p:sp>
        <p:nvSpPr>
          <p:cNvPr id="29" name="Database queries chip"/>
          <p:cNvSpPr/>
          <p:nvPr/>
        </p:nvSpPr>
        <p:spPr>
          <a:xfrm>
            <a:off x="548640" y="4800600"/>
            <a:ext cx="2029968" cy="548640"/>
          </a:xfrm>
          <a:prstGeom prst="roundRect">
            <a:avLst>
              <a:gd name="adj" fmla="val 50000"/>
            </a:avLst>
          </a:prstGeom>
          <a:solidFill>
            <a:schemeClr val="accent2"/>
          </a:solidFill>
          <a:ln/>
        </p:spPr>
      </p:sp>
      <p:sp>
        <p:nvSpPr>
          <p:cNvPr id="30" name="Text 24"/>
          <p:cNvSpPr txBox="1"/>
          <p:nvPr/>
        </p:nvSpPr>
        <p:spPr>
          <a:xfrm>
            <a:off x="548640" y="4800600"/>
            <a:ext cx="2029968"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Database queries</a:t>
            </a:r>
            <a:endParaRPr lang="en-US" sz="1500" dirty="0"/>
          </a:p>
        </p:txBody>
      </p:sp>
      <p:sp>
        <p:nvSpPr>
          <p:cNvPr id="31" name="Login &amp; passwords chip"/>
          <p:cNvSpPr/>
          <p:nvPr/>
        </p:nvSpPr>
        <p:spPr>
          <a:xfrm>
            <a:off x="2807208" y="4800600"/>
            <a:ext cx="2029968" cy="548640"/>
          </a:xfrm>
          <a:prstGeom prst="roundRect">
            <a:avLst>
              <a:gd name="adj" fmla="val 50000"/>
            </a:avLst>
          </a:prstGeom>
          <a:solidFill>
            <a:schemeClr val="accent2"/>
          </a:solidFill>
          <a:ln/>
        </p:spPr>
      </p:sp>
      <p:sp>
        <p:nvSpPr>
          <p:cNvPr id="32" name="Text 26"/>
          <p:cNvSpPr txBox="1"/>
          <p:nvPr/>
        </p:nvSpPr>
        <p:spPr>
          <a:xfrm>
            <a:off x="2807208" y="4800600"/>
            <a:ext cx="2029968"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Login &amp; passwords</a:t>
            </a:r>
            <a:endParaRPr lang="en-US" sz="1500" dirty="0"/>
          </a:p>
        </p:txBody>
      </p:sp>
      <p:sp>
        <p:nvSpPr>
          <p:cNvPr id="33" name="Access to notes chip"/>
          <p:cNvSpPr/>
          <p:nvPr/>
        </p:nvSpPr>
        <p:spPr>
          <a:xfrm>
            <a:off x="5065776" y="4800600"/>
            <a:ext cx="2029968" cy="548640"/>
          </a:xfrm>
          <a:prstGeom prst="roundRect">
            <a:avLst>
              <a:gd name="adj" fmla="val 50000"/>
            </a:avLst>
          </a:prstGeom>
          <a:solidFill>
            <a:schemeClr val="accent2"/>
          </a:solidFill>
          <a:ln/>
        </p:spPr>
      </p:sp>
      <p:sp>
        <p:nvSpPr>
          <p:cNvPr id="34" name="Text 28"/>
          <p:cNvSpPr txBox="1"/>
          <p:nvPr/>
        </p:nvSpPr>
        <p:spPr>
          <a:xfrm>
            <a:off x="5065776" y="4800600"/>
            <a:ext cx="2029968"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Access to notes</a:t>
            </a:r>
            <a:endParaRPr lang="en-US" sz="1500" dirty="0"/>
          </a:p>
        </p:txBody>
      </p:sp>
      <p:sp>
        <p:nvSpPr>
          <p:cNvPr id="35" name="Linux server chip"/>
          <p:cNvSpPr/>
          <p:nvPr/>
        </p:nvSpPr>
        <p:spPr>
          <a:xfrm>
            <a:off x="7324344" y="4800600"/>
            <a:ext cx="2029968" cy="548640"/>
          </a:xfrm>
          <a:prstGeom prst="roundRect">
            <a:avLst>
              <a:gd name="adj" fmla="val 50000"/>
            </a:avLst>
          </a:prstGeom>
          <a:solidFill>
            <a:schemeClr val="accent2"/>
          </a:solidFill>
          <a:ln/>
        </p:spPr>
      </p:sp>
      <p:sp>
        <p:nvSpPr>
          <p:cNvPr id="36" name="Text 30"/>
          <p:cNvSpPr txBox="1"/>
          <p:nvPr/>
        </p:nvSpPr>
        <p:spPr>
          <a:xfrm>
            <a:off x="7324344" y="4800600"/>
            <a:ext cx="2029968"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Linux server</a:t>
            </a:r>
            <a:endParaRPr lang="en-US" sz="1500" dirty="0"/>
          </a:p>
        </p:txBody>
      </p:sp>
      <p:sp>
        <p:nvSpPr>
          <p:cNvPr id="37" name="Nginx &amp; HTTPS chip"/>
          <p:cNvSpPr/>
          <p:nvPr/>
        </p:nvSpPr>
        <p:spPr>
          <a:xfrm>
            <a:off x="9582912" y="4800600"/>
            <a:ext cx="2029968" cy="548640"/>
          </a:xfrm>
          <a:prstGeom prst="roundRect">
            <a:avLst>
              <a:gd name="adj" fmla="val 50000"/>
            </a:avLst>
          </a:prstGeom>
          <a:solidFill>
            <a:schemeClr val="accent2"/>
          </a:solidFill>
          <a:ln/>
        </p:spPr>
      </p:sp>
      <p:sp>
        <p:nvSpPr>
          <p:cNvPr id="38" name="Text 32"/>
          <p:cNvSpPr txBox="1"/>
          <p:nvPr/>
        </p:nvSpPr>
        <p:spPr>
          <a:xfrm>
            <a:off x="9582912" y="4800600"/>
            <a:ext cx="2029968"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Nginx &amp; HTTPS</a:t>
            </a:r>
            <a:endParaRPr lang="en-US" sz="1500" dirty="0"/>
          </a:p>
        </p:txBody>
      </p:sp>
      <p:sp>
        <p:nvSpPr>
          <p:cNvPr id="39" name="Text 33"/>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You get a working app with hidden vulnerabilities. </a:t>
            </a:r>
            <a:pPr indent="0" marL="0">
              <a:buNone/>
            </a:pPr>
            <a:r>
              <a:rPr lang="en-US" sz="1700" dirty="0">
                <a:solidFill>
                  <a:schemeClr val="tx1"/>
                </a:solidFill>
                <a:latin typeface="Calibri" pitchFamily="34" charset="0"/>
                <a:ea typeface="Calibri" pitchFamily="34" charset="-122"/>
                <a:cs typeface="Calibri" pitchFamily="34" charset="-120"/>
              </a:rPr>
              <a:t>You find them, fix them, then deploy the app securely with GitHub Actions.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5 labs, one project</a:t>
            </a:r>
            <a:endParaRPr lang="en-US" sz="3600" dirty="0"/>
          </a:p>
        </p:txBody>
      </p:sp>
      <p:sp>
        <p:nvSpPr>
          <p:cNvPr id="3" name="Lab 1 row"/>
          <p:cNvSpPr/>
          <p:nvPr/>
        </p:nvSpPr>
        <p:spPr>
          <a:xfrm>
            <a:off x="548640" y="1371600"/>
            <a:ext cx="11064240" cy="822960"/>
          </a:xfrm>
          <a:prstGeom prst="roundRect">
            <a:avLst>
              <a:gd name="adj" fmla="val 13333"/>
            </a:avLst>
          </a:prstGeom>
          <a:solidFill>
            <a:schemeClr val="bg2"/>
          </a:solidFill>
          <a:ln/>
        </p:spPr>
      </p:sp>
      <p:sp>
        <p:nvSpPr>
          <p:cNvPr id="4" name="Lab 1 badge"/>
          <p:cNvSpPr/>
          <p:nvPr/>
        </p:nvSpPr>
        <p:spPr>
          <a:xfrm>
            <a:off x="685800" y="1527048"/>
            <a:ext cx="960120" cy="512064"/>
          </a:xfrm>
          <a:prstGeom prst="roundRect">
            <a:avLst>
              <a:gd name="adj" fmla="val 17857"/>
            </a:avLst>
          </a:prstGeom>
          <a:solidFill>
            <a:schemeClr val="accent2"/>
          </a:solidFill>
          <a:ln/>
        </p:spPr>
      </p:sp>
      <p:sp>
        <p:nvSpPr>
          <p:cNvPr id="5" name="Text 3"/>
          <p:cNvSpPr txBox="1"/>
          <p:nvPr/>
        </p:nvSpPr>
        <p:spPr>
          <a:xfrm>
            <a:off x="685800" y="1527048"/>
            <a:ext cx="960120"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1</a:t>
            </a:r>
            <a:endParaRPr lang="en-US" sz="1600" dirty="0"/>
          </a:p>
        </p:txBody>
      </p:sp>
      <p:sp>
        <p:nvSpPr>
          <p:cNvPr id="6" name="Text 4"/>
          <p:cNvSpPr txBox="1"/>
          <p:nvPr/>
        </p:nvSpPr>
        <p:spPr>
          <a:xfrm>
            <a:off x="1874520" y="1444752"/>
            <a:ext cx="8138160" cy="384048"/>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Run the app &amp; find the risks</a:t>
            </a:r>
            <a:endParaRPr lang="en-US" sz="1800" dirty="0"/>
          </a:p>
        </p:txBody>
      </p:sp>
      <p:sp>
        <p:nvSpPr>
          <p:cNvPr id="7" name="Text 5"/>
          <p:cNvSpPr txBox="1"/>
          <p:nvPr/>
        </p:nvSpPr>
        <p:spPr>
          <a:xfrm>
            <a:off x="1874520" y="1810512"/>
            <a:ext cx="9509760" cy="329184"/>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Notes app (NestJS + React + PostgreSQL) in Docker  ·  threat model  ·  secrets in .env  ·  database not exposed</a:t>
            </a:r>
            <a:endParaRPr lang="en-US" sz="1400" dirty="0"/>
          </a:p>
        </p:txBody>
      </p:sp>
      <p:sp>
        <p:nvSpPr>
          <p:cNvPr id="8" name="Lab 1 part tag"/>
          <p:cNvSpPr/>
          <p:nvPr/>
        </p:nvSpPr>
        <p:spPr>
          <a:xfrm>
            <a:off x="10332720" y="1481328"/>
            <a:ext cx="1097280" cy="310896"/>
          </a:xfrm>
          <a:prstGeom prst="roundRect">
            <a:avLst>
              <a:gd name="adj" fmla="val 50000"/>
            </a:avLst>
          </a:prstGeom>
          <a:solidFill>
            <a:schemeClr val="accent2"/>
          </a:solidFill>
          <a:ln/>
        </p:spPr>
      </p:sp>
      <p:sp>
        <p:nvSpPr>
          <p:cNvPr id="9" name="Text 7"/>
          <p:cNvSpPr txBox="1"/>
          <p:nvPr/>
        </p:nvSpPr>
        <p:spPr>
          <a:xfrm>
            <a:off x="10332720" y="1481328"/>
            <a:ext cx="10972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APP</a:t>
            </a:r>
            <a:endParaRPr lang="en-US" sz="1100" dirty="0"/>
          </a:p>
        </p:txBody>
      </p:sp>
      <p:sp>
        <p:nvSpPr>
          <p:cNvPr id="10" name="Lab 2 row"/>
          <p:cNvSpPr/>
          <p:nvPr/>
        </p:nvSpPr>
        <p:spPr>
          <a:xfrm>
            <a:off x="548640" y="2313432"/>
            <a:ext cx="11064240" cy="822960"/>
          </a:xfrm>
          <a:prstGeom prst="roundRect">
            <a:avLst>
              <a:gd name="adj" fmla="val 13333"/>
            </a:avLst>
          </a:prstGeom>
          <a:solidFill>
            <a:schemeClr val="bg2"/>
          </a:solidFill>
          <a:ln/>
        </p:spPr>
      </p:sp>
      <p:sp>
        <p:nvSpPr>
          <p:cNvPr id="11" name="Lab 2 badge"/>
          <p:cNvSpPr/>
          <p:nvPr/>
        </p:nvSpPr>
        <p:spPr>
          <a:xfrm>
            <a:off x="685800" y="2468880"/>
            <a:ext cx="960120" cy="512064"/>
          </a:xfrm>
          <a:prstGeom prst="roundRect">
            <a:avLst>
              <a:gd name="adj" fmla="val 17857"/>
            </a:avLst>
          </a:prstGeom>
          <a:solidFill>
            <a:schemeClr val="accent2"/>
          </a:solidFill>
          <a:ln/>
        </p:spPr>
      </p:sp>
      <p:sp>
        <p:nvSpPr>
          <p:cNvPr id="12" name="Text 10"/>
          <p:cNvSpPr txBox="1"/>
          <p:nvPr/>
        </p:nvSpPr>
        <p:spPr>
          <a:xfrm>
            <a:off x="685800" y="2468880"/>
            <a:ext cx="960120"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2</a:t>
            </a:r>
            <a:endParaRPr lang="en-US" sz="1600" dirty="0"/>
          </a:p>
        </p:txBody>
      </p:sp>
      <p:sp>
        <p:nvSpPr>
          <p:cNvPr id="13" name="Text 11"/>
          <p:cNvSpPr txBox="1"/>
          <p:nvPr/>
        </p:nvSpPr>
        <p:spPr>
          <a:xfrm>
            <a:off x="1874520" y="2386584"/>
            <a:ext cx="8138160" cy="384048"/>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Fix injection: SQL injection &amp; XSS</a:t>
            </a:r>
            <a:endParaRPr lang="en-US" sz="1800" dirty="0"/>
          </a:p>
        </p:txBody>
      </p:sp>
      <p:sp>
        <p:nvSpPr>
          <p:cNvPr id="14" name="Text 12"/>
          <p:cNvSpPr txBox="1"/>
          <p:nvPr/>
        </p:nvSpPr>
        <p:spPr>
          <a:xfrm>
            <a:off x="1874520" y="2752344"/>
            <a:ext cx="9509760" cy="329184"/>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Find both in the code  ·  parameterized queries  ·  input validation  ·  safe rendering in React</a:t>
            </a:r>
            <a:endParaRPr lang="en-US" sz="1400" dirty="0"/>
          </a:p>
        </p:txBody>
      </p:sp>
      <p:sp>
        <p:nvSpPr>
          <p:cNvPr id="15" name="Lab 2 part tag"/>
          <p:cNvSpPr/>
          <p:nvPr/>
        </p:nvSpPr>
        <p:spPr>
          <a:xfrm>
            <a:off x="10332720" y="2423160"/>
            <a:ext cx="1097280" cy="310896"/>
          </a:xfrm>
          <a:prstGeom prst="roundRect">
            <a:avLst>
              <a:gd name="adj" fmla="val 50000"/>
            </a:avLst>
          </a:prstGeom>
          <a:solidFill>
            <a:schemeClr val="accent2"/>
          </a:solidFill>
          <a:ln/>
        </p:spPr>
      </p:sp>
      <p:sp>
        <p:nvSpPr>
          <p:cNvPr id="16" name="Text 14"/>
          <p:cNvSpPr txBox="1"/>
          <p:nvPr/>
        </p:nvSpPr>
        <p:spPr>
          <a:xfrm>
            <a:off x="10332720" y="2423160"/>
            <a:ext cx="10972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APP</a:t>
            </a:r>
            <a:endParaRPr lang="en-US" sz="1100" dirty="0"/>
          </a:p>
        </p:txBody>
      </p:sp>
      <p:sp>
        <p:nvSpPr>
          <p:cNvPr id="17" name="Lab 3 row"/>
          <p:cNvSpPr/>
          <p:nvPr/>
        </p:nvSpPr>
        <p:spPr>
          <a:xfrm>
            <a:off x="548640" y="3255264"/>
            <a:ext cx="11064240" cy="822960"/>
          </a:xfrm>
          <a:prstGeom prst="roundRect">
            <a:avLst>
              <a:gd name="adj" fmla="val 13333"/>
            </a:avLst>
          </a:prstGeom>
          <a:solidFill>
            <a:schemeClr val="bg2"/>
          </a:solidFill>
          <a:ln/>
        </p:spPr>
      </p:sp>
      <p:sp>
        <p:nvSpPr>
          <p:cNvPr id="18" name="Lab 3 badge"/>
          <p:cNvSpPr/>
          <p:nvPr/>
        </p:nvSpPr>
        <p:spPr>
          <a:xfrm>
            <a:off x="685800" y="3410712"/>
            <a:ext cx="960120" cy="512064"/>
          </a:xfrm>
          <a:prstGeom prst="roundRect">
            <a:avLst>
              <a:gd name="adj" fmla="val 17857"/>
            </a:avLst>
          </a:prstGeom>
          <a:solidFill>
            <a:schemeClr val="accent2"/>
          </a:solidFill>
          <a:ln/>
        </p:spPr>
      </p:sp>
      <p:sp>
        <p:nvSpPr>
          <p:cNvPr id="19" name="Text 17"/>
          <p:cNvSpPr txBox="1"/>
          <p:nvPr/>
        </p:nvSpPr>
        <p:spPr>
          <a:xfrm>
            <a:off x="685800" y="3410712"/>
            <a:ext cx="960120"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3</a:t>
            </a:r>
            <a:endParaRPr lang="en-US" sz="1600" dirty="0"/>
          </a:p>
        </p:txBody>
      </p:sp>
      <p:sp>
        <p:nvSpPr>
          <p:cNvPr id="20" name="Text 18"/>
          <p:cNvSpPr txBox="1"/>
          <p:nvPr/>
        </p:nvSpPr>
        <p:spPr>
          <a:xfrm>
            <a:off x="1874520" y="3328416"/>
            <a:ext cx="8138160" cy="384048"/>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Secure login &amp; access</a:t>
            </a:r>
            <a:endParaRPr lang="en-US" sz="1800" dirty="0"/>
          </a:p>
        </p:txBody>
      </p:sp>
      <p:sp>
        <p:nvSpPr>
          <p:cNvPr id="21" name="Text 19"/>
          <p:cNvSpPr txBox="1"/>
          <p:nvPr/>
        </p:nvSpPr>
        <p:spPr>
          <a:xfrm>
            <a:off x="1874520" y="3694176"/>
            <a:ext cx="9509760" cy="329184"/>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Password hashing (bcrypt)  ·  JWT  ·  only your own notes (IDOR)  ·  login rate limiting</a:t>
            </a:r>
            <a:endParaRPr lang="en-US" sz="1400" dirty="0"/>
          </a:p>
        </p:txBody>
      </p:sp>
      <p:sp>
        <p:nvSpPr>
          <p:cNvPr id="22" name="Lab 3 part tag"/>
          <p:cNvSpPr/>
          <p:nvPr/>
        </p:nvSpPr>
        <p:spPr>
          <a:xfrm>
            <a:off x="10332720" y="3364992"/>
            <a:ext cx="1097280" cy="310896"/>
          </a:xfrm>
          <a:prstGeom prst="roundRect">
            <a:avLst>
              <a:gd name="adj" fmla="val 50000"/>
            </a:avLst>
          </a:prstGeom>
          <a:solidFill>
            <a:schemeClr val="accent2"/>
          </a:solidFill>
          <a:ln/>
        </p:spPr>
      </p:sp>
      <p:sp>
        <p:nvSpPr>
          <p:cNvPr id="23" name="Text 21"/>
          <p:cNvSpPr txBox="1"/>
          <p:nvPr/>
        </p:nvSpPr>
        <p:spPr>
          <a:xfrm>
            <a:off x="10332720" y="3364992"/>
            <a:ext cx="10972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APP</a:t>
            </a:r>
            <a:endParaRPr lang="en-US" sz="1100" dirty="0"/>
          </a:p>
        </p:txBody>
      </p:sp>
      <p:sp>
        <p:nvSpPr>
          <p:cNvPr id="24" name="Lab 4 row"/>
          <p:cNvSpPr/>
          <p:nvPr/>
        </p:nvSpPr>
        <p:spPr>
          <a:xfrm>
            <a:off x="548640" y="4197096"/>
            <a:ext cx="11064240" cy="822960"/>
          </a:xfrm>
          <a:prstGeom prst="roundRect">
            <a:avLst>
              <a:gd name="adj" fmla="val 13333"/>
            </a:avLst>
          </a:prstGeom>
          <a:solidFill>
            <a:schemeClr val="bg2"/>
          </a:solidFill>
          <a:ln/>
        </p:spPr>
      </p:sp>
      <p:sp>
        <p:nvSpPr>
          <p:cNvPr id="25" name="Lab 4 badge"/>
          <p:cNvSpPr/>
          <p:nvPr/>
        </p:nvSpPr>
        <p:spPr>
          <a:xfrm>
            <a:off x="685800" y="4352544"/>
            <a:ext cx="960120" cy="512064"/>
          </a:xfrm>
          <a:prstGeom prst="roundRect">
            <a:avLst>
              <a:gd name="adj" fmla="val 17857"/>
            </a:avLst>
          </a:prstGeom>
          <a:solidFill>
            <a:schemeClr val="accent4"/>
          </a:solidFill>
          <a:ln/>
        </p:spPr>
      </p:sp>
      <p:sp>
        <p:nvSpPr>
          <p:cNvPr id="26" name="Text 24"/>
          <p:cNvSpPr txBox="1"/>
          <p:nvPr/>
        </p:nvSpPr>
        <p:spPr>
          <a:xfrm>
            <a:off x="685800" y="4352544"/>
            <a:ext cx="960120"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4</a:t>
            </a:r>
            <a:endParaRPr lang="en-US" sz="1600" dirty="0"/>
          </a:p>
        </p:txBody>
      </p:sp>
      <p:sp>
        <p:nvSpPr>
          <p:cNvPr id="27" name="Text 25"/>
          <p:cNvSpPr txBox="1"/>
          <p:nvPr/>
        </p:nvSpPr>
        <p:spPr>
          <a:xfrm>
            <a:off x="1874520" y="4270248"/>
            <a:ext cx="8138160" cy="384048"/>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Secure the Linux server</a:t>
            </a:r>
            <a:endParaRPr lang="en-US" sz="1800" dirty="0"/>
          </a:p>
        </p:txBody>
      </p:sp>
      <p:sp>
        <p:nvSpPr>
          <p:cNvPr id="28" name="Text 26"/>
          <p:cNvSpPr txBox="1"/>
          <p:nvPr/>
        </p:nvSpPr>
        <p:spPr>
          <a:xfrm>
            <a:off x="1874520" y="4636008"/>
            <a:ext cx="9509760" cy="329184"/>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DigitalOcean server  ·  SSH keys only  ·  ufw firewall  ·  Fail2ban  ·  automatic updates</a:t>
            </a:r>
            <a:endParaRPr lang="en-US" sz="1400" dirty="0"/>
          </a:p>
        </p:txBody>
      </p:sp>
      <p:sp>
        <p:nvSpPr>
          <p:cNvPr id="29" name="Lab 4 part tag"/>
          <p:cNvSpPr/>
          <p:nvPr/>
        </p:nvSpPr>
        <p:spPr>
          <a:xfrm>
            <a:off x="10332720" y="4306824"/>
            <a:ext cx="1097280" cy="310896"/>
          </a:xfrm>
          <a:prstGeom prst="roundRect">
            <a:avLst>
              <a:gd name="adj" fmla="val 50000"/>
            </a:avLst>
          </a:prstGeom>
          <a:solidFill>
            <a:schemeClr val="accent4"/>
          </a:solidFill>
          <a:ln/>
        </p:spPr>
      </p:sp>
      <p:sp>
        <p:nvSpPr>
          <p:cNvPr id="30" name="Text 28"/>
          <p:cNvSpPr txBox="1"/>
          <p:nvPr/>
        </p:nvSpPr>
        <p:spPr>
          <a:xfrm>
            <a:off x="10332720" y="4306824"/>
            <a:ext cx="10972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SERVER</a:t>
            </a:r>
            <a:endParaRPr lang="en-US" sz="1100" dirty="0"/>
          </a:p>
        </p:txBody>
      </p:sp>
      <p:sp>
        <p:nvSpPr>
          <p:cNvPr id="31" name="Lab 5 row"/>
          <p:cNvSpPr/>
          <p:nvPr/>
        </p:nvSpPr>
        <p:spPr>
          <a:xfrm>
            <a:off x="548640" y="5138928"/>
            <a:ext cx="11064240" cy="822960"/>
          </a:xfrm>
          <a:prstGeom prst="roundRect">
            <a:avLst>
              <a:gd name="adj" fmla="val 13333"/>
            </a:avLst>
          </a:prstGeom>
          <a:solidFill>
            <a:schemeClr val="bg2"/>
          </a:solidFill>
          <a:ln/>
        </p:spPr>
      </p:sp>
      <p:sp>
        <p:nvSpPr>
          <p:cNvPr id="32" name="Lab 5 badge"/>
          <p:cNvSpPr/>
          <p:nvPr/>
        </p:nvSpPr>
        <p:spPr>
          <a:xfrm>
            <a:off x="685800" y="5294376"/>
            <a:ext cx="960120" cy="512064"/>
          </a:xfrm>
          <a:prstGeom prst="roundRect">
            <a:avLst>
              <a:gd name="adj" fmla="val 17857"/>
            </a:avLst>
          </a:prstGeom>
          <a:solidFill>
            <a:schemeClr val="accent4"/>
          </a:solidFill>
          <a:ln/>
        </p:spPr>
      </p:sp>
      <p:sp>
        <p:nvSpPr>
          <p:cNvPr id="33" name="Text 31"/>
          <p:cNvSpPr txBox="1"/>
          <p:nvPr/>
        </p:nvSpPr>
        <p:spPr>
          <a:xfrm>
            <a:off x="685800" y="5294376"/>
            <a:ext cx="960120" cy="512064"/>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Lab 5</a:t>
            </a:r>
            <a:endParaRPr lang="en-US" sz="1600" dirty="0"/>
          </a:p>
        </p:txBody>
      </p:sp>
      <p:sp>
        <p:nvSpPr>
          <p:cNvPr id="34" name="Text 32"/>
          <p:cNvSpPr txBox="1"/>
          <p:nvPr/>
        </p:nvSpPr>
        <p:spPr>
          <a:xfrm>
            <a:off x="1874520" y="5212080"/>
            <a:ext cx="8138160" cy="384048"/>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Secure the web server &amp; deploy</a:t>
            </a:r>
            <a:endParaRPr lang="en-US" sz="1800" dirty="0"/>
          </a:p>
        </p:txBody>
      </p:sp>
      <p:sp>
        <p:nvSpPr>
          <p:cNvPr id="35" name="Text 33"/>
          <p:cNvSpPr txBox="1"/>
          <p:nvPr/>
        </p:nvSpPr>
        <p:spPr>
          <a:xfrm>
            <a:off x="1874520" y="5577840"/>
            <a:ext cx="9509760" cy="329184"/>
          </a:xfrm>
          <a:prstGeom prst="rect">
            <a:avLst/>
          </a:prstGeom>
          <a:noFill/>
          <a:ln/>
        </p:spPr>
        <p:txBody>
          <a:bodyPr wrap="square" lIns="0" tIns="0" rIns="0" bIns="0" rtlCol="0" anchor="ctr"/>
          <a:lstStyle/>
          <a:p>
            <a:pPr indent="0" marL="0">
              <a:buNone/>
            </a:pPr>
            <a:r>
              <a:rPr lang="en-US" sz="1400" dirty="0">
                <a:solidFill>
                  <a:schemeClr val="accent5"/>
                </a:solidFill>
                <a:latin typeface="Calibri" pitchFamily="34" charset="0"/>
                <a:ea typeface="Calibri" pitchFamily="34" charset="-122"/>
                <a:cs typeface="Calibri" pitchFamily="34" charset="-120"/>
              </a:rPr>
              <a:t>Nginx  ·  HTTPS (Let's Encrypt)  ·  security headers  ·  rate limiting  ·  GitHub Actions + npm audit</a:t>
            </a:r>
            <a:endParaRPr lang="en-US" sz="1400" dirty="0"/>
          </a:p>
        </p:txBody>
      </p:sp>
      <p:sp>
        <p:nvSpPr>
          <p:cNvPr id="36" name="Lab 5 part tag"/>
          <p:cNvSpPr/>
          <p:nvPr/>
        </p:nvSpPr>
        <p:spPr>
          <a:xfrm>
            <a:off x="10332720" y="5248656"/>
            <a:ext cx="1097280" cy="310896"/>
          </a:xfrm>
          <a:prstGeom prst="roundRect">
            <a:avLst>
              <a:gd name="adj" fmla="val 50000"/>
            </a:avLst>
          </a:prstGeom>
          <a:solidFill>
            <a:schemeClr val="accent4"/>
          </a:solidFill>
          <a:ln/>
        </p:spPr>
      </p:sp>
      <p:sp>
        <p:nvSpPr>
          <p:cNvPr id="37" name="Text 35"/>
          <p:cNvSpPr txBox="1"/>
          <p:nvPr/>
        </p:nvSpPr>
        <p:spPr>
          <a:xfrm>
            <a:off x="10332720" y="5248656"/>
            <a:ext cx="109728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SERVER</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Every lab follows the same cycle</a:t>
            </a:r>
            <a:endParaRPr lang="en-US" sz="3600" dirty="0"/>
          </a:p>
        </p:txBody>
      </p:sp>
      <p:sp>
        <p:nvSpPr>
          <p:cNvPr id="3" name="Run step"/>
          <p:cNvSpPr/>
          <p:nvPr/>
        </p:nvSpPr>
        <p:spPr>
          <a:xfrm>
            <a:off x="548640" y="1554480"/>
            <a:ext cx="2011680" cy="3017520"/>
          </a:xfrm>
          <a:prstGeom prst="roundRect">
            <a:avLst>
              <a:gd name="adj" fmla="val 5455"/>
            </a:avLst>
          </a:prstGeom>
          <a:solidFill>
            <a:schemeClr val="bg2"/>
          </a:solidFill>
          <a:ln/>
        </p:spPr>
      </p:sp>
      <p:sp>
        <p:nvSpPr>
          <p:cNvPr id="4" name="Run circle"/>
          <p:cNvSpPr/>
          <p:nvPr/>
        </p:nvSpPr>
        <p:spPr>
          <a:xfrm>
            <a:off x="1143000" y="1783080"/>
            <a:ext cx="822960" cy="822960"/>
          </a:xfrm>
          <a:prstGeom prst="ellipse">
            <a:avLst/>
          </a:prstGeom>
          <a:solidFill>
            <a:schemeClr val="tx2"/>
          </a:solidFill>
          <a:ln/>
        </p:spPr>
      </p:sp>
      <p:pic>
        <p:nvPicPr>
          <p:cNvPr id="5" name="Run icon" descr="Run">    </p:cNvPr>
          <p:cNvPicPr>
            <a:picLocks noChangeAspect="1"/>
          </p:cNvPicPr>
          <p:nvPr/>
        </p:nvPicPr>
        <p:blipFill>
          <a:blip r:embed="rId1"/>
          <a:stretch>
            <a:fillRect/>
          </a:stretch>
        </p:blipFill>
        <p:spPr>
          <a:xfrm>
            <a:off x="1348740" y="1988820"/>
            <a:ext cx="411480" cy="411480"/>
          </a:xfrm>
          <a:prstGeom prst="rect">
            <a:avLst/>
          </a:prstGeom>
        </p:spPr>
      </p:pic>
      <p:sp>
        <p:nvSpPr>
          <p:cNvPr id="6" name="Text 3"/>
          <p:cNvSpPr txBox="1"/>
          <p:nvPr/>
        </p:nvSpPr>
        <p:spPr>
          <a:xfrm>
            <a:off x="640080" y="2788920"/>
            <a:ext cx="18288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1. Run</a:t>
            </a:r>
            <a:endParaRPr lang="en-US" sz="1800" dirty="0"/>
          </a:p>
        </p:txBody>
      </p:sp>
      <p:sp>
        <p:nvSpPr>
          <p:cNvPr id="7" name="Text 4"/>
          <p:cNvSpPr txBox="1"/>
          <p:nvPr/>
        </p:nvSpPr>
        <p:spPr>
          <a:xfrm>
            <a:off x="731520" y="3291840"/>
            <a:ext cx="164592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Start the app or the server</a:t>
            </a:r>
            <a:endParaRPr lang="en-US" sz="1400" dirty="0"/>
          </a:p>
        </p:txBody>
      </p:sp>
      <p:sp>
        <p:nvSpPr>
          <p:cNvPr id="8" name="Step arrow 1"/>
          <p:cNvSpPr/>
          <p:nvPr/>
        </p:nvSpPr>
        <p:spPr>
          <a:xfrm>
            <a:off x="2596896" y="2194560"/>
            <a:ext cx="178308" cy="0"/>
          </a:xfrm>
          <a:prstGeom prst="line">
            <a:avLst/>
          </a:prstGeom>
          <a:noFill/>
          <a:ln w="25400">
            <a:solidFill>
              <a:srgbClr val="6B7A8C"/>
            </a:solidFill>
            <a:prstDash val="solid"/>
            <a:tailEnd type="triangle"/>
          </a:ln>
        </p:spPr>
      </p:sp>
      <p:sp>
        <p:nvSpPr>
          <p:cNvPr id="9" name="Find step"/>
          <p:cNvSpPr/>
          <p:nvPr/>
        </p:nvSpPr>
        <p:spPr>
          <a:xfrm>
            <a:off x="2811780" y="1554480"/>
            <a:ext cx="2011680" cy="3017520"/>
          </a:xfrm>
          <a:prstGeom prst="roundRect">
            <a:avLst>
              <a:gd name="adj" fmla="val 5455"/>
            </a:avLst>
          </a:prstGeom>
          <a:solidFill>
            <a:schemeClr val="bg2"/>
          </a:solidFill>
          <a:ln/>
        </p:spPr>
      </p:sp>
      <p:sp>
        <p:nvSpPr>
          <p:cNvPr id="10" name="Find circle"/>
          <p:cNvSpPr/>
          <p:nvPr/>
        </p:nvSpPr>
        <p:spPr>
          <a:xfrm>
            <a:off x="3406140" y="1783080"/>
            <a:ext cx="822960" cy="822960"/>
          </a:xfrm>
          <a:prstGeom prst="ellipse">
            <a:avLst/>
          </a:prstGeom>
          <a:solidFill>
            <a:schemeClr val="tx2"/>
          </a:solidFill>
          <a:ln/>
        </p:spPr>
      </p:sp>
      <p:pic>
        <p:nvPicPr>
          <p:cNvPr id="11" name="Find icon" descr="Find">    </p:cNvPr>
          <p:cNvPicPr>
            <a:picLocks noChangeAspect="1"/>
          </p:cNvPicPr>
          <p:nvPr/>
        </p:nvPicPr>
        <p:blipFill>
          <a:blip r:embed="rId2"/>
          <a:stretch>
            <a:fillRect/>
          </a:stretch>
        </p:blipFill>
        <p:spPr>
          <a:xfrm>
            <a:off x="3611880" y="1988820"/>
            <a:ext cx="411480" cy="411480"/>
          </a:xfrm>
          <a:prstGeom prst="rect">
            <a:avLst/>
          </a:prstGeom>
        </p:spPr>
      </p:pic>
      <p:sp>
        <p:nvSpPr>
          <p:cNvPr id="12" name="Text 8"/>
          <p:cNvSpPr txBox="1"/>
          <p:nvPr/>
        </p:nvSpPr>
        <p:spPr>
          <a:xfrm>
            <a:off x="2903220" y="2788920"/>
            <a:ext cx="18288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2. Find</a:t>
            </a:r>
            <a:endParaRPr lang="en-US" sz="1800" dirty="0"/>
          </a:p>
        </p:txBody>
      </p:sp>
      <p:sp>
        <p:nvSpPr>
          <p:cNvPr id="13" name="Text 9"/>
          <p:cNvSpPr txBox="1"/>
          <p:nvPr/>
        </p:nvSpPr>
        <p:spPr>
          <a:xfrm>
            <a:off x="2994660" y="3291840"/>
            <a:ext cx="164592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Discover the weakness</a:t>
            </a:r>
            <a:endParaRPr lang="en-US" sz="1400" dirty="0"/>
          </a:p>
        </p:txBody>
      </p:sp>
      <p:sp>
        <p:nvSpPr>
          <p:cNvPr id="14" name="Step arrow 2"/>
          <p:cNvSpPr/>
          <p:nvPr/>
        </p:nvSpPr>
        <p:spPr>
          <a:xfrm>
            <a:off x="4860036" y="2194560"/>
            <a:ext cx="178308" cy="0"/>
          </a:xfrm>
          <a:prstGeom prst="line">
            <a:avLst/>
          </a:prstGeom>
          <a:noFill/>
          <a:ln w="25400">
            <a:solidFill>
              <a:srgbClr val="6B7A8C"/>
            </a:solidFill>
            <a:prstDash val="solid"/>
            <a:tailEnd type="triangle"/>
          </a:ln>
        </p:spPr>
      </p:sp>
      <p:sp>
        <p:nvSpPr>
          <p:cNvPr id="15" name="Exploit step"/>
          <p:cNvSpPr/>
          <p:nvPr/>
        </p:nvSpPr>
        <p:spPr>
          <a:xfrm>
            <a:off x="5074920" y="1554480"/>
            <a:ext cx="2011680" cy="3017520"/>
          </a:xfrm>
          <a:prstGeom prst="roundRect">
            <a:avLst>
              <a:gd name="adj" fmla="val 5455"/>
            </a:avLst>
          </a:prstGeom>
          <a:solidFill>
            <a:schemeClr val="bg2"/>
          </a:solidFill>
          <a:ln/>
        </p:spPr>
      </p:sp>
      <p:sp>
        <p:nvSpPr>
          <p:cNvPr id="16" name="Exploit circle"/>
          <p:cNvSpPr/>
          <p:nvPr/>
        </p:nvSpPr>
        <p:spPr>
          <a:xfrm>
            <a:off x="5669280" y="1783080"/>
            <a:ext cx="822960" cy="822960"/>
          </a:xfrm>
          <a:prstGeom prst="ellipse">
            <a:avLst/>
          </a:prstGeom>
          <a:solidFill>
            <a:schemeClr val="tx2"/>
          </a:solidFill>
          <a:ln/>
        </p:spPr>
      </p:sp>
      <p:pic>
        <p:nvPicPr>
          <p:cNvPr id="17" name="Exploit icon" descr="Exploit">    </p:cNvPr>
          <p:cNvPicPr>
            <a:picLocks noChangeAspect="1"/>
          </p:cNvPicPr>
          <p:nvPr/>
        </p:nvPicPr>
        <p:blipFill>
          <a:blip r:embed="rId3"/>
          <a:stretch>
            <a:fillRect/>
          </a:stretch>
        </p:blipFill>
        <p:spPr>
          <a:xfrm>
            <a:off x="5875020" y="1988820"/>
            <a:ext cx="411480" cy="411480"/>
          </a:xfrm>
          <a:prstGeom prst="rect">
            <a:avLst/>
          </a:prstGeom>
        </p:spPr>
      </p:pic>
      <p:sp>
        <p:nvSpPr>
          <p:cNvPr id="18" name="Text 13"/>
          <p:cNvSpPr txBox="1"/>
          <p:nvPr/>
        </p:nvSpPr>
        <p:spPr>
          <a:xfrm>
            <a:off x="5166360" y="2788920"/>
            <a:ext cx="182880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3. Exploit</a:t>
            </a:r>
            <a:endParaRPr lang="en-US" sz="1800" dirty="0"/>
          </a:p>
        </p:txBody>
      </p:sp>
      <p:sp>
        <p:nvSpPr>
          <p:cNvPr id="19" name="Text 14"/>
          <p:cNvSpPr txBox="1"/>
          <p:nvPr/>
        </p:nvSpPr>
        <p:spPr>
          <a:xfrm>
            <a:off x="5257800" y="3291840"/>
            <a:ext cx="1645920" cy="109728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Show the impact, on localhost only</a:t>
            </a:r>
            <a:endParaRPr lang="en-US" sz="1400" dirty="0"/>
          </a:p>
        </p:txBody>
      </p:sp>
      <p:sp>
        <p:nvSpPr>
          <p:cNvPr id="20" name="Step arrow 3"/>
          <p:cNvSpPr/>
          <p:nvPr/>
        </p:nvSpPr>
        <p:spPr>
          <a:xfrm>
            <a:off x="7123176" y="2194560"/>
            <a:ext cx="178308" cy="0"/>
          </a:xfrm>
          <a:prstGeom prst="line">
            <a:avLst/>
          </a:prstGeom>
          <a:noFill/>
          <a:ln w="25400">
            <a:solidFill>
              <a:srgbClr val="6B7A8C"/>
            </a:solidFill>
            <a:prstDash val="solid"/>
            <a:tailEnd type="triangle"/>
          </a:ln>
        </p:spPr>
      </p:sp>
      <p:sp>
        <p:nvSpPr>
          <p:cNvPr id="21" name="Fix step"/>
          <p:cNvSpPr/>
          <p:nvPr/>
        </p:nvSpPr>
        <p:spPr>
          <a:xfrm>
            <a:off x="7338060" y="1554480"/>
            <a:ext cx="2011680" cy="3017520"/>
          </a:xfrm>
          <a:prstGeom prst="roundRect">
            <a:avLst>
              <a:gd name="adj" fmla="val 5455"/>
            </a:avLst>
          </a:prstGeom>
          <a:solidFill>
            <a:schemeClr val="tx2"/>
          </a:solidFill>
          <a:ln/>
        </p:spPr>
      </p:sp>
      <p:sp>
        <p:nvSpPr>
          <p:cNvPr id="22" name="Fix circle"/>
          <p:cNvSpPr/>
          <p:nvPr/>
        </p:nvSpPr>
        <p:spPr>
          <a:xfrm>
            <a:off x="7932420" y="1783080"/>
            <a:ext cx="822960" cy="822960"/>
          </a:xfrm>
          <a:prstGeom prst="ellipse">
            <a:avLst/>
          </a:prstGeom>
          <a:solidFill>
            <a:schemeClr val="accent1"/>
          </a:solidFill>
          <a:ln/>
        </p:spPr>
      </p:sp>
      <p:pic>
        <p:nvPicPr>
          <p:cNvPr id="23" name="Fix icon" descr="Fix">    </p:cNvPr>
          <p:cNvPicPr>
            <a:picLocks noChangeAspect="1"/>
          </p:cNvPicPr>
          <p:nvPr/>
        </p:nvPicPr>
        <p:blipFill>
          <a:blip r:embed="rId4"/>
          <a:stretch>
            <a:fillRect/>
          </a:stretch>
        </p:blipFill>
        <p:spPr>
          <a:xfrm>
            <a:off x="8138160" y="1988820"/>
            <a:ext cx="411480" cy="411480"/>
          </a:xfrm>
          <a:prstGeom prst="rect">
            <a:avLst/>
          </a:prstGeom>
        </p:spPr>
      </p:pic>
      <p:sp>
        <p:nvSpPr>
          <p:cNvPr id="24" name="Text 18"/>
          <p:cNvSpPr txBox="1"/>
          <p:nvPr/>
        </p:nvSpPr>
        <p:spPr>
          <a:xfrm>
            <a:off x="7429500" y="2788920"/>
            <a:ext cx="18288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4. Fix</a:t>
            </a:r>
            <a:endParaRPr lang="en-US" sz="1800" dirty="0"/>
          </a:p>
        </p:txBody>
      </p:sp>
      <p:sp>
        <p:nvSpPr>
          <p:cNvPr id="25" name="Text 19"/>
          <p:cNvSpPr txBox="1"/>
          <p:nvPr/>
        </p:nvSpPr>
        <p:spPr>
          <a:xfrm>
            <a:off x="7520940" y="3291840"/>
            <a:ext cx="1645920" cy="109728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Change the code or the server config</a:t>
            </a:r>
            <a:endParaRPr lang="en-US" sz="1400" dirty="0"/>
          </a:p>
        </p:txBody>
      </p:sp>
      <p:sp>
        <p:nvSpPr>
          <p:cNvPr id="26" name="Step arrow 4"/>
          <p:cNvSpPr/>
          <p:nvPr/>
        </p:nvSpPr>
        <p:spPr>
          <a:xfrm>
            <a:off x="9386316" y="2194560"/>
            <a:ext cx="178308" cy="0"/>
          </a:xfrm>
          <a:prstGeom prst="line">
            <a:avLst/>
          </a:prstGeom>
          <a:noFill/>
          <a:ln w="25400">
            <a:solidFill>
              <a:srgbClr val="6B7A8C"/>
            </a:solidFill>
            <a:prstDash val="solid"/>
            <a:tailEnd type="triangle"/>
          </a:ln>
        </p:spPr>
      </p:sp>
      <p:sp>
        <p:nvSpPr>
          <p:cNvPr id="27" name="Verify &amp; report step"/>
          <p:cNvSpPr/>
          <p:nvPr/>
        </p:nvSpPr>
        <p:spPr>
          <a:xfrm>
            <a:off x="9601200" y="1554480"/>
            <a:ext cx="2011680" cy="3017520"/>
          </a:xfrm>
          <a:prstGeom prst="roundRect">
            <a:avLst>
              <a:gd name="adj" fmla="val 5455"/>
            </a:avLst>
          </a:prstGeom>
          <a:solidFill>
            <a:schemeClr val="tx2"/>
          </a:solidFill>
          <a:ln/>
        </p:spPr>
      </p:sp>
      <p:sp>
        <p:nvSpPr>
          <p:cNvPr id="28" name="Verify &amp; report circle"/>
          <p:cNvSpPr/>
          <p:nvPr/>
        </p:nvSpPr>
        <p:spPr>
          <a:xfrm>
            <a:off x="10195560" y="1783080"/>
            <a:ext cx="822960" cy="822960"/>
          </a:xfrm>
          <a:prstGeom prst="ellipse">
            <a:avLst/>
          </a:prstGeom>
          <a:solidFill>
            <a:schemeClr val="accent1"/>
          </a:solidFill>
          <a:ln/>
        </p:spPr>
      </p:sp>
      <p:pic>
        <p:nvPicPr>
          <p:cNvPr id="29" name="Verify &amp; report icon" descr="Verify &amp; report">    </p:cNvPr>
          <p:cNvPicPr>
            <a:picLocks noChangeAspect="1"/>
          </p:cNvPicPr>
          <p:nvPr/>
        </p:nvPicPr>
        <p:blipFill>
          <a:blip r:embed="rId5"/>
          <a:stretch>
            <a:fillRect/>
          </a:stretch>
        </p:blipFill>
        <p:spPr>
          <a:xfrm>
            <a:off x="10401300" y="1988820"/>
            <a:ext cx="411480" cy="411480"/>
          </a:xfrm>
          <a:prstGeom prst="rect">
            <a:avLst/>
          </a:prstGeom>
        </p:spPr>
      </p:pic>
      <p:sp>
        <p:nvSpPr>
          <p:cNvPr id="30" name="Text 23"/>
          <p:cNvSpPr txBox="1"/>
          <p:nvPr/>
        </p:nvSpPr>
        <p:spPr>
          <a:xfrm>
            <a:off x="9692640" y="2788920"/>
            <a:ext cx="18288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Calibri" pitchFamily="34" charset="0"/>
                <a:ea typeface="Calibri" pitchFamily="34" charset="-122"/>
                <a:cs typeface="Calibri" pitchFamily="34" charset="-120"/>
              </a:rPr>
              <a:t>5. Verify &amp; report</a:t>
            </a:r>
            <a:endParaRPr lang="en-US" sz="1800" dirty="0"/>
          </a:p>
        </p:txBody>
      </p:sp>
      <p:sp>
        <p:nvSpPr>
          <p:cNvPr id="31" name="Text 24"/>
          <p:cNvSpPr txBox="1"/>
          <p:nvPr/>
        </p:nvSpPr>
        <p:spPr>
          <a:xfrm>
            <a:off x="9784080" y="3291840"/>
            <a:ext cx="1645920" cy="109728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Prove the fix works, before/after evidence</a:t>
            </a:r>
            <a:endParaRPr lang="en-US" sz="1400" dirty="0"/>
          </a:p>
        </p:txBody>
      </p:sp>
      <p:sp>
        <p:nvSpPr>
          <p:cNvPr id="32" name="Text 25"/>
          <p:cNvSpPr txBox="1"/>
          <p:nvPr/>
        </p:nvSpPr>
        <p:spPr>
          <a:xfrm>
            <a:off x="548640" y="4983480"/>
            <a:ext cx="11064240" cy="914400"/>
          </a:xfrm>
          <a:prstGeom prst="rect">
            <a:avLst/>
          </a:prstGeom>
          <a:noFill/>
          <a:ln/>
        </p:spPr>
        <p:txBody>
          <a:bodyPr wrap="square" lIns="0" tIns="0" rIns="0" bIns="0" rtlCol="0" anchor="t"/>
          <a:lstStyle/>
          <a:p>
            <a:pPr indent="0" marL="0">
              <a:buNone/>
            </a:pPr>
            <a:r>
              <a:rPr lang="en-US" sz="1700" b="1" dirty="0">
                <a:solidFill>
                  <a:schemeClr val="tx2"/>
                </a:solidFill>
                <a:latin typeface="Calibri" pitchFamily="34" charset="0"/>
                <a:ea typeface="Calibri" pitchFamily="34" charset="-122"/>
                <a:cs typeface="Calibri" pitchFamily="34" charset="-120"/>
              </a:rPr>
              <a:t>Most of your grade comes from steps 4 and 5. </a:t>
            </a:r>
            <a:pPr indent="0" marL="0">
              <a:buNone/>
            </a:pPr>
            <a:r>
              <a:rPr lang="en-US" sz="1700" dirty="0">
                <a:solidFill>
                  <a:schemeClr val="tx1"/>
                </a:solidFill>
                <a:latin typeface="Calibri" pitchFamily="34" charset="0"/>
                <a:ea typeface="Calibri" pitchFamily="34" charset="-122"/>
                <a:cs typeface="Calibri" pitchFamily="34" charset="-120"/>
              </a:rPr>
              <a:t>Breaking something is easy. Explaining why it broke and fixing it properly is the real skill, and it is what employers pay for.</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Ethics and law: the most important slide</a:t>
            </a:r>
            <a:endParaRPr lang="en-US" sz="3600" dirty="0"/>
          </a:p>
        </p:txBody>
      </p:sp>
      <p:sp>
        <p:nvSpPr>
          <p:cNvPr id="3" name="Allowed card"/>
          <p:cNvSpPr/>
          <p:nvPr/>
        </p:nvSpPr>
        <p:spPr>
          <a:xfrm>
            <a:off x="548640" y="1417320"/>
            <a:ext cx="5394960" cy="3291840"/>
          </a:xfrm>
          <a:prstGeom prst="roundRect">
            <a:avLst>
              <a:gd name="adj" fmla="val 3333"/>
            </a:avLst>
          </a:prstGeom>
          <a:solidFill>
            <a:schemeClr val="bg2"/>
          </a:solidFill>
          <a:ln/>
        </p:spPr>
      </p:sp>
      <p:pic>
        <p:nvPicPr>
          <p:cNvPr id="4" name="Allowed icon" descr="Allowed">    </p:cNvPr>
          <p:cNvPicPr>
            <a:picLocks noChangeAspect="1"/>
          </p:cNvPicPr>
          <p:nvPr/>
        </p:nvPicPr>
        <p:blipFill>
          <a:blip r:embed="rId1"/>
          <a:stretch>
            <a:fillRect/>
          </a:stretch>
        </p:blipFill>
        <p:spPr>
          <a:xfrm>
            <a:off x="822960" y="1645920"/>
            <a:ext cx="548640" cy="548640"/>
          </a:xfrm>
          <a:prstGeom prst="rect">
            <a:avLst/>
          </a:prstGeom>
        </p:spPr>
      </p:pic>
      <p:sp>
        <p:nvSpPr>
          <p:cNvPr id="5" name="Text 2"/>
          <p:cNvSpPr txBox="1"/>
          <p:nvPr/>
        </p:nvSpPr>
        <p:spPr>
          <a:xfrm>
            <a:off x="1554480" y="1645920"/>
            <a:ext cx="4114800" cy="548640"/>
          </a:xfrm>
          <a:prstGeom prst="rect">
            <a:avLst/>
          </a:prstGeom>
          <a:noFill/>
          <a:ln/>
        </p:spPr>
        <p:txBody>
          <a:bodyPr wrap="square" lIns="0" tIns="0" rIns="0" bIns="0" rtlCol="0" anchor="ctr"/>
          <a:lstStyle/>
          <a:p>
            <a:pPr indent="0" marL="0">
              <a:buNone/>
            </a:pPr>
            <a:r>
              <a:rPr lang="en-US" sz="2400" b="1" dirty="0">
                <a:solidFill>
                  <a:schemeClr val="accent2"/>
                </a:solidFill>
                <a:latin typeface="Calibri" pitchFamily="34" charset="0"/>
                <a:ea typeface="Calibri" pitchFamily="34" charset="-122"/>
                <a:cs typeface="Calibri" pitchFamily="34" charset="-120"/>
              </a:rPr>
              <a:t>Allowed</a:t>
            </a:r>
            <a:endParaRPr lang="en-US" sz="2400" dirty="0"/>
          </a:p>
        </p:txBody>
      </p:sp>
      <p:sp>
        <p:nvSpPr>
          <p:cNvPr id="6" name="Text 3"/>
          <p:cNvSpPr txBox="1"/>
          <p:nvPr/>
        </p:nvSpPr>
        <p:spPr>
          <a:xfrm>
            <a:off x="868680" y="2423160"/>
            <a:ext cx="484632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Your own laptop and DigitalOcean server</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Intentionally vulnerable practice apps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Systems where you have written permission</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CTF platforms, within their rules</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Reporting bugs through responsible disclosure</a:t>
            </a:r>
            <a:endParaRPr lang="en-US" sz="1600" dirty="0"/>
          </a:p>
        </p:txBody>
      </p:sp>
      <p:sp>
        <p:nvSpPr>
          <p:cNvPr id="7" name="Not allowed card"/>
          <p:cNvSpPr/>
          <p:nvPr/>
        </p:nvSpPr>
        <p:spPr>
          <a:xfrm>
            <a:off x="6217920" y="1417320"/>
            <a:ext cx="5394960" cy="3291840"/>
          </a:xfrm>
          <a:prstGeom prst="roundRect">
            <a:avLst>
              <a:gd name="adj" fmla="val 3333"/>
            </a:avLst>
          </a:prstGeom>
          <a:solidFill>
            <a:schemeClr val="bg2"/>
          </a:solidFill>
          <a:ln/>
        </p:spPr>
      </p:sp>
      <p:pic>
        <p:nvPicPr>
          <p:cNvPr id="8" name="Not allowed icon" descr="Not allowed">    </p:cNvPr>
          <p:cNvPicPr>
            <a:picLocks noChangeAspect="1"/>
          </p:cNvPicPr>
          <p:nvPr/>
        </p:nvPicPr>
        <p:blipFill>
          <a:blip r:embed="rId2"/>
          <a:stretch>
            <a:fillRect/>
          </a:stretch>
        </p:blipFill>
        <p:spPr>
          <a:xfrm>
            <a:off x="6492240" y="1645920"/>
            <a:ext cx="548640" cy="548640"/>
          </a:xfrm>
          <a:prstGeom prst="rect">
            <a:avLst/>
          </a:prstGeom>
        </p:spPr>
      </p:pic>
      <p:sp>
        <p:nvSpPr>
          <p:cNvPr id="9" name="Text 5"/>
          <p:cNvSpPr txBox="1"/>
          <p:nvPr/>
        </p:nvSpPr>
        <p:spPr>
          <a:xfrm>
            <a:off x="7223760" y="1645920"/>
            <a:ext cx="4114800" cy="548640"/>
          </a:xfrm>
          <a:prstGeom prst="rect">
            <a:avLst/>
          </a:prstGeom>
          <a:noFill/>
          <a:ln/>
        </p:spPr>
        <p:txBody>
          <a:bodyPr wrap="square" lIns="0" tIns="0" rIns="0" bIns="0" rtlCol="0" anchor="ctr"/>
          <a:lstStyle/>
          <a:p>
            <a:pPr indent="0" marL="0">
              <a:buNone/>
            </a:pPr>
            <a:r>
              <a:rPr lang="en-US" sz="2400" b="1" dirty="0">
                <a:solidFill>
                  <a:schemeClr val="accent3"/>
                </a:solidFill>
                <a:latin typeface="Calibri" pitchFamily="34" charset="0"/>
                <a:ea typeface="Calibri" pitchFamily="34" charset="-122"/>
                <a:cs typeface="Calibri" pitchFamily="34" charset="-120"/>
              </a:rPr>
              <a:t>Not allowed</a:t>
            </a:r>
            <a:endParaRPr lang="en-US" sz="2400" dirty="0"/>
          </a:p>
        </p:txBody>
      </p:sp>
      <p:sp>
        <p:nvSpPr>
          <p:cNvPr id="10" name="Text 6"/>
          <p:cNvSpPr txBox="1"/>
          <p:nvPr/>
        </p:nvSpPr>
        <p:spPr>
          <a:xfrm>
            <a:off x="6537960" y="2423160"/>
            <a:ext cx="484632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Scanning the university or any public network</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Testing a real website "just to see"</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Keeping or sharing captured passwords or data</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Using lab techniques outside the lab</a:t>
            </a:r>
            <a:endParaRPr lang="en-US" sz="1600" dirty="0"/>
          </a:p>
          <a:p>
            <a:pPr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Running tools you do not understand</a:t>
            </a:r>
            <a:endParaRPr lang="en-US" sz="1600" dirty="0"/>
          </a:p>
        </p:txBody>
      </p:sp>
      <p:sp>
        <p:nvSpPr>
          <p:cNvPr id="11" name="Law box"/>
          <p:cNvSpPr/>
          <p:nvPr/>
        </p:nvSpPr>
        <p:spPr>
          <a:xfrm>
            <a:off x="548640" y="5029200"/>
            <a:ext cx="11064240" cy="777240"/>
          </a:xfrm>
          <a:prstGeom prst="roundRect">
            <a:avLst>
              <a:gd name="adj" fmla="val 14118"/>
            </a:avLst>
          </a:prstGeom>
          <a:solidFill>
            <a:schemeClr val="tx2"/>
          </a:solidFill>
          <a:ln/>
        </p:spPr>
      </p:sp>
      <p:sp>
        <p:nvSpPr>
          <p:cNvPr id="12" name="Text 8"/>
          <p:cNvSpPr txBox="1"/>
          <p:nvPr/>
        </p:nvSpPr>
        <p:spPr>
          <a:xfrm>
            <a:off x="822960" y="5029200"/>
            <a:ext cx="10515600" cy="77724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Unauthorized access to computer systems is a criminal offense in Moldova, in the EU (Directive 2013/40/EU) and almost everywhere else. Good intentions are not a defense.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Grading</a:t>
            </a:r>
            <a:endParaRPr lang="en-US" sz="3600" dirty="0"/>
          </a:p>
        </p:txBody>
      </p:sp>
      <p:sp>
        <p:nvSpPr>
          <p:cNvPr id="3" name="Lab reports card"/>
          <p:cNvSpPr/>
          <p:nvPr/>
        </p:nvSpPr>
        <p:spPr>
          <a:xfrm>
            <a:off x="548640" y="1554480"/>
            <a:ext cx="3474720" cy="3017520"/>
          </a:xfrm>
          <a:prstGeom prst="roundRect">
            <a:avLst>
              <a:gd name="adj" fmla="val 3636"/>
            </a:avLst>
          </a:prstGeom>
          <a:solidFill>
            <a:schemeClr val="bg2"/>
          </a:solidFill>
          <a:ln/>
        </p:spPr>
      </p:sp>
      <p:sp>
        <p:nvSpPr>
          <p:cNvPr id="4" name="Text 2"/>
          <p:cNvSpPr txBox="1"/>
          <p:nvPr/>
        </p:nvSpPr>
        <p:spPr>
          <a:xfrm>
            <a:off x="868680" y="1783080"/>
            <a:ext cx="2834640" cy="1188720"/>
          </a:xfrm>
          <a:prstGeom prst="rect">
            <a:avLst/>
          </a:prstGeom>
          <a:noFill/>
          <a:ln/>
        </p:spPr>
        <p:txBody>
          <a:bodyPr wrap="square" lIns="0" tIns="0" rIns="0" bIns="0" rtlCol="0" anchor="ctr"/>
          <a:lstStyle/>
          <a:p>
            <a:pPr indent="0" marL="0">
              <a:buNone/>
            </a:pPr>
            <a:r>
              <a:rPr lang="en-US" sz="6600" b="1" dirty="0">
                <a:solidFill>
                  <a:schemeClr val="accent2"/>
                </a:solidFill>
                <a:latin typeface="Cambria" pitchFamily="34" charset="0"/>
                <a:ea typeface="Cambria" pitchFamily="34" charset="-122"/>
                <a:cs typeface="Cambria" pitchFamily="34" charset="-120"/>
              </a:rPr>
              <a:t>60%</a:t>
            </a:r>
            <a:endParaRPr lang="en-US" sz="6600" dirty="0"/>
          </a:p>
        </p:txBody>
      </p:sp>
      <p:sp>
        <p:nvSpPr>
          <p:cNvPr id="5" name="Text 3"/>
          <p:cNvSpPr txBox="1"/>
          <p:nvPr/>
        </p:nvSpPr>
        <p:spPr>
          <a:xfrm>
            <a:off x="868680" y="3063240"/>
            <a:ext cx="283464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Lab reports</a:t>
            </a:r>
            <a:endParaRPr lang="en-US" sz="2200" dirty="0"/>
          </a:p>
        </p:txBody>
      </p:sp>
      <p:sp>
        <p:nvSpPr>
          <p:cNvPr id="6" name="Text 4"/>
          <p:cNvSpPr txBox="1"/>
          <p:nvPr/>
        </p:nvSpPr>
        <p:spPr>
          <a:xfrm>
            <a:off x="868680" y="3611880"/>
            <a:ext cx="28346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Findings, impact, fix, before/after evidence</a:t>
            </a:r>
            <a:endParaRPr lang="en-US" sz="1500" dirty="0"/>
          </a:p>
        </p:txBody>
      </p:sp>
      <p:sp>
        <p:nvSpPr>
          <p:cNvPr id="7" name="Final assessment card"/>
          <p:cNvSpPr/>
          <p:nvPr/>
        </p:nvSpPr>
        <p:spPr>
          <a:xfrm>
            <a:off x="4343400" y="1554480"/>
            <a:ext cx="3474720" cy="3017520"/>
          </a:xfrm>
          <a:prstGeom prst="roundRect">
            <a:avLst>
              <a:gd name="adj" fmla="val 3636"/>
            </a:avLst>
          </a:prstGeom>
          <a:solidFill>
            <a:schemeClr val="bg2"/>
          </a:solidFill>
          <a:ln/>
        </p:spPr>
      </p:sp>
      <p:sp>
        <p:nvSpPr>
          <p:cNvPr id="8" name="Text 6"/>
          <p:cNvSpPr txBox="1"/>
          <p:nvPr/>
        </p:nvSpPr>
        <p:spPr>
          <a:xfrm>
            <a:off x="4663440" y="1783080"/>
            <a:ext cx="2834640" cy="118872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20%</a:t>
            </a:r>
            <a:endParaRPr lang="en-US" sz="6600" dirty="0"/>
          </a:p>
        </p:txBody>
      </p:sp>
      <p:sp>
        <p:nvSpPr>
          <p:cNvPr id="9" name="Text 7"/>
          <p:cNvSpPr txBox="1"/>
          <p:nvPr/>
        </p:nvSpPr>
        <p:spPr>
          <a:xfrm>
            <a:off x="4663440" y="3063240"/>
            <a:ext cx="283464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Final assessment</a:t>
            </a:r>
            <a:endParaRPr lang="en-US" sz="2200" dirty="0"/>
          </a:p>
        </p:txBody>
      </p:sp>
      <p:sp>
        <p:nvSpPr>
          <p:cNvPr id="10" name="Text 8"/>
          <p:cNvSpPr txBox="1"/>
          <p:nvPr/>
        </p:nvSpPr>
        <p:spPr>
          <a:xfrm>
            <a:off x="4663440" y="3611880"/>
            <a:ext cx="28346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Present your secured app, live on your own server</a:t>
            </a:r>
            <a:endParaRPr lang="en-US" sz="1500" dirty="0"/>
          </a:p>
        </p:txBody>
      </p:sp>
      <p:sp>
        <p:nvSpPr>
          <p:cNvPr id="11" name="Quiz / oral defense card"/>
          <p:cNvSpPr/>
          <p:nvPr/>
        </p:nvSpPr>
        <p:spPr>
          <a:xfrm>
            <a:off x="8138160" y="1554480"/>
            <a:ext cx="3474720" cy="3017520"/>
          </a:xfrm>
          <a:prstGeom prst="roundRect">
            <a:avLst>
              <a:gd name="adj" fmla="val 3636"/>
            </a:avLst>
          </a:prstGeom>
          <a:solidFill>
            <a:schemeClr val="bg2"/>
          </a:solidFill>
          <a:ln/>
        </p:spPr>
      </p:sp>
      <p:sp>
        <p:nvSpPr>
          <p:cNvPr id="12" name="Text 10"/>
          <p:cNvSpPr txBox="1"/>
          <p:nvPr/>
        </p:nvSpPr>
        <p:spPr>
          <a:xfrm>
            <a:off x="8458200" y="1783080"/>
            <a:ext cx="2834640" cy="1188720"/>
          </a:xfrm>
          <a:prstGeom prst="rect">
            <a:avLst/>
          </a:prstGeom>
          <a:noFill/>
          <a:ln/>
        </p:spPr>
        <p:txBody>
          <a:bodyPr wrap="square" lIns="0" tIns="0" rIns="0" bIns="0" rtlCol="0" anchor="ctr"/>
          <a:lstStyle/>
          <a:p>
            <a:pPr indent="0" marL="0">
              <a:buNone/>
            </a:pPr>
            <a:r>
              <a:rPr lang="en-US" sz="6600" b="1" dirty="0">
                <a:solidFill>
                  <a:schemeClr val="accent4"/>
                </a:solidFill>
                <a:latin typeface="Cambria" pitchFamily="34" charset="0"/>
                <a:ea typeface="Cambria" pitchFamily="34" charset="-122"/>
                <a:cs typeface="Cambria" pitchFamily="34" charset="-120"/>
              </a:rPr>
              <a:t>20%</a:t>
            </a:r>
            <a:endParaRPr lang="en-US" sz="6600" dirty="0"/>
          </a:p>
        </p:txBody>
      </p:sp>
      <p:sp>
        <p:nvSpPr>
          <p:cNvPr id="13" name="Text 11"/>
          <p:cNvSpPr txBox="1"/>
          <p:nvPr/>
        </p:nvSpPr>
        <p:spPr>
          <a:xfrm>
            <a:off x="8458200" y="3063240"/>
            <a:ext cx="2834640" cy="457200"/>
          </a:xfrm>
          <a:prstGeom prst="rect">
            <a:avLst/>
          </a:prstGeom>
          <a:noFill/>
          <a:ln/>
        </p:spPr>
        <p:txBody>
          <a:bodyPr wrap="square" lIns="0" tIns="0" rIns="0" bIns="0" rtlCol="0" anchor="t"/>
          <a:lstStyle/>
          <a:p>
            <a:pPr indent="0" marL="0">
              <a:buNone/>
            </a:pPr>
            <a:r>
              <a:rPr lang="en-US" sz="2200" b="1" dirty="0">
                <a:solidFill>
                  <a:schemeClr val="tx2"/>
                </a:solidFill>
                <a:latin typeface="Calibri" pitchFamily="34" charset="0"/>
                <a:ea typeface="Calibri" pitchFamily="34" charset="-122"/>
                <a:cs typeface="Calibri" pitchFamily="34" charset="-120"/>
              </a:rPr>
              <a:t>Quiz / oral defense</a:t>
            </a:r>
            <a:endParaRPr lang="en-US" sz="2200" dirty="0"/>
          </a:p>
        </p:txBody>
      </p:sp>
      <p:sp>
        <p:nvSpPr>
          <p:cNvPr id="14" name="Text 12"/>
          <p:cNvSpPr txBox="1"/>
          <p:nvPr/>
        </p:nvSpPr>
        <p:spPr>
          <a:xfrm>
            <a:off x="8458200" y="3611880"/>
            <a:ext cx="2834640" cy="10058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Explain the concepts behind one of your labs</a:t>
            </a:r>
            <a:endParaRPr lang="en-US" sz="1500" dirty="0"/>
          </a:p>
        </p:txBody>
      </p:sp>
      <p:sp>
        <p:nvSpPr>
          <p:cNvPr id="15" name="Text 13"/>
          <p:cNvSpPr txBox="1"/>
          <p:nvPr/>
        </p:nvSpPr>
        <p:spPr>
          <a:xfrm>
            <a:off x="548640" y="4937760"/>
            <a:ext cx="11064240" cy="73152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Report deadline: </a:t>
            </a:r>
            <a:pPr indent="0" marL="0">
              <a:buNone/>
            </a:pPr>
            <a:r>
              <a:rPr lang="en-US" sz="1600" dirty="0">
                <a:solidFill>
                  <a:schemeClr val="tx1"/>
                </a:solidFill>
                <a:latin typeface="Calibri" pitchFamily="34" charset="0"/>
                <a:ea typeface="Calibri" pitchFamily="34" charset="-122"/>
                <a:cs typeface="Calibri" pitchFamily="34" charset="-120"/>
              </a:rPr>
              <a:t>before the next lab. Late reports and copied reports are penalized. Use the report template on the course page.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Before Lab 1</a:t>
            </a:r>
            <a:endParaRPr lang="en-US" sz="3600" dirty="0"/>
          </a:p>
        </p:txBody>
      </p:sp>
      <p:sp>
        <p:nvSpPr>
          <p:cNvPr id="3" name="Prepare your machine task"/>
          <p:cNvSpPr/>
          <p:nvPr/>
        </p:nvSpPr>
        <p:spPr>
          <a:xfrm>
            <a:off x="548640" y="1508760"/>
            <a:ext cx="11064240" cy="1234440"/>
          </a:xfrm>
          <a:prstGeom prst="roundRect">
            <a:avLst>
              <a:gd name="adj" fmla="val 8889"/>
            </a:avLst>
          </a:prstGeom>
          <a:solidFill>
            <a:schemeClr val="bg2"/>
          </a:solidFill>
          <a:ln/>
        </p:spPr>
      </p:sp>
      <p:sp>
        <p:nvSpPr>
          <p:cNvPr id="4" name="Text 2"/>
          <p:cNvSpPr txBox="1"/>
          <p:nvPr/>
        </p:nvSpPr>
        <p:spPr>
          <a:xfrm>
            <a:off x="777240" y="1508760"/>
            <a:ext cx="640080" cy="12344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a:t>
            </a:r>
            <a:endParaRPr lang="en-US" sz="4800" dirty="0"/>
          </a:p>
        </p:txBody>
      </p:sp>
      <p:sp>
        <p:nvSpPr>
          <p:cNvPr id="5" name="Prepare your machine circle"/>
          <p:cNvSpPr/>
          <p:nvPr/>
        </p:nvSpPr>
        <p:spPr>
          <a:xfrm>
            <a:off x="1554480" y="1737360"/>
            <a:ext cx="777240" cy="777240"/>
          </a:xfrm>
          <a:prstGeom prst="ellipse">
            <a:avLst/>
          </a:prstGeom>
          <a:solidFill>
            <a:schemeClr val="tx2"/>
          </a:solidFill>
          <a:ln/>
        </p:spPr>
      </p:sp>
      <p:pic>
        <p:nvPicPr>
          <p:cNvPr id="6" name="Prepare your machine icon" descr="Prepare your machine">    </p:cNvPr>
          <p:cNvPicPr>
            <a:picLocks noChangeAspect="1"/>
          </p:cNvPicPr>
          <p:nvPr/>
        </p:nvPicPr>
        <p:blipFill>
          <a:blip r:embed="rId1"/>
          <a:stretch>
            <a:fillRect/>
          </a:stretch>
        </p:blipFill>
        <p:spPr>
          <a:xfrm>
            <a:off x="1748790" y="1931670"/>
            <a:ext cx="388620" cy="388620"/>
          </a:xfrm>
          <a:prstGeom prst="rect">
            <a:avLst/>
          </a:prstGeom>
        </p:spPr>
      </p:pic>
      <p:sp>
        <p:nvSpPr>
          <p:cNvPr id="7" name="Text 4"/>
          <p:cNvSpPr txBox="1"/>
          <p:nvPr/>
        </p:nvSpPr>
        <p:spPr>
          <a:xfrm>
            <a:off x="2651760" y="1645920"/>
            <a:ext cx="8686800"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Prepare your machine</a:t>
            </a:r>
            <a:endParaRPr lang="en-US" sz="2000" dirty="0"/>
          </a:p>
        </p:txBody>
      </p:sp>
      <p:sp>
        <p:nvSpPr>
          <p:cNvPr id="8" name="Text 5"/>
          <p:cNvSpPr txBox="1"/>
          <p:nvPr/>
        </p:nvSpPr>
        <p:spPr>
          <a:xfrm>
            <a:off x="2651760" y="2103120"/>
            <a:ext cx="8686800" cy="54864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Linux laptop or VM with Docker, Node.js 22, Git and VS Code. Create GitHub and DigitalOcean accounts.</a:t>
            </a:r>
            <a:endParaRPr lang="en-US" sz="1600" dirty="0"/>
          </a:p>
        </p:txBody>
      </p:sp>
      <p:sp>
        <p:nvSpPr>
          <p:cNvPr id="9" name="Read task"/>
          <p:cNvSpPr/>
          <p:nvPr/>
        </p:nvSpPr>
        <p:spPr>
          <a:xfrm>
            <a:off x="548640" y="2971800"/>
            <a:ext cx="11064240" cy="1234440"/>
          </a:xfrm>
          <a:prstGeom prst="roundRect">
            <a:avLst>
              <a:gd name="adj" fmla="val 8889"/>
            </a:avLst>
          </a:prstGeom>
          <a:solidFill>
            <a:schemeClr val="bg2"/>
          </a:solidFill>
          <a:ln/>
        </p:spPr>
      </p:sp>
      <p:sp>
        <p:nvSpPr>
          <p:cNvPr id="10" name="Text 7"/>
          <p:cNvSpPr txBox="1"/>
          <p:nvPr/>
        </p:nvSpPr>
        <p:spPr>
          <a:xfrm>
            <a:off x="777240" y="2971800"/>
            <a:ext cx="640080" cy="12344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11" name="Read circle"/>
          <p:cNvSpPr/>
          <p:nvPr/>
        </p:nvSpPr>
        <p:spPr>
          <a:xfrm>
            <a:off x="1554480" y="3200400"/>
            <a:ext cx="777240" cy="777240"/>
          </a:xfrm>
          <a:prstGeom prst="ellipse">
            <a:avLst/>
          </a:prstGeom>
          <a:solidFill>
            <a:schemeClr val="tx2"/>
          </a:solidFill>
          <a:ln/>
        </p:spPr>
      </p:sp>
      <p:pic>
        <p:nvPicPr>
          <p:cNvPr id="12" name="Read icon" descr="Read">    </p:cNvPr>
          <p:cNvPicPr>
            <a:picLocks noChangeAspect="1"/>
          </p:cNvPicPr>
          <p:nvPr/>
        </p:nvPicPr>
        <p:blipFill>
          <a:blip r:embed="rId2"/>
          <a:stretch>
            <a:fillRect/>
          </a:stretch>
        </p:blipFill>
        <p:spPr>
          <a:xfrm>
            <a:off x="1748790" y="3394710"/>
            <a:ext cx="388620" cy="388620"/>
          </a:xfrm>
          <a:prstGeom prst="rect">
            <a:avLst/>
          </a:prstGeom>
        </p:spPr>
      </p:pic>
      <p:sp>
        <p:nvSpPr>
          <p:cNvPr id="13" name="Text 9"/>
          <p:cNvSpPr txBox="1"/>
          <p:nvPr/>
        </p:nvSpPr>
        <p:spPr>
          <a:xfrm>
            <a:off x="2651760" y="3108960"/>
            <a:ext cx="8686800"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Read</a:t>
            </a:r>
            <a:endParaRPr lang="en-US" sz="2000" dirty="0"/>
          </a:p>
        </p:txBody>
      </p:sp>
      <p:sp>
        <p:nvSpPr>
          <p:cNvPr id="14" name="Text 10"/>
          <p:cNvSpPr txBox="1"/>
          <p:nvPr/>
        </p:nvSpPr>
        <p:spPr>
          <a:xfrm>
            <a:off x="2651760" y="3566160"/>
            <a:ext cx="8686800" cy="54864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OWASP Top 10 overview (owasp.org/Top10). Pick one item and be ready to explain it in 2 minutes.</a:t>
            </a:r>
            <a:endParaRPr lang="en-US" sz="1600" dirty="0"/>
          </a:p>
        </p:txBody>
      </p:sp>
      <p:sp>
        <p:nvSpPr>
          <p:cNvPr id="15" name="Think task"/>
          <p:cNvSpPr/>
          <p:nvPr/>
        </p:nvSpPr>
        <p:spPr>
          <a:xfrm>
            <a:off x="548640" y="4434840"/>
            <a:ext cx="11064240" cy="1234440"/>
          </a:xfrm>
          <a:prstGeom prst="roundRect">
            <a:avLst>
              <a:gd name="adj" fmla="val 8889"/>
            </a:avLst>
          </a:prstGeom>
          <a:solidFill>
            <a:schemeClr val="bg2"/>
          </a:solidFill>
          <a:ln/>
        </p:spPr>
      </p:sp>
      <p:sp>
        <p:nvSpPr>
          <p:cNvPr id="16" name="Text 12"/>
          <p:cNvSpPr txBox="1"/>
          <p:nvPr/>
        </p:nvSpPr>
        <p:spPr>
          <a:xfrm>
            <a:off x="777240" y="4434840"/>
            <a:ext cx="640080" cy="12344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a:t>
            </a:r>
            <a:endParaRPr lang="en-US" sz="4800" dirty="0"/>
          </a:p>
        </p:txBody>
      </p:sp>
      <p:sp>
        <p:nvSpPr>
          <p:cNvPr id="17" name="Think circle"/>
          <p:cNvSpPr/>
          <p:nvPr/>
        </p:nvSpPr>
        <p:spPr>
          <a:xfrm>
            <a:off x="1554480" y="4663440"/>
            <a:ext cx="777240" cy="777240"/>
          </a:xfrm>
          <a:prstGeom prst="ellipse">
            <a:avLst/>
          </a:prstGeom>
          <a:solidFill>
            <a:schemeClr val="tx2"/>
          </a:solidFill>
          <a:ln/>
        </p:spPr>
      </p:sp>
      <p:pic>
        <p:nvPicPr>
          <p:cNvPr id="18" name="Think icon" descr="Think">    </p:cNvPr>
          <p:cNvPicPr>
            <a:picLocks noChangeAspect="1"/>
          </p:cNvPicPr>
          <p:nvPr/>
        </p:nvPicPr>
        <p:blipFill>
          <a:blip r:embed="rId3"/>
          <a:stretch>
            <a:fillRect/>
          </a:stretch>
        </p:blipFill>
        <p:spPr>
          <a:xfrm>
            <a:off x="1748790" y="4857750"/>
            <a:ext cx="388620" cy="388620"/>
          </a:xfrm>
          <a:prstGeom prst="rect">
            <a:avLst/>
          </a:prstGeom>
        </p:spPr>
      </p:pic>
      <p:sp>
        <p:nvSpPr>
          <p:cNvPr id="19" name="Text 14"/>
          <p:cNvSpPr txBox="1"/>
          <p:nvPr/>
        </p:nvSpPr>
        <p:spPr>
          <a:xfrm>
            <a:off x="2651760" y="4572000"/>
            <a:ext cx="8686800" cy="457200"/>
          </a:xfrm>
          <a:prstGeom prst="rect">
            <a:avLst/>
          </a:prstGeom>
          <a:noFill/>
          <a:ln/>
        </p:spPr>
        <p:txBody>
          <a:bodyPr wrap="square" lIns="0" tIns="0" rIns="0" bIns="0" rtlCol="0" anchor="t"/>
          <a:lstStyle/>
          <a:p>
            <a:pPr indent="0" marL="0">
              <a:buNone/>
            </a:pPr>
            <a:r>
              <a:rPr lang="en-US" sz="2000" b="1" dirty="0">
                <a:solidFill>
                  <a:schemeClr val="tx2"/>
                </a:solidFill>
                <a:latin typeface="Calibri" pitchFamily="34" charset="0"/>
                <a:ea typeface="Calibri" pitchFamily="34" charset="-122"/>
                <a:cs typeface="Calibri" pitchFamily="34" charset="-120"/>
              </a:rPr>
              <a:t>Think</a:t>
            </a:r>
            <a:endParaRPr lang="en-US" sz="2000" dirty="0"/>
          </a:p>
        </p:txBody>
      </p:sp>
      <p:sp>
        <p:nvSpPr>
          <p:cNvPr id="20" name="Text 15"/>
          <p:cNvSpPr txBox="1"/>
          <p:nvPr/>
        </p:nvSpPr>
        <p:spPr>
          <a:xfrm>
            <a:off x="2651760" y="5029200"/>
            <a:ext cx="8686800" cy="54864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For a notes app with login and a database: list 5 assets, 3 threats and 1 thing to protect first.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8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64592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“Security is a process, not a product.”</a:t>
            </a:r>
            <a:endParaRPr lang="en-US" sz="4800" dirty="0"/>
          </a:p>
        </p:txBody>
      </p:sp>
      <p:sp>
        <p:nvSpPr>
          <p:cNvPr id="3" name="Text 0"/>
          <p:cNvSpPr/>
          <p:nvPr>
            <p:ph idx="101" type="body" hasCustomPrompt="1"/>
          </p:nvPr>
        </p:nvSpPr>
        <p:spPr>
          <a:xfrm>
            <a:off x="731520" y="393192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latin typeface="Calibri" pitchFamily="34" charset="0"/>
                <a:ea typeface="Calibri" pitchFamily="34" charset="-122"/>
                <a:cs typeface="Calibri" pitchFamily="34" charset="-120"/>
              </a:rPr>
              <a:t>Bruce Schneier  ·  Questions?</a:t>
            </a:r>
            <a:endParaRPr lang="en-US" sz="2200" dirty="0"/>
          </a:p>
        </p:txBody>
      </p:sp>
      <p:pic>
        <p:nvPicPr>
          <p:cNvPr id="4" name="Question icon" descr="Question">    </p:cNvPr>
          <p:cNvPicPr>
            <a:picLocks noChangeAspect="1"/>
          </p:cNvPicPr>
          <p:nvPr/>
        </p:nvPicPr>
        <p:blipFill>
          <a:blip r:embed="rId1"/>
          <a:stretch>
            <a:fillRect/>
          </a:stretch>
        </p:blipFill>
        <p:spPr>
          <a:xfrm>
            <a:off x="731520" y="914400"/>
            <a:ext cx="822960" cy="822960"/>
          </a:xfrm>
          <a:prstGeom prst="rect">
            <a:avLst/>
          </a:prstGeom>
        </p:spPr>
      </p:pic>
    </p:spTree>
  </p:cSld>
  <p:clrMapOvr>
    <a:masterClrMapping/>
  </p:clrMapOvr>
</p:sld>
</file>

<file path=ppt/theme/theme1.xml><?xml version="1.0" encoding="utf-8"?>
<a:theme xmlns:a="http://schemas.openxmlformats.org/drawingml/2006/main" name="Security Course">
  <a:themeElements>
    <a:clrScheme name="Security Course">
      <a:dk1>
        <a:srgbClr val="1B2430"/>
      </a:dk1>
      <a:lt1>
        <a:srgbClr val="FFFFFF"/>
      </a:lt1>
      <a:dk2>
        <a:srgbClr val="0F1B2D"/>
      </a:dk2>
      <a:lt2>
        <a:srgbClr val="EEF2F6"/>
      </a:lt2>
      <a:accent1>
        <a:srgbClr val="F2A541"/>
      </a:accent1>
      <a:accent2>
        <a:srgbClr val="1B998B"/>
      </a:accent2>
      <a:accent3>
        <a:srgbClr val="D64550"/>
      </a:accent3>
      <a:accent4>
        <a:srgbClr val="3D5A80"/>
      </a:accent4>
      <a:accent5>
        <a:srgbClr val="6B7A8C"/>
      </a:accent5>
      <a:accent6>
        <a:srgbClr val="8E6C8A"/>
      </a:accent6>
      <a:hlink>
        <a:srgbClr val="1B998B"/>
      </a:hlink>
      <a:folHlink>
        <a:srgbClr val="8E6C8A"/>
      </a:folHlink>
    </a:clrScheme>
    <a:fontScheme name="Security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 Introduction to Security</dc:title>
  <dc:subject>PptxGenJS Presentation</dc:subject>
  <dc:creator>Web Security Course</dc:creator>
  <cp:lastModifiedBy>Web Security Course</cp:lastModifiedBy>
  <cp:revision>1</cp:revision>
  <dcterms:created xsi:type="dcterms:W3CDTF">2026-10-16T13:27:05Z</dcterms:created>
  <dcterms:modified xsi:type="dcterms:W3CDTF">2026-10-16T13:27:05Z</dcterms:modified>
</cp:coreProperties>
</file>